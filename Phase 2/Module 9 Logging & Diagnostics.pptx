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5" d="100"/>
          <a:sy n="55" d="100"/>
        </p:scale>
        <p:origin x="200"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06549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61729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3892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54876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35635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72711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51373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32340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13944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50850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9362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4/22/2026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348878076"/>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F6CAE434-0C19-1B19-B39F-FEF8E27B5523}"/>
              </a:ext>
            </a:extLst>
          </p:cNvPr>
          <p:cNvPicPr>
            <a:picLocks noChangeAspect="1"/>
          </p:cNvPicPr>
          <p:nvPr/>
        </p:nvPicPr>
        <p:blipFill>
          <a:blip r:embed="rId2">
            <a:alphaModFix amt="40000"/>
          </a:blip>
          <a:srcRect t="9907" b="93"/>
          <a:stretch>
            <a:fillRect/>
          </a:stretch>
        </p:blipFill>
        <p:spPr>
          <a:xfrm>
            <a:off x="-2" y="-4"/>
            <a:ext cx="12192001" cy="6858001"/>
          </a:xfrm>
          <a:prstGeom prst="rect">
            <a:avLst/>
          </a:prstGeom>
        </p:spPr>
      </p:pic>
      <p:sp>
        <p:nvSpPr>
          <p:cNvPr id="2" name="Title 1">
            <a:extLst>
              <a:ext uri="{FF2B5EF4-FFF2-40B4-BE49-F238E27FC236}">
                <a16:creationId xmlns:a16="http://schemas.microsoft.com/office/drawing/2014/main" id="{DAC56F9C-0153-E551-F1DE-4B288EF7CF7A}"/>
              </a:ext>
            </a:extLst>
          </p:cNvPr>
          <p:cNvSpPr>
            <a:spLocks noGrp="1"/>
          </p:cNvSpPr>
          <p:nvPr>
            <p:ph type="ctrTitle"/>
          </p:nvPr>
        </p:nvSpPr>
        <p:spPr>
          <a:xfrm>
            <a:off x="517870" y="978408"/>
            <a:ext cx="5021182" cy="2450592"/>
          </a:xfrm>
        </p:spPr>
        <p:txBody>
          <a:bodyPr anchor="t">
            <a:normAutofit/>
          </a:bodyPr>
          <a:lstStyle/>
          <a:p>
            <a:pPr>
              <a:lnSpc>
                <a:spcPct val="90000"/>
              </a:lnSpc>
            </a:pPr>
            <a:r>
              <a:rPr lang="en-US" sz="4700" b="1">
                <a:solidFill>
                  <a:srgbClr val="FFFFFF"/>
                </a:solidFill>
              </a:rPr>
              <a:t>Welcome &amp; Module Induction</a:t>
            </a:r>
            <a:br>
              <a:rPr lang="en-US" sz="4700">
                <a:solidFill>
                  <a:srgbClr val="FFFFFF"/>
                </a:solidFill>
              </a:rPr>
            </a:br>
            <a:endParaRPr lang="en-US" sz="4700">
              <a:solidFill>
                <a:srgbClr val="FFFFFF"/>
              </a:solidFill>
            </a:endParaRPr>
          </a:p>
        </p:txBody>
      </p:sp>
      <p:sp>
        <p:nvSpPr>
          <p:cNvPr id="4" name="Rectangle 1">
            <a:extLst>
              <a:ext uri="{FF2B5EF4-FFF2-40B4-BE49-F238E27FC236}">
                <a16:creationId xmlns:a16="http://schemas.microsoft.com/office/drawing/2014/main" id="{1A31AD50-08C8-4B2D-DA6F-4355AF7FD731}"/>
              </a:ext>
            </a:extLst>
          </p:cNvPr>
          <p:cNvSpPr>
            <a:spLocks noGrp="1" noChangeArrowheads="1"/>
          </p:cNvSpPr>
          <p:nvPr>
            <p:ph type="subTitle" idx="1"/>
          </p:nvPr>
        </p:nvSpPr>
        <p:spPr bwMode="auto">
          <a:xfrm>
            <a:off x="5704114" y="2231572"/>
            <a:ext cx="5989037" cy="361504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b" anchorCtr="0" compatLnSpc="1">
            <a:prstTxWarp prst="textNoShape">
              <a:avLst/>
            </a:prstTxWarp>
            <a:normAutofit fontScale="92500" lnSpcReduction="10000"/>
          </a:bodyPr>
          <a:lstStyle/>
          <a:p>
            <a:pPr marL="285750" marR="0" lvl="0" indent="-2857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solidFill>
                  <a:srgbClr val="FFFFFF"/>
                </a:solidFill>
                <a:effectLst/>
                <a:latin typeface="Arial" panose="020B0604020202020204" pitchFamily="34" charset="0"/>
              </a:rPr>
              <a:t>What we learned previously:</a:t>
            </a:r>
            <a:r>
              <a:rPr kumimoji="0" lang="en-US" altLang="en-US" sz="1600" b="0" i="0" u="none" strike="noStrike" cap="none" normalizeH="0" baseline="0" dirty="0">
                <a:ln>
                  <a:noFill/>
                </a:ln>
                <a:solidFill>
                  <a:srgbClr val="FFFFFF"/>
                </a:solidFill>
                <a:effectLst/>
                <a:latin typeface="Arial" panose="020B0604020202020204" pitchFamily="34" charset="0"/>
              </a:rPr>
              <a:t> In Module 8, we focused on the "Face" of our software—building Command Line Interfaces (CLIs) and learning how to pipe data between programs using Stdin and </a:t>
            </a:r>
            <a:r>
              <a:rPr kumimoji="0" lang="en-US" altLang="en-US" sz="1600" b="0" i="0" u="none" strike="noStrike" cap="none" normalizeH="0" baseline="0" dirty="0" err="1">
                <a:ln>
                  <a:noFill/>
                </a:ln>
                <a:solidFill>
                  <a:srgbClr val="FFFFFF"/>
                </a:solidFill>
                <a:effectLst/>
                <a:latin typeface="Arial" panose="020B0604020202020204" pitchFamily="34" charset="0"/>
              </a:rPr>
              <a:t>Stdout</a:t>
            </a:r>
            <a:r>
              <a:rPr kumimoji="0" lang="en-US" altLang="en-US" sz="1600" b="0" i="0" u="none" strike="noStrike" cap="none" normalizeH="0" baseline="0" dirty="0">
                <a:ln>
                  <a:noFill/>
                </a:ln>
                <a:solidFill>
                  <a:srgbClr val="FFFFFF"/>
                </a:solidFill>
                <a:effectLst/>
                <a:latin typeface="Arial" panose="020B0604020202020204" pitchFamily="34" charset="0"/>
              </a:rPr>
              <a:t>.</a:t>
            </a:r>
          </a:p>
          <a:p>
            <a:pPr marL="285750" marR="0" lvl="0" indent="-2857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solidFill>
                  <a:srgbClr val="FFFFFF"/>
                </a:solidFill>
                <a:effectLst/>
                <a:latin typeface="Arial" panose="020B0604020202020204" pitchFamily="34" charset="0"/>
              </a:rPr>
              <a:t>What we are learning today:</a:t>
            </a:r>
            <a:r>
              <a:rPr kumimoji="0" lang="en-US" altLang="en-US" sz="1600" b="0" i="0" u="none" strike="noStrike" cap="none" normalizeH="0" baseline="0" dirty="0">
                <a:ln>
                  <a:noFill/>
                </a:ln>
                <a:solidFill>
                  <a:srgbClr val="FFFFFF"/>
                </a:solidFill>
                <a:effectLst/>
                <a:latin typeface="Arial" panose="020B0604020202020204" pitchFamily="34" charset="0"/>
              </a:rPr>
              <a:t> We are moving into the "Black Box" of our application. We will learn how to implement professional Logging and Diagnostics. We will replace simple </a:t>
            </a:r>
            <a:r>
              <a:rPr kumimoji="0" lang="en-US" altLang="en-US" sz="1600" b="0" i="0" u="none" strike="noStrike" cap="none" normalizeH="0" baseline="0" dirty="0">
                <a:ln>
                  <a:noFill/>
                </a:ln>
                <a:solidFill>
                  <a:srgbClr val="FFFFFF"/>
                </a:solidFill>
                <a:effectLst/>
                <a:latin typeface="Arial Unicode MS"/>
              </a:rPr>
              <a:t>print()</a:t>
            </a:r>
            <a:r>
              <a:rPr kumimoji="0" lang="en-US" altLang="en-US" sz="1600" b="0" i="0" u="none" strike="noStrike" cap="none" normalizeH="0" baseline="0" dirty="0">
                <a:ln>
                  <a:noFill/>
                </a:ln>
                <a:solidFill>
                  <a:srgbClr val="FFFFFF"/>
                </a:solidFill>
                <a:effectLst/>
              </a:rPr>
              <a:t> statements with a robust logging system that categorizes data by severity and manages log file sizes automatically.</a:t>
            </a:r>
            <a:endParaRPr kumimoji="0" lang="en-US" altLang="en-US" sz="1600" b="0" i="0" u="none" strike="noStrike" cap="none" normalizeH="0" baseline="0" dirty="0">
              <a:ln>
                <a:noFill/>
              </a:ln>
              <a:solidFill>
                <a:srgbClr val="FFFFFF"/>
              </a:solidFill>
              <a:effectLst/>
              <a:latin typeface="Arial" panose="020B0604020202020204" pitchFamily="34" charset="0"/>
            </a:endParaRPr>
          </a:p>
          <a:p>
            <a:pPr marL="285750" marR="0" lvl="0" indent="-2857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solidFill>
                  <a:srgbClr val="FFFFFF"/>
                </a:solidFill>
                <a:effectLst/>
                <a:latin typeface="Arial" panose="020B0604020202020204" pitchFamily="34" charset="0"/>
              </a:rPr>
              <a:t>Why this will be helpful:</a:t>
            </a:r>
            <a:r>
              <a:rPr kumimoji="0" lang="en-US" altLang="en-US" sz="1600" b="0" i="0" u="none" strike="noStrike" cap="none" normalizeH="0" baseline="0" dirty="0">
                <a:ln>
                  <a:noFill/>
                </a:ln>
                <a:solidFill>
                  <a:srgbClr val="FFFFFF"/>
                </a:solidFill>
                <a:effectLst/>
                <a:latin typeface="Arial" panose="020B0604020202020204" pitchFamily="34" charset="0"/>
              </a:rPr>
              <a:t> In a production environment, you cannot sit and watch a terminal for hours. If a server crashes at 3 AM, you need a record of exactly what happened. Professional logging allows you to look back at the history of your application to find bugs, monitor performance, and ensure that your system is running correctly without manually monitoring it.</a:t>
            </a:r>
          </a:p>
        </p:txBody>
      </p:sp>
      <p:sp>
        <p:nvSpPr>
          <p:cNvPr id="11"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090136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D627250-4096-C194-BAC6-F7C9E1B04278}"/>
              </a:ext>
            </a:extLst>
          </p:cNvPr>
          <p:cNvSpPr>
            <a:spLocks noGrp="1"/>
          </p:cNvSpPr>
          <p:nvPr>
            <p:ph type="title"/>
          </p:nvPr>
        </p:nvSpPr>
        <p:spPr>
          <a:xfrm>
            <a:off x="521208" y="978408"/>
            <a:ext cx="6300216" cy="1325880"/>
          </a:xfrm>
        </p:spPr>
        <p:txBody>
          <a:bodyPr>
            <a:normAutofit/>
          </a:bodyPr>
          <a:lstStyle/>
          <a:p>
            <a:pPr>
              <a:lnSpc>
                <a:spcPct val="90000"/>
              </a:lnSpc>
            </a:pPr>
            <a:r>
              <a:rPr lang="en-US" dirty="0"/>
              <a:t>Print vs. Logging (The Evolution)</a:t>
            </a:r>
            <a:endParaRPr lang="en-US"/>
          </a:p>
        </p:txBody>
      </p:sp>
      <p:sp>
        <p:nvSpPr>
          <p:cNvPr id="13" name="Rectangle 12">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Rectangle 1">
            <a:extLst>
              <a:ext uri="{FF2B5EF4-FFF2-40B4-BE49-F238E27FC236}">
                <a16:creationId xmlns:a16="http://schemas.microsoft.com/office/drawing/2014/main" id="{855F2E69-F645-9DF9-7238-B56F5B5CC949}"/>
              </a:ext>
            </a:extLst>
          </p:cNvPr>
          <p:cNvSpPr>
            <a:spLocks noGrp="1" noChangeArrowheads="1"/>
          </p:cNvSpPr>
          <p:nvPr>
            <p:ph idx="1"/>
          </p:nvPr>
        </p:nvSpPr>
        <p:spPr bwMode="auto">
          <a:xfrm>
            <a:off x="7507224" y="1088136"/>
            <a:ext cx="4160520" cy="52578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b="1" i="0" u="none" strike="noStrike" cap="none" normalizeH="0" baseline="0" dirty="0">
                <a:ln>
                  <a:noFill/>
                </a:ln>
                <a:effectLst/>
                <a:latin typeface="Arial" panose="020B0604020202020204" pitchFamily="34" charset="0"/>
              </a:rPr>
              <a:t>The Problem with </a:t>
            </a:r>
            <a:r>
              <a:rPr kumimoji="0" lang="en-US" altLang="en-US" b="1" i="0" u="none" strike="noStrike" cap="none" normalizeH="0" baseline="0" dirty="0">
                <a:ln>
                  <a:noFill/>
                </a:ln>
                <a:effectLst/>
                <a:latin typeface="Arial Unicode MS"/>
              </a:rPr>
              <a:t>print()</a:t>
            </a:r>
            <a:r>
              <a:rPr kumimoji="0" lang="en-US" altLang="en-US" b="1" i="0" u="none" strike="noStrike" cap="none" normalizeH="0" baseline="0" dirty="0">
                <a:ln>
                  <a:noFill/>
                </a:ln>
                <a:effectLst/>
              </a:rPr>
              <a:t>:</a:t>
            </a:r>
            <a:r>
              <a:rPr kumimoji="0" lang="en-US" altLang="en-US" b="0" i="0" u="none" strike="noStrike" cap="none" normalizeH="0" baseline="0" dirty="0">
                <a:ln>
                  <a:noFill/>
                </a:ln>
                <a:effectLst/>
                <a:latin typeface="Arial" panose="020B0604020202020204" pitchFamily="34" charset="0"/>
              </a:rPr>
              <a:t> Prints are temporary, hard to filter, and clutter the terminal. They don't include timestamps or information about which file generated the message.</a:t>
            </a:r>
          </a:p>
          <a:p>
            <a:pPr eaLnBrk="0" fontAlgn="base" hangingPunct="0">
              <a:spcBef>
                <a:spcPct val="0"/>
              </a:spcBef>
              <a:spcAft>
                <a:spcPts val="600"/>
              </a:spcAft>
            </a:pPr>
            <a:r>
              <a:rPr kumimoji="0" lang="en-US" altLang="en-US" b="1" i="0" u="none" strike="noStrike" cap="none" normalizeH="0" baseline="0" dirty="0">
                <a:ln>
                  <a:noFill/>
                </a:ln>
                <a:effectLst/>
                <a:latin typeface="Arial" panose="020B0604020202020204" pitchFamily="34" charset="0"/>
              </a:rPr>
              <a:t>The Logging Solution:</a:t>
            </a:r>
            <a:r>
              <a:rPr kumimoji="0" lang="en-US" altLang="en-US" b="0" i="0" u="none" strike="noStrike" cap="none" normalizeH="0" baseline="0" dirty="0">
                <a:ln>
                  <a:noFill/>
                </a:ln>
                <a:effectLst/>
                <a:latin typeface="Arial" panose="020B0604020202020204" pitchFamily="34" charset="0"/>
              </a:rPr>
              <a:t> Logging allows you to send messages to different destinations (the console, a file, or even an external server). It automatically attaches the date, time, and the "Level" of the message.</a:t>
            </a:r>
          </a:p>
        </p:txBody>
      </p:sp>
      <p:pic>
        <p:nvPicPr>
          <p:cNvPr id="2051" name="Picture 3" descr="Image">
            <a:extLst>
              <a:ext uri="{FF2B5EF4-FFF2-40B4-BE49-F238E27FC236}">
                <a16:creationId xmlns:a16="http://schemas.microsoft.com/office/drawing/2014/main" id="{747466D8-EBF0-8104-3429-32C069AA5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596" y="2173368"/>
            <a:ext cx="3812471" cy="4463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6658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CCFF94-DEA1-5774-D600-60C781F6A281}"/>
              </a:ext>
            </a:extLst>
          </p:cNvPr>
          <p:cNvSpPr>
            <a:spLocks noGrp="1"/>
          </p:cNvSpPr>
          <p:nvPr>
            <p:ph type="title"/>
          </p:nvPr>
        </p:nvSpPr>
        <p:spPr>
          <a:xfrm>
            <a:off x="521208" y="978408"/>
            <a:ext cx="6300216" cy="1325880"/>
          </a:xfrm>
        </p:spPr>
        <p:txBody>
          <a:bodyPr>
            <a:normAutofit/>
          </a:bodyPr>
          <a:lstStyle/>
          <a:p>
            <a:pPr>
              <a:lnSpc>
                <a:spcPct val="90000"/>
              </a:lnSpc>
            </a:pPr>
            <a:r>
              <a:rPr lang="en-US" dirty="0"/>
              <a:t>Log Levels (The Hierarchy of Urgency)</a:t>
            </a:r>
            <a:endParaRPr lang="en-US"/>
          </a:p>
        </p:txBody>
      </p:sp>
      <p:sp>
        <p:nvSpPr>
          <p:cNvPr id="3081" name="Rectangle 3080">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3074" name="Picture 2" descr="Logging with logging in Python. Logging means to track what events… | by  Simone Rigoni | Nerd For Tech | Medium">
            <a:extLst>
              <a:ext uri="{FF2B5EF4-FFF2-40B4-BE49-F238E27FC236}">
                <a16:creationId xmlns:a16="http://schemas.microsoft.com/office/drawing/2014/main" id="{0F2A55B5-39EC-39EE-E3A7-5B5DBFAE4FF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682333" y="4995931"/>
            <a:ext cx="7387642" cy="179034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838435D-2BC7-20B1-23E2-09220A6D0855}"/>
              </a:ext>
            </a:extLst>
          </p:cNvPr>
          <p:cNvSpPr>
            <a:spLocks noGrp="1"/>
          </p:cNvSpPr>
          <p:nvPr>
            <p:ph idx="1"/>
          </p:nvPr>
        </p:nvSpPr>
        <p:spPr>
          <a:xfrm>
            <a:off x="1184677" y="2304288"/>
            <a:ext cx="10382954" cy="3740834"/>
          </a:xfrm>
        </p:spPr>
        <p:txBody>
          <a:bodyPr>
            <a:normAutofit/>
          </a:bodyPr>
          <a:lstStyle/>
          <a:p>
            <a:pPr marL="0" indent="0">
              <a:lnSpc>
                <a:spcPct val="100000"/>
              </a:lnSpc>
              <a:buNone/>
            </a:pPr>
            <a:r>
              <a:rPr lang="en-US" dirty="0"/>
              <a:t>Logging is categorized into five standard levels. This allows you to filter out noise and focus only on what matters.</a:t>
            </a:r>
          </a:p>
          <a:p>
            <a:pPr>
              <a:lnSpc>
                <a:spcPct val="100000"/>
              </a:lnSpc>
            </a:pPr>
            <a:r>
              <a:rPr lang="en-US" b="1" dirty="0"/>
              <a:t>DEBUG:</a:t>
            </a:r>
            <a:r>
              <a:rPr lang="en-US" dirty="0"/>
              <a:t> Detailed information, typically of interest only when diagnosing problems.</a:t>
            </a:r>
          </a:p>
          <a:p>
            <a:pPr>
              <a:lnSpc>
                <a:spcPct val="100000"/>
              </a:lnSpc>
            </a:pPr>
            <a:r>
              <a:rPr lang="en-US" b="1" dirty="0"/>
              <a:t>INFO:</a:t>
            </a:r>
            <a:r>
              <a:rPr lang="en-US" dirty="0"/>
              <a:t> Confirmation that things are working as expected.</a:t>
            </a:r>
          </a:p>
          <a:p>
            <a:pPr>
              <a:lnSpc>
                <a:spcPct val="100000"/>
              </a:lnSpc>
            </a:pPr>
            <a:r>
              <a:rPr lang="en-US" b="1" dirty="0"/>
              <a:t>WARNING:</a:t>
            </a:r>
            <a:r>
              <a:rPr lang="en-US" dirty="0"/>
              <a:t> An indication that something unexpected happened, or a problem might occur soon (e.g., ‘disk space low’).</a:t>
            </a:r>
          </a:p>
          <a:p>
            <a:pPr>
              <a:lnSpc>
                <a:spcPct val="100000"/>
              </a:lnSpc>
            </a:pPr>
            <a:r>
              <a:rPr lang="en-US" b="1" dirty="0"/>
              <a:t>ERROR:</a:t>
            </a:r>
            <a:r>
              <a:rPr lang="en-US" dirty="0"/>
              <a:t> Due to a more serious problem, the software has not been able to perform some function.</a:t>
            </a:r>
          </a:p>
          <a:p>
            <a:pPr>
              <a:lnSpc>
                <a:spcPct val="100000"/>
              </a:lnSpc>
            </a:pPr>
            <a:r>
              <a:rPr lang="en-US" b="1" dirty="0"/>
              <a:t>CRITICAL:</a:t>
            </a:r>
            <a:r>
              <a:rPr lang="en-US" dirty="0"/>
              <a:t> A serious error, indicating that the program itself may be unable to continue running.</a:t>
            </a:r>
          </a:p>
          <a:p>
            <a:pPr>
              <a:lnSpc>
                <a:spcPct val="100000"/>
              </a:lnSpc>
            </a:pPr>
            <a:endParaRPr lang="en-US" dirty="0"/>
          </a:p>
        </p:txBody>
      </p:sp>
    </p:spTree>
    <p:extLst>
      <p:ext uri="{BB962C8B-B14F-4D97-AF65-F5344CB8AC3E}">
        <p14:creationId xmlns:p14="http://schemas.microsoft.com/office/powerpoint/2010/main" val="715526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4" name="Rectangle 4103">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C5BDA61-03F9-30BC-1EA8-DDC6A492C1F7}"/>
              </a:ext>
            </a:extLst>
          </p:cNvPr>
          <p:cNvSpPr>
            <a:spLocks noGrp="1"/>
          </p:cNvSpPr>
          <p:nvPr>
            <p:ph type="title"/>
          </p:nvPr>
        </p:nvSpPr>
        <p:spPr>
          <a:xfrm>
            <a:off x="521208" y="978408"/>
            <a:ext cx="6300216" cy="1325880"/>
          </a:xfrm>
        </p:spPr>
        <p:txBody>
          <a:bodyPr>
            <a:normAutofit/>
          </a:bodyPr>
          <a:lstStyle/>
          <a:p>
            <a:pPr>
              <a:lnSpc>
                <a:spcPct val="90000"/>
              </a:lnSpc>
            </a:pPr>
            <a:r>
              <a:rPr lang="en-US" dirty="0"/>
              <a:t>Rotating Logs (Disk Management)</a:t>
            </a:r>
            <a:endParaRPr lang="en-US"/>
          </a:p>
        </p:txBody>
      </p:sp>
      <p:sp>
        <p:nvSpPr>
          <p:cNvPr id="4106" name="Rectangle 4105">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8" name="Rectangle 4107">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099" name="Picture 3" descr="Log Rotation">
            <a:extLst>
              <a:ext uri="{FF2B5EF4-FFF2-40B4-BE49-F238E27FC236}">
                <a16:creationId xmlns:a16="http://schemas.microsoft.com/office/drawing/2014/main" id="{02DAC17B-4623-3F4D-69E9-4757CFB3787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7867" y="2576847"/>
            <a:ext cx="6281928" cy="376915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8E7983DD-89D4-1037-ABD8-D74D1ADF2AE5}"/>
              </a:ext>
            </a:extLst>
          </p:cNvPr>
          <p:cNvSpPr>
            <a:spLocks noGrp="1" noChangeArrowheads="1"/>
          </p:cNvSpPr>
          <p:nvPr>
            <p:ph idx="1"/>
          </p:nvPr>
        </p:nvSpPr>
        <p:spPr bwMode="auto">
          <a:xfrm>
            <a:off x="7507224" y="1088136"/>
            <a:ext cx="4160520" cy="52578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b="1" i="0" u="none" strike="noStrike" cap="none" normalizeH="0" baseline="0" dirty="0">
                <a:ln>
                  <a:noFill/>
                </a:ln>
                <a:effectLst/>
                <a:latin typeface="Arial" panose="020B0604020202020204" pitchFamily="34" charset="0"/>
              </a:rPr>
              <a:t>The Storage Problem:</a:t>
            </a:r>
            <a:r>
              <a:rPr kumimoji="0" lang="en-US" altLang="en-US" b="0" i="0" u="none" strike="noStrike" cap="none" normalizeH="0" baseline="0" dirty="0">
                <a:ln>
                  <a:noFill/>
                </a:ln>
                <a:effectLst/>
                <a:latin typeface="Arial" panose="020B0604020202020204" pitchFamily="34" charset="0"/>
              </a:rPr>
              <a:t> If your app runs for a year and logs every small detail, the log file could grow to gigabytes, eventually filling up the hard drive and crashing the system.</a:t>
            </a:r>
          </a:p>
          <a:p>
            <a:pPr eaLnBrk="0" fontAlgn="base" hangingPunct="0">
              <a:spcBef>
                <a:spcPct val="0"/>
              </a:spcBef>
              <a:spcAft>
                <a:spcPts val="600"/>
              </a:spcAft>
            </a:pPr>
            <a:r>
              <a:rPr kumimoji="0" lang="en-US" altLang="en-US" b="1" i="0" u="none" strike="noStrike" cap="none" normalizeH="0" baseline="0" dirty="0">
                <a:ln>
                  <a:noFill/>
                </a:ln>
                <a:effectLst/>
                <a:latin typeface="Arial" panose="020B0604020202020204" pitchFamily="34" charset="0"/>
              </a:rPr>
              <a:t>The Solution: </a:t>
            </a:r>
            <a:r>
              <a:rPr kumimoji="0" lang="en-US" altLang="en-US" b="1" i="0" u="none" strike="noStrike" cap="none" normalizeH="0" baseline="0" dirty="0" err="1">
                <a:ln>
                  <a:noFill/>
                </a:ln>
                <a:effectLst/>
                <a:latin typeface="Arial Unicode MS"/>
              </a:rPr>
              <a:t>RotatingFileHandler</a:t>
            </a:r>
            <a:r>
              <a:rPr kumimoji="0" lang="en-US" altLang="en-US" b="1" i="0" u="none" strike="noStrike" cap="none" normalizeH="0" baseline="0" dirty="0">
                <a:ln>
                  <a:noFill/>
                </a:ln>
                <a:effectLst/>
              </a:rPr>
              <a:t>:</a:t>
            </a:r>
            <a:r>
              <a:rPr kumimoji="0" lang="en-US" altLang="en-US" b="0" i="0" u="none" strike="noStrike" cap="none" normalizeH="0" baseline="0" dirty="0">
                <a:ln>
                  <a:noFill/>
                </a:ln>
                <a:effectLst/>
                <a:latin typeface="Arial" panose="020B0604020202020204" pitchFamily="34" charset="0"/>
              </a:rPr>
              <a:t> This system sets a maximum size for a log file (e.g., 5MB). Once it hits that limit, Python closes the file, renames it (e.g., </a:t>
            </a:r>
            <a:r>
              <a:rPr kumimoji="0" lang="en-US" altLang="en-US" b="0" i="0" u="none" strike="noStrike" cap="none" normalizeH="0" baseline="0" dirty="0">
                <a:ln>
                  <a:noFill/>
                </a:ln>
                <a:effectLst/>
                <a:latin typeface="Arial Unicode MS"/>
              </a:rPr>
              <a:t>app.log.1</a:t>
            </a:r>
            <a:r>
              <a:rPr kumimoji="0" lang="en-US" altLang="en-US" b="0" i="0" u="none" strike="noStrike" cap="none" normalizeH="0" baseline="0" dirty="0">
                <a:ln>
                  <a:noFill/>
                </a:ln>
                <a:effectLst/>
              </a:rPr>
              <a:t>), and starts a fresh </a:t>
            </a:r>
            <a:r>
              <a:rPr kumimoji="0" lang="en-US" altLang="en-US" b="0" i="0" u="none" strike="noStrike" cap="none" normalizeH="0" baseline="0" dirty="0">
                <a:ln>
                  <a:noFill/>
                </a:ln>
                <a:effectLst/>
                <a:latin typeface="Arial Unicode MS"/>
              </a:rPr>
              <a:t>app.log</a:t>
            </a:r>
            <a:r>
              <a:rPr kumimoji="0" lang="en-US" altLang="en-US" b="0" i="0" u="none" strike="noStrike" cap="none" normalizeH="0" baseline="0" dirty="0">
                <a:ln>
                  <a:noFill/>
                </a:ln>
                <a:effectLst/>
              </a:rPr>
              <a:t>. This ensures your logs never consume too much space.</a:t>
            </a:r>
            <a:endParaRPr kumimoji="0" lang="en-US" altLang="en-US"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69608216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8</TotalTime>
  <Words>474</Words>
  <Application>Microsoft Office PowerPoint</Application>
  <PresentationFormat>Widescreen</PresentationFormat>
  <Paragraphs>17</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Arial Unicode MS</vt:lpstr>
      <vt:lpstr>Bierstadt</vt:lpstr>
      <vt:lpstr>GestaltVTI</vt:lpstr>
      <vt:lpstr>Welcome &amp; Module Induction </vt:lpstr>
      <vt:lpstr>Print vs. Logging (The Evolution)</vt:lpstr>
      <vt:lpstr>Log Levels (The Hierarchy of Urgency)</vt:lpstr>
      <vt:lpstr>Rotating Logs (Disk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zaryab ahmad khan</dc:creator>
  <cp:lastModifiedBy>zaryab ahmad khan</cp:lastModifiedBy>
  <cp:revision>3</cp:revision>
  <dcterms:created xsi:type="dcterms:W3CDTF">2026-04-22T09:10:22Z</dcterms:created>
  <dcterms:modified xsi:type="dcterms:W3CDTF">2026-04-22T09:18:44Z</dcterms:modified>
</cp:coreProperties>
</file>