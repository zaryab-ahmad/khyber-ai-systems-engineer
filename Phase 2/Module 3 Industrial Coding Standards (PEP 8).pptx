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6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4/22/2026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75438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4/22/2026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66152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4/22/2026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67658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4/22/2026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12210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4/22/2026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05569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4/22/2026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52871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4/22/2026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6947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4/22/2026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49696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4/22/2026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49953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4/22/2026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2361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4/22/2026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02654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4/22/2026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87326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B8A04B-A6C5-A4D5-7B52-B7EC37188B2E}"/>
              </a:ext>
            </a:extLst>
          </p:cNvPr>
          <p:cNvSpPr>
            <a:spLocks noGrp="1"/>
          </p:cNvSpPr>
          <p:nvPr>
            <p:ph type="ctrTitle"/>
          </p:nvPr>
        </p:nvSpPr>
        <p:spPr>
          <a:xfrm>
            <a:off x="2220686" y="871759"/>
            <a:ext cx="9209314" cy="2557240"/>
          </a:xfrm>
        </p:spPr>
        <p:txBody>
          <a:bodyPr>
            <a:normAutofit/>
          </a:bodyPr>
          <a:lstStyle/>
          <a:p>
            <a:r>
              <a:rPr lang="en-US" dirty="0"/>
              <a:t>Welcome &amp; Module Induction</a:t>
            </a:r>
          </a:p>
        </p:txBody>
      </p:sp>
      <p:sp>
        <p:nvSpPr>
          <p:cNvPr id="4" name="Rectangle 1">
            <a:extLst>
              <a:ext uri="{FF2B5EF4-FFF2-40B4-BE49-F238E27FC236}">
                <a16:creationId xmlns:a16="http://schemas.microsoft.com/office/drawing/2014/main" id="{E0E7867E-C163-C38A-D486-4545E2ACC18B}"/>
              </a:ext>
            </a:extLst>
          </p:cNvPr>
          <p:cNvSpPr>
            <a:spLocks noGrp="1" noChangeArrowheads="1"/>
          </p:cNvSpPr>
          <p:nvPr>
            <p:ph type="subTitle" idx="1"/>
          </p:nvPr>
        </p:nvSpPr>
        <p:spPr bwMode="auto">
          <a:xfrm>
            <a:off x="2220686" y="2688772"/>
            <a:ext cx="8721291" cy="32974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pPr marL="0" marR="0" lvl="0" indent="0" defTabSz="914400" rtl="0" eaLnBrk="0" fontAlgn="base" latinLnBrk="0" hangingPunct="0">
              <a:lnSpc>
                <a:spcPct val="100000"/>
              </a:lnSpc>
              <a:spcBef>
                <a:spcPct val="0"/>
              </a:spcBef>
              <a:spcAft>
                <a:spcPts val="600"/>
              </a:spcAft>
              <a:buClrTx/>
              <a:buSzTx/>
              <a:tabLst/>
            </a:pPr>
            <a:r>
              <a:rPr kumimoji="0" lang="en-US" altLang="en-US" sz="1800" b="1" i="0" u="none" strike="noStrike" cap="none" normalizeH="0" baseline="0" dirty="0">
                <a:ln>
                  <a:noFill/>
                </a:ln>
                <a:effectLst/>
                <a:latin typeface="Arial" panose="020B0604020202020204" pitchFamily="34" charset="0"/>
              </a:rPr>
              <a:t>What we learned previously:</a:t>
            </a:r>
            <a:r>
              <a:rPr kumimoji="0" lang="en-US" altLang="en-US" sz="1800" b="0" i="0" u="none" strike="noStrike" cap="none" normalizeH="0" baseline="0" dirty="0">
                <a:ln>
                  <a:noFill/>
                </a:ln>
                <a:effectLst/>
                <a:latin typeface="Arial" panose="020B0604020202020204" pitchFamily="34" charset="0"/>
              </a:rPr>
              <a:t> In Module 2, we secured our "ingredients." We learned how to lock down dependencies using strict versions and cryptographic hashes, ensuring our environment builds perfectly on any server or lab machine.</a:t>
            </a:r>
          </a:p>
          <a:p>
            <a:pPr marL="0" marR="0" lvl="0" indent="0" defTabSz="914400" rtl="0" eaLnBrk="0" fontAlgn="base" latinLnBrk="0" hangingPunct="0">
              <a:lnSpc>
                <a:spcPct val="100000"/>
              </a:lnSpc>
              <a:spcBef>
                <a:spcPct val="0"/>
              </a:spcBef>
              <a:spcAft>
                <a:spcPts val="600"/>
              </a:spcAft>
              <a:buClrTx/>
              <a:buSzTx/>
              <a:tabLst/>
            </a:pPr>
            <a:r>
              <a:rPr kumimoji="0" lang="en-US" altLang="en-US" sz="1800" b="1" i="0" u="none" strike="noStrike" cap="none" normalizeH="0" baseline="0" dirty="0">
                <a:ln>
                  <a:noFill/>
                </a:ln>
                <a:effectLst/>
                <a:latin typeface="Arial" panose="020B0604020202020204" pitchFamily="34" charset="0"/>
              </a:rPr>
              <a:t>What we are learning today:</a:t>
            </a:r>
            <a:r>
              <a:rPr kumimoji="0" lang="en-US" altLang="en-US" sz="1800" b="0" i="0" u="none" strike="noStrike" cap="none" normalizeH="0" baseline="0" dirty="0">
                <a:ln>
                  <a:noFill/>
                </a:ln>
                <a:effectLst/>
                <a:latin typeface="Arial" panose="020B0604020202020204" pitchFamily="34" charset="0"/>
              </a:rPr>
              <a:t> Now, we focus on the code itself. We are transitioning from writing "code that merely works" to writing "code that is industrially acceptable." We will cover the official Python style guide (PEP 8), Automated Linters, and Auto-Formatters.</a:t>
            </a:r>
          </a:p>
          <a:p>
            <a:pPr marL="0" marR="0" lvl="0" indent="0" defTabSz="914400" rtl="0" eaLnBrk="0" fontAlgn="base" latinLnBrk="0" hangingPunct="0">
              <a:lnSpc>
                <a:spcPct val="100000"/>
              </a:lnSpc>
              <a:spcBef>
                <a:spcPct val="0"/>
              </a:spcBef>
              <a:spcAft>
                <a:spcPts val="600"/>
              </a:spcAft>
              <a:buClrTx/>
              <a:buSzTx/>
              <a:tabLst/>
            </a:pPr>
            <a:r>
              <a:rPr kumimoji="0" lang="en-US" altLang="en-US" sz="1800" b="1" i="0" u="none" strike="noStrike" cap="none" normalizeH="0" baseline="0" dirty="0">
                <a:ln>
                  <a:noFill/>
                </a:ln>
                <a:effectLst/>
                <a:latin typeface="Arial" panose="020B0604020202020204" pitchFamily="34" charset="0"/>
              </a:rPr>
              <a:t>Why this will be helpful:</a:t>
            </a:r>
            <a:r>
              <a:rPr kumimoji="0" lang="en-US" altLang="en-US" sz="1800" b="0" i="0" u="none" strike="noStrike" cap="none" normalizeH="0" baseline="0" dirty="0">
                <a:ln>
                  <a:noFill/>
                </a:ln>
                <a:effectLst/>
                <a:latin typeface="Arial" panose="020B0604020202020204" pitchFamily="34" charset="0"/>
              </a:rPr>
              <a:t> When you apply for a Master's program, contribute to open-source vision frameworks, or publish research alongside academic papers, reviewers will judge your code's quality before they even look at your logic. Messy formatting can cause your work to be dismissed immediately. Today, you will learn how to automate these standards so your code always looks like it was written by a senior engineer.</a:t>
            </a:r>
          </a:p>
        </p:txBody>
      </p:sp>
      <p:pic>
        <p:nvPicPr>
          <p:cNvPr id="3" name="Picture 2">
            <a:extLst>
              <a:ext uri="{FF2B5EF4-FFF2-40B4-BE49-F238E27FC236}">
                <a16:creationId xmlns:a16="http://schemas.microsoft.com/office/drawing/2014/main" id="{F923F2BC-637F-B787-AE79-562FDFF39319}"/>
              </a:ext>
            </a:extLst>
          </p:cNvPr>
          <p:cNvPicPr>
            <a:picLocks noChangeAspect="1"/>
          </p:cNvPicPr>
          <p:nvPr/>
        </p:nvPicPr>
        <p:blipFill>
          <a:blip r:embed="rId2"/>
          <a:srcRect l="15639" r="13250"/>
          <a:stretch>
            <a:fillRect/>
          </a:stretch>
        </p:blipFill>
        <p:spPr>
          <a:xfrm>
            <a:off x="2" y="10"/>
            <a:ext cx="1719942" cy="6857989"/>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693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4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4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6" name="Rectangle 2055">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71FDA1-3860-9033-85FC-96CC1A243A94}"/>
              </a:ext>
            </a:extLst>
          </p:cNvPr>
          <p:cNvSpPr>
            <a:spLocks noGrp="1"/>
          </p:cNvSpPr>
          <p:nvPr>
            <p:ph type="title"/>
          </p:nvPr>
        </p:nvSpPr>
        <p:spPr>
          <a:xfrm>
            <a:off x="704088" y="914400"/>
            <a:ext cx="5195889" cy="1316736"/>
          </a:xfrm>
        </p:spPr>
        <p:txBody>
          <a:bodyPr>
            <a:normAutofit/>
          </a:bodyPr>
          <a:lstStyle/>
          <a:p>
            <a:r>
              <a:rPr lang="en-US" dirty="0"/>
              <a:t>PEP 8 &amp; The Cost of "Ugly" Code</a:t>
            </a:r>
          </a:p>
        </p:txBody>
      </p:sp>
      <p:cxnSp>
        <p:nvCxnSpPr>
          <p:cNvPr id="2058" name="Straight Connector 2057">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D6AC5357-1558-C6E6-44B8-5D62615A4F0B}"/>
              </a:ext>
            </a:extLst>
          </p:cNvPr>
          <p:cNvSpPr>
            <a:spLocks noGrp="1" noChangeArrowheads="1"/>
          </p:cNvSpPr>
          <p:nvPr>
            <p:ph idx="1"/>
          </p:nvPr>
        </p:nvSpPr>
        <p:spPr bwMode="auto">
          <a:xfrm>
            <a:off x="704088" y="2231136"/>
            <a:ext cx="5195889" cy="39319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effectLst/>
                <a:latin typeface="Arial" panose="020B0604020202020204" pitchFamily="34" charset="0"/>
              </a:rPr>
              <a:t>The Standard:</a:t>
            </a:r>
            <a:r>
              <a:rPr kumimoji="0" lang="en-US" altLang="en-US" b="0" i="0" u="none" strike="noStrike" cap="none" normalizeH="0" baseline="0">
                <a:ln>
                  <a:noFill/>
                </a:ln>
                <a:effectLst/>
                <a:latin typeface="Arial" panose="020B0604020202020204" pitchFamily="34" charset="0"/>
              </a:rPr>
              <a:t> PEP 8 is the universal style guide for Python. It dictates how to name variables, how many blank lines to use, and where to put spaces.</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effectLst/>
                <a:latin typeface="Arial" panose="020B0604020202020204" pitchFamily="34" charset="0"/>
              </a:rPr>
              <a:t>The Problem:</a:t>
            </a:r>
            <a:r>
              <a:rPr kumimoji="0" lang="en-US" altLang="en-US" b="0" i="0" u="none" strike="noStrike" cap="none" normalizeH="0" baseline="0">
                <a:ln>
                  <a:noFill/>
                </a:ln>
                <a:effectLst/>
                <a:latin typeface="Arial" panose="020B0604020202020204" pitchFamily="34" charset="0"/>
              </a:rPr>
              <a:t> Memorizing every rule is inefficient and prone to human error.</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a:ln>
                  <a:noFill/>
                </a:ln>
                <a:effectLst/>
                <a:latin typeface="Arial" panose="020B0604020202020204" pitchFamily="34" charset="0"/>
              </a:rPr>
              <a:t>The Goal:</a:t>
            </a:r>
            <a:r>
              <a:rPr kumimoji="0" lang="en-US" altLang="en-US" b="0" i="0" u="none" strike="noStrike" cap="none" normalizeH="0" baseline="0">
                <a:ln>
                  <a:noFill/>
                </a:ln>
                <a:effectLst/>
                <a:latin typeface="Arial" panose="020B0604020202020204" pitchFamily="34" charset="0"/>
              </a:rPr>
              <a:t> Write code that is universally readable by any other Python developer instantly.</a:t>
            </a:r>
          </a:p>
        </p:txBody>
      </p:sp>
      <p:pic>
        <p:nvPicPr>
          <p:cNvPr id="2051" name="Picture 3" descr="Does this Wikipedia code example follow PEP 8 style guidelines? - Python  Help - Discussions on Python.org">
            <a:extLst>
              <a:ext uri="{FF2B5EF4-FFF2-40B4-BE49-F238E27FC236}">
                <a16:creationId xmlns:a16="http://schemas.microsoft.com/office/drawing/2014/main" id="{0C703899-C7FC-B339-5A0A-46207B59F9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878" b="2"/>
          <a:stretch>
            <a:fillRect/>
          </a:stretch>
        </p:blipFill>
        <p:spPr bwMode="auto">
          <a:xfrm>
            <a:off x="6420752" y="731520"/>
            <a:ext cx="5055865" cy="542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349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4" name="Rectangle 308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ADF157-25B0-AB18-EEFE-6412DFBF7A19}"/>
              </a:ext>
            </a:extLst>
          </p:cNvPr>
          <p:cNvSpPr>
            <a:spLocks noGrp="1"/>
          </p:cNvSpPr>
          <p:nvPr>
            <p:ph type="title"/>
          </p:nvPr>
        </p:nvSpPr>
        <p:spPr>
          <a:xfrm>
            <a:off x="704088" y="914400"/>
            <a:ext cx="6001512" cy="1307592"/>
          </a:xfrm>
        </p:spPr>
        <p:txBody>
          <a:bodyPr>
            <a:normAutofit/>
          </a:bodyPr>
          <a:lstStyle/>
          <a:p>
            <a:pPr>
              <a:lnSpc>
                <a:spcPct val="90000"/>
              </a:lnSpc>
            </a:pPr>
            <a:r>
              <a:rPr lang="en-US" dirty="0"/>
              <a:t>Automated Linters (Flake8 &amp; </a:t>
            </a:r>
            <a:r>
              <a:rPr lang="en-US" dirty="0" err="1"/>
              <a:t>Pylint</a:t>
            </a:r>
            <a:r>
              <a:rPr lang="en-US" dirty="0"/>
              <a:t>)</a:t>
            </a:r>
            <a:endParaRPr lang="en-US"/>
          </a:p>
        </p:txBody>
      </p:sp>
      <p:cxnSp>
        <p:nvCxnSpPr>
          <p:cNvPr id="3085" name="Straight Connector 3084">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2EF453A9-0F37-35C8-7552-E1849B25E1BC}"/>
              </a:ext>
            </a:extLst>
          </p:cNvPr>
          <p:cNvSpPr>
            <a:spLocks noGrp="1" noChangeArrowheads="1"/>
          </p:cNvSpPr>
          <p:nvPr>
            <p:ph idx="1"/>
          </p:nvPr>
        </p:nvSpPr>
        <p:spPr bwMode="auto">
          <a:xfrm>
            <a:off x="704088" y="2231136"/>
            <a:ext cx="6001512" cy="39319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en-US" altLang="en-US" b="1" i="0" u="none" strike="noStrike" cap="none" normalizeH="0" baseline="0" dirty="0">
                <a:ln>
                  <a:noFill/>
                </a:ln>
                <a:effectLst/>
                <a:latin typeface="Arial" panose="020B0604020202020204" pitchFamily="34" charset="0"/>
              </a:rPr>
              <a:t>What is a Linter?</a:t>
            </a:r>
            <a:r>
              <a:rPr kumimoji="0" lang="en-US" altLang="en-US" b="0" i="0" u="none" strike="noStrike" cap="none" normalizeH="0" baseline="0" dirty="0">
                <a:ln>
                  <a:noFill/>
                </a:ln>
                <a:effectLst/>
                <a:latin typeface="Arial" panose="020B0604020202020204" pitchFamily="34" charset="0"/>
              </a:rPr>
              <a:t> Think of it as a strict spell-checker for logic and style.</a:t>
            </a:r>
          </a:p>
          <a:p>
            <a:pPr marL="0" marR="0" lvl="0" indent="0" defTabSz="914400" rtl="0" eaLnBrk="0" fontAlgn="base" latinLnBrk="0" hangingPunct="0">
              <a:spcBef>
                <a:spcPct val="0"/>
              </a:spcBef>
              <a:spcAft>
                <a:spcPts val="600"/>
              </a:spcAft>
              <a:buClrTx/>
              <a:buSzTx/>
              <a:buNone/>
              <a:tabLst/>
            </a:pPr>
            <a:r>
              <a:rPr kumimoji="0" lang="en-US" altLang="en-US" b="1" i="0" u="none" strike="noStrike" cap="none" normalizeH="0" baseline="0" dirty="0">
                <a:ln>
                  <a:noFill/>
                </a:ln>
                <a:effectLst/>
                <a:latin typeface="Arial" panose="020B0604020202020204" pitchFamily="34" charset="0"/>
              </a:rPr>
              <a:t>How it works:</a:t>
            </a:r>
            <a:r>
              <a:rPr kumimoji="0" lang="en-US" altLang="en-US" b="0" i="0" u="none" strike="noStrike" cap="none" normalizeH="0" baseline="0" dirty="0">
                <a:ln>
                  <a:noFill/>
                </a:ln>
                <a:effectLst/>
                <a:latin typeface="Arial" panose="020B0604020202020204" pitchFamily="34" charset="0"/>
              </a:rPr>
              <a:t> It performs </a:t>
            </a:r>
            <a:r>
              <a:rPr kumimoji="0" lang="en-US" altLang="en-US" b="0" i="1" u="none" strike="noStrike" cap="none" normalizeH="0" baseline="0" dirty="0">
                <a:ln>
                  <a:noFill/>
                </a:ln>
                <a:effectLst/>
                <a:latin typeface="Arial" panose="020B0604020202020204" pitchFamily="34" charset="0"/>
              </a:rPr>
              <a:t>static analysis</a:t>
            </a:r>
            <a:r>
              <a:rPr kumimoji="0" lang="en-US" altLang="en-US" b="0" i="0" u="none" strike="noStrike" cap="none" normalizeH="0" baseline="0" dirty="0">
                <a:ln>
                  <a:noFill/>
                </a:ln>
                <a:effectLst/>
                <a:latin typeface="Arial" panose="020B0604020202020204" pitchFamily="34" charset="0"/>
              </a:rPr>
              <a:t>. It reads your code without running it and flags stylistic errors, undefined variables, and overly complex functions before you even hit "execute."</a:t>
            </a:r>
          </a:p>
        </p:txBody>
      </p:sp>
      <p:pic>
        <p:nvPicPr>
          <p:cNvPr id="3075" name="Picture 3" descr="Improve your python code quality – a python linters overview">
            <a:extLst>
              <a:ext uri="{FF2B5EF4-FFF2-40B4-BE49-F238E27FC236}">
                <a16:creationId xmlns:a16="http://schemas.microsoft.com/office/drawing/2014/main" id="{17C81C4F-3D5A-4DE1-DC97-FA2068B5387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76082" y="731520"/>
            <a:ext cx="3999013" cy="542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511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4" name="Rectangle 410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7A1E99-0952-A8C6-E4B9-8630EFE38732}"/>
              </a:ext>
            </a:extLst>
          </p:cNvPr>
          <p:cNvSpPr>
            <a:spLocks noGrp="1"/>
          </p:cNvSpPr>
          <p:nvPr>
            <p:ph type="title"/>
          </p:nvPr>
        </p:nvSpPr>
        <p:spPr>
          <a:xfrm>
            <a:off x="704088" y="914400"/>
            <a:ext cx="10780776" cy="1180210"/>
          </a:xfrm>
        </p:spPr>
        <p:txBody>
          <a:bodyPr>
            <a:normAutofit/>
          </a:bodyPr>
          <a:lstStyle/>
          <a:p>
            <a:pPr>
              <a:lnSpc>
                <a:spcPct val="90000"/>
              </a:lnSpc>
            </a:pPr>
            <a:r>
              <a:rPr lang="en-US" sz="3700"/>
              <a:t>The "Senior Engineer" Button: Auto-Formatters</a:t>
            </a:r>
          </a:p>
        </p:txBody>
      </p:sp>
      <p:cxnSp>
        <p:nvCxnSpPr>
          <p:cNvPr id="4106" name="Straight Connector 4105">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099" name="Picture 3" descr="Auto formatters for Python 👨‍💻🤖 | by Kevin Peters | 3YOURMIND-Tech |  Medium">
            <a:extLst>
              <a:ext uri="{FF2B5EF4-FFF2-40B4-BE49-F238E27FC236}">
                <a16:creationId xmlns:a16="http://schemas.microsoft.com/office/drawing/2014/main" id="{C7D388D1-CD30-BA59-2213-BC848577E98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0098" y="2638867"/>
            <a:ext cx="5549902" cy="352418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D8F56375-39FC-E269-88D1-9317B719376D}"/>
              </a:ext>
            </a:extLst>
          </p:cNvPr>
          <p:cNvSpPr>
            <a:spLocks noGrp="1" noChangeArrowheads="1"/>
          </p:cNvSpPr>
          <p:nvPr>
            <p:ph idx="1"/>
          </p:nvPr>
        </p:nvSpPr>
        <p:spPr bwMode="auto">
          <a:xfrm>
            <a:off x="6664960" y="2346960"/>
            <a:ext cx="4819903" cy="37754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None/>
              <a:tabLst/>
            </a:pPr>
            <a:r>
              <a:rPr kumimoji="0" lang="en-US" altLang="en-US" b="1" i="0" u="none" strike="noStrike" cap="none" normalizeH="0" baseline="0" dirty="0">
                <a:ln>
                  <a:noFill/>
                </a:ln>
                <a:effectLst/>
                <a:latin typeface="Arial" panose="020B0604020202020204" pitchFamily="34" charset="0"/>
              </a:rPr>
              <a:t>Finding vs. Fixing:</a:t>
            </a:r>
            <a:r>
              <a:rPr kumimoji="0" lang="en-US" altLang="en-US" b="0" i="0" u="none" strike="noStrike" cap="none" normalizeH="0" baseline="0" dirty="0">
                <a:ln>
                  <a:noFill/>
                </a:ln>
                <a:effectLst/>
                <a:latin typeface="Arial" panose="020B0604020202020204" pitchFamily="34" charset="0"/>
              </a:rPr>
              <a:t> Finding errors with a linter is great, but fixing them manually wastes time.</a:t>
            </a:r>
          </a:p>
          <a:p>
            <a:pPr marL="0" marR="0" lvl="0" indent="0" defTabSz="914400" rtl="0" eaLnBrk="0" fontAlgn="base" latinLnBrk="0" hangingPunct="0">
              <a:lnSpc>
                <a:spcPct val="100000"/>
              </a:lnSpc>
              <a:spcBef>
                <a:spcPct val="0"/>
              </a:spcBef>
              <a:spcAft>
                <a:spcPts val="600"/>
              </a:spcAft>
              <a:buClrTx/>
              <a:buSzTx/>
              <a:buNone/>
              <a:tabLst/>
            </a:pPr>
            <a:r>
              <a:rPr kumimoji="0" lang="en-US" altLang="en-US" b="1" i="0" u="none" strike="noStrike" cap="none" normalizeH="0" baseline="0" dirty="0" err="1">
                <a:ln>
                  <a:noFill/>
                </a:ln>
                <a:effectLst/>
                <a:latin typeface="Arial Unicode MS"/>
              </a:rPr>
              <a:t>isort</a:t>
            </a:r>
            <a:r>
              <a:rPr kumimoji="0" lang="en-US" altLang="en-US" b="1" i="0" u="none" strike="noStrike" cap="none" normalizeH="0" baseline="0" dirty="0">
                <a:ln>
                  <a:noFill/>
                </a:ln>
                <a:effectLst/>
              </a:rPr>
              <a:t>:</a:t>
            </a:r>
            <a:r>
              <a:rPr kumimoji="0" lang="en-US" altLang="en-US" b="0" i="0" u="none" strike="noStrike" cap="none" normalizeH="0" baseline="0" dirty="0">
                <a:ln>
                  <a:noFill/>
                </a:ln>
                <a:effectLst/>
                <a:latin typeface="Arial" panose="020B0604020202020204" pitchFamily="34" charset="0"/>
              </a:rPr>
              <a:t> Automatically groups and alphabetizes your imports at the top of the file so they look organized.</a:t>
            </a:r>
          </a:p>
          <a:p>
            <a:pPr marL="0" marR="0" lvl="0" indent="0" defTabSz="914400" rtl="0" eaLnBrk="0" fontAlgn="base" latinLnBrk="0" hangingPunct="0">
              <a:lnSpc>
                <a:spcPct val="100000"/>
              </a:lnSpc>
              <a:spcBef>
                <a:spcPct val="0"/>
              </a:spcBef>
              <a:spcAft>
                <a:spcPts val="600"/>
              </a:spcAft>
              <a:buClrTx/>
              <a:buSzTx/>
              <a:buNone/>
              <a:tabLst/>
            </a:pPr>
            <a:r>
              <a:rPr kumimoji="0" lang="en-US" altLang="en-US" b="1" i="0" u="none" strike="noStrike" cap="none" normalizeH="0" baseline="0" dirty="0">
                <a:ln>
                  <a:noFill/>
                </a:ln>
                <a:effectLst/>
                <a:latin typeface="Arial Unicode MS"/>
              </a:rPr>
              <a:t>Black</a:t>
            </a:r>
            <a:r>
              <a:rPr kumimoji="0" lang="en-US" altLang="en-US" b="1" i="0" u="none" strike="noStrike" cap="none" normalizeH="0" baseline="0" dirty="0">
                <a:ln>
                  <a:noFill/>
                </a:ln>
                <a:effectLst/>
              </a:rPr>
              <a:t>:</a:t>
            </a:r>
            <a:r>
              <a:rPr kumimoji="0" lang="en-US" altLang="en-US" b="0" i="0" u="none" strike="noStrike" cap="none" normalizeH="0" baseline="0" dirty="0">
                <a:ln>
                  <a:noFill/>
                </a:ln>
                <a:effectLst/>
                <a:latin typeface="Arial" panose="020B0604020202020204" pitchFamily="34" charset="0"/>
              </a:rPr>
              <a:t> Known as the "uncompromising code formatter." It takes your messy code, breaks it down, and completely rewrites it to perfect PEP 8 standards in milliseconds.</a:t>
            </a:r>
          </a:p>
        </p:txBody>
      </p:sp>
    </p:spTree>
    <p:extLst>
      <p:ext uri="{BB962C8B-B14F-4D97-AF65-F5344CB8AC3E}">
        <p14:creationId xmlns:p14="http://schemas.microsoft.com/office/powerpoint/2010/main" val="3615224541"/>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9</TotalTime>
  <Words>385</Words>
  <Application>Microsoft Office PowerPoint</Application>
  <PresentationFormat>Widescreen</PresentationFormat>
  <Paragraphs>15</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Arial Unicode MS</vt:lpstr>
      <vt:lpstr>Calisto MT</vt:lpstr>
      <vt:lpstr>Univers Condensed</vt:lpstr>
      <vt:lpstr>ChronicleVTI</vt:lpstr>
      <vt:lpstr>Welcome &amp; Module Induction</vt:lpstr>
      <vt:lpstr>PEP 8 &amp; The Cost of "Ugly" Code</vt:lpstr>
      <vt:lpstr>Automated Linters (Flake8 &amp; Pylint)</vt:lpstr>
      <vt:lpstr>The "Senior Engineer" Button: Auto-Formatters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zaryab ahmad khan</dc:creator>
  <cp:lastModifiedBy>zaryab ahmad khan</cp:lastModifiedBy>
  <cp:revision>1</cp:revision>
  <dcterms:created xsi:type="dcterms:W3CDTF">2026-04-22T06:34:30Z</dcterms:created>
  <dcterms:modified xsi:type="dcterms:W3CDTF">2026-04-22T06:43:45Z</dcterms:modified>
</cp:coreProperties>
</file>