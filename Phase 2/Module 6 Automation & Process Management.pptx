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2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80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7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9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1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5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6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76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70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31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8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58" r:id="rId6"/>
    <p:sldLayoutId id="2147483754" r:id="rId7"/>
    <p:sldLayoutId id="2147483755" r:id="rId8"/>
    <p:sldLayoutId id="2147483756" r:id="rId9"/>
    <p:sldLayoutId id="2147483757" r:id="rId10"/>
    <p:sldLayoutId id="2147483759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3148A4-EAE8-49C7-89F1-8E48B3A26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4C4F3-8D42-010E-3FC7-E4E85DD67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2038" y="2880818"/>
            <a:ext cx="8654267" cy="1124073"/>
          </a:xfrm>
        </p:spPr>
        <p:txBody>
          <a:bodyPr anchor="b">
            <a:normAutofit/>
          </a:bodyPr>
          <a:lstStyle/>
          <a:p>
            <a:r>
              <a:rPr lang="en-US" dirty="0"/>
              <a:t>Welcome &amp; Module Induction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C83D3F-7C1B-B8EE-E9ED-E7BB5BC344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42038" y="4004891"/>
            <a:ext cx="8656058" cy="20391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we learned previously: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Module 5, we learned how to engineer files—moving, organizing, and reading the metadata of thousands of files using Python’s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os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pathlib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modules.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we are learning today: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 are moving from controlling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controlling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other programs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We will learn how to use Python to act as a "remote control" for the terminal and other software using the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subprocess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module and System Exit Codes.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 this will be helpful: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You will not write every piece of software you use in your career. Sometimes you need to use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FFmpeg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process video, Git to sync code, or a specialized C++ binary to run a computer vision model. Instead of opening these apps manually, you can write a Python script that automatically opens them, feeds them data, reads their output, and handles their errors.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96FDE2F-8352-4200-8537-0E8FC365F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3495110" cy="3414822"/>
          </a:xfrm>
          <a:custGeom>
            <a:avLst/>
            <a:gdLst>
              <a:gd name="connsiteX0" fmla="*/ 3495110 w 3495110"/>
              <a:gd name="connsiteY0" fmla="*/ 3414822 h 3414822"/>
              <a:gd name="connsiteX1" fmla="*/ 26047 w 3495110"/>
              <a:gd name="connsiteY1" fmla="*/ 3414822 h 3414822"/>
              <a:gd name="connsiteX2" fmla="*/ 192248 w 3495110"/>
              <a:gd name="connsiteY2" fmla="*/ 3410701 h 3414822"/>
              <a:gd name="connsiteX3" fmla="*/ 3495109 w 3495110"/>
              <a:gd name="connsiteY3" fmla="*/ 320 h 3414822"/>
              <a:gd name="connsiteX4" fmla="*/ 13063 w 3495110"/>
              <a:gd name="connsiteY4" fmla="*/ 320 h 3414822"/>
              <a:gd name="connsiteX5" fmla="*/ 13063 w 3495110"/>
              <a:gd name="connsiteY5" fmla="*/ 3414822 h 3414822"/>
              <a:gd name="connsiteX6" fmla="*/ 13062 w 3495110"/>
              <a:gd name="connsiteY6" fmla="*/ 3414822 h 3414822"/>
              <a:gd name="connsiteX7" fmla="*/ 13062 w 3495110"/>
              <a:gd name="connsiteY7" fmla="*/ 322 h 3414822"/>
              <a:gd name="connsiteX8" fmla="*/ 0 w 3495110"/>
              <a:gd name="connsiteY8" fmla="*/ 322 h 3414822"/>
              <a:gd name="connsiteX9" fmla="*/ 0 w 3495110"/>
              <a:gd name="connsiteY9" fmla="*/ 0 h 3414822"/>
              <a:gd name="connsiteX10" fmla="*/ 3495110 w 3495110"/>
              <a:gd name="connsiteY10" fmla="*/ 0 h 3414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495110" h="3414822">
                <a:moveTo>
                  <a:pt x="3495110" y="3414822"/>
                </a:moveTo>
                <a:lnTo>
                  <a:pt x="26047" y="3414822"/>
                </a:lnTo>
                <a:lnTo>
                  <a:pt x="192248" y="3410701"/>
                </a:lnTo>
                <a:cubicBezTo>
                  <a:pt x="2032056" y="3319241"/>
                  <a:pt x="3495109" y="1827339"/>
                  <a:pt x="3495109" y="320"/>
                </a:cubicBezTo>
                <a:lnTo>
                  <a:pt x="13063" y="320"/>
                </a:lnTo>
                <a:lnTo>
                  <a:pt x="13063" y="3414822"/>
                </a:lnTo>
                <a:lnTo>
                  <a:pt x="13062" y="3414822"/>
                </a:lnTo>
                <a:lnTo>
                  <a:pt x="13062" y="322"/>
                </a:lnTo>
                <a:lnTo>
                  <a:pt x="0" y="322"/>
                </a:lnTo>
                <a:lnTo>
                  <a:pt x="0" y="0"/>
                </a:lnTo>
                <a:lnTo>
                  <a:pt x="349511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3AE3B-3A9F-4A74-A626-EA434E9E0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696893" y="0"/>
            <a:ext cx="3498943" cy="34148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17DA6B-27FE-E66D-5B51-6FF226C19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06" r="-2" b="39024"/>
          <a:stretch>
            <a:fillRect/>
          </a:stretch>
        </p:blipFill>
        <p:spPr>
          <a:xfrm>
            <a:off x="-1" y="10"/>
            <a:ext cx="8707925" cy="3414814"/>
          </a:xfrm>
          <a:custGeom>
            <a:avLst/>
            <a:gdLst/>
            <a:ahLst/>
            <a:cxnLst/>
            <a:rect l="l" t="t" r="r" b="b"/>
            <a:pathLst>
              <a:path w="8724646" h="3414824">
                <a:moveTo>
                  <a:pt x="3488733" y="0"/>
                </a:moveTo>
                <a:lnTo>
                  <a:pt x="8724646" y="0"/>
                </a:lnTo>
                <a:lnTo>
                  <a:pt x="8724646" y="3414822"/>
                </a:lnTo>
                <a:lnTo>
                  <a:pt x="3488733" y="3414822"/>
                </a:lnTo>
                <a:close/>
                <a:moveTo>
                  <a:pt x="3488732" y="0"/>
                </a:moveTo>
                <a:lnTo>
                  <a:pt x="3488732" y="3414824"/>
                </a:lnTo>
                <a:lnTo>
                  <a:pt x="0" y="3414824"/>
                </a:lnTo>
                <a:cubicBezTo>
                  <a:pt x="0" y="1528869"/>
                  <a:pt x="1561959" y="0"/>
                  <a:pt x="3488732" y="0"/>
                </a:cubicBezTo>
                <a:close/>
              </a:path>
            </a:pathLst>
          </a:custGeom>
        </p:spPr>
      </p:pic>
      <p:sp>
        <p:nvSpPr>
          <p:cNvPr id="22" name="Rectangle 34">
            <a:extLst>
              <a:ext uri="{FF2B5EF4-FFF2-40B4-BE49-F238E27FC236}">
                <a16:creationId xmlns:a16="http://schemas.microsoft.com/office/drawing/2014/main" id="{C4616447-380A-4DF1-834B-15E0529F4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7925" y="0"/>
            <a:ext cx="3495111" cy="3415146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35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08BF0A-4598-3B47-7E2B-B34491876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r>
              <a:rPr lang="en-US" dirty="0"/>
              <a:t>The subprocess Module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3A6CE2-A05D-CFC2-C98A-5C58AE4793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7364" y="2427316"/>
            <a:ext cx="4140096" cy="35135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Concept: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Think of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subprocess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as a virtual human sitting at a terminal. It types commands, hits "Enter," and waits for the program to finish.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 not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os.system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?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Older tutorials use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os.system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, but it is outdated and insecure.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subprocess.run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is the modern, industrial standard because it gives you absolute control over the input, output, and security of the program you are launching.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C4BC4-4B23-28D4-93F9-054895D50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464" y="1214151"/>
            <a:ext cx="4788861" cy="442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2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8CFDDC-4260-D36C-1977-81B054767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/>
              <a:t>Running Shell Commands &amp; Capturing Output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E869C5C-FA49-BF1F-1EFE-DA3F673F481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1077364" y="2427316"/>
                <a:ext cx="4140096" cy="3513514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Ctr="0" compatLnSpc="1">
                <a:prstTxWarp prst="textNoShape">
                  <a:avLst/>
                </a:prstTxWarp>
                <a:normAutofit/>
              </a:bodyPr>
              <a:lstStyle/>
              <a:p>
                <a:pPr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sz="1500" b="1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The Problem:</a:t>
                </a: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 When you run a terminal command, the output usually prints directly to the screen. But what if your Python script needs to </a:t>
                </a:r>
                <a:r>
                  <a:rPr kumimoji="0" lang="en-US" altLang="en-US" sz="1500" b="0" i="1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read</a:t>
                </a: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 that output to make a decision?</a:t>
                </a:r>
              </a:p>
              <a:p>
                <a:pPr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sz="1500" b="1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The Solution:</a:t>
                </a: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 We use </a:t>
                </a:r>
                <a14:m>
                  <m:oMath xmlns:m="http://schemas.openxmlformats.org/officeDocument/2006/math">
                    <m:r>
                      <a:rPr kumimoji="0" lang="en-US" altLang="en-US" sz="15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𝑐𝑎𝑝𝑡𝑢𝑟𝑒</m:t>
                    </m:r>
                    <m:r>
                      <a:rPr kumimoji="0" lang="en-US" altLang="en-US" sz="15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_</m:t>
                    </m:r>
                    <m:r>
                      <a:rPr kumimoji="0" lang="en-US" altLang="en-US" sz="15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kumimoji="0" lang="en-US" altLang="en-US" sz="1500" b="0" i="1" u="none" strike="noStrike" cap="none" normalizeH="0" baseline="0" dirty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altLang="en-US" sz="1500" b="0" i="1" u="none" strike="noStrike" cap="none" normalizeH="0" baseline="0" dirty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𝑇𝑟𝑢𝑒</m:t>
                    </m:r>
                  </m:oMath>
                </a14:m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effectLst/>
                  </a:rPr>
                  <a:t>. This catches the text before it hits the screen and stores it in a Python variable (</a:t>
                </a:r>
                <a:r>
                  <a:rPr lang="en-US" altLang="en-US" sz="1500" i="1" dirty="0" err="1">
                    <a:latin typeface="Cambria Math" panose="02040503050406030204" pitchFamily="18" charset="0"/>
                  </a:rPr>
                  <a:t>result.stdout</a:t>
                </a: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effectLst/>
                  </a:rPr>
                  <a:t>).</a:t>
                </a:r>
                <a:endParaRPr kumimoji="0" lang="en-US" altLang="en-US" sz="15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sz="1500" b="1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Example:</a:t>
                </a: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 You can run </a:t>
                </a:r>
                <a:r>
                  <a:rPr lang="en-US" altLang="en-US" sz="1500" i="1" dirty="0">
                    <a:latin typeface="Cambria Math" panose="02040503050406030204" pitchFamily="18" charset="0"/>
                  </a:rPr>
                  <a:t>git status</a:t>
                </a: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effectLst/>
                  </a:rPr>
                  <a:t>, capture the output, and if the text contains the word "</a:t>
                </a:r>
                <a:r>
                  <a:rPr lang="en-US" altLang="en-US" sz="1500" i="1" dirty="0">
                    <a:latin typeface="Cambria Math" panose="02040503050406030204" pitchFamily="18" charset="0"/>
                  </a:rPr>
                  <a:t>modified</a:t>
                </a: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effectLst/>
                  </a:rPr>
                  <a:t>", your Python script can automatically trigger a backup.</a:t>
                </a:r>
                <a:endParaRPr kumimoji="0" lang="en-US" altLang="en-US" sz="15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E869C5C-FA49-BF1F-1EFE-DA3F673F4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077364" y="2427316"/>
                <a:ext cx="4140096" cy="3513514"/>
              </a:xfrm>
              <a:prstGeom prst="rect">
                <a:avLst/>
              </a:prstGeom>
              <a:blipFill>
                <a:blip r:embed="rId2"/>
                <a:stretch>
                  <a:fillRect l="-442" t="-173" r="-589" b="-1560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phic 7" descr="Web Design">
            <a:extLst>
              <a:ext uri="{FF2B5EF4-FFF2-40B4-BE49-F238E27FC236}">
                <a16:creationId xmlns:a16="http://schemas.microsoft.com/office/drawing/2014/main" id="{2ED6C2A0-15CD-ED98-92E4-90E57EF55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464" y="1034569"/>
            <a:ext cx="4788861" cy="478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2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F62ED779-A59B-448F-96E0-AAB38B548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717AF-E829-A62F-29BA-3932C3F2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3" y="4024310"/>
            <a:ext cx="3752388" cy="2021486"/>
          </a:xfrm>
        </p:spPr>
        <p:txBody>
          <a:bodyPr anchor="t">
            <a:normAutofit/>
          </a:bodyPr>
          <a:lstStyle/>
          <a:p>
            <a:r>
              <a:rPr lang="en-US" dirty="0"/>
              <a:t>System Exit Codes (How Programs Talk)</a:t>
            </a:r>
          </a:p>
        </p:txBody>
      </p:sp>
      <p:sp>
        <p:nvSpPr>
          <p:cNvPr id="4106" name="Rectangle 4105">
            <a:extLst>
              <a:ext uri="{FF2B5EF4-FFF2-40B4-BE49-F238E27FC236}">
                <a16:creationId xmlns:a16="http://schemas.microsoft.com/office/drawing/2014/main" id="{75E99A93-45AC-472C-ABAA-D764A0F31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99" y="-3511"/>
            <a:ext cx="3483870" cy="3428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8" name="Rectangle 34">
            <a:extLst>
              <a:ext uri="{FF2B5EF4-FFF2-40B4-BE49-F238E27FC236}">
                <a16:creationId xmlns:a16="http://schemas.microsoft.com/office/drawing/2014/main" id="{C8D493E8-1305-4BAC-9EDC-FFAEA453C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934" y="-26163"/>
            <a:ext cx="3429002" cy="3474296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0" name="Rectangle 4109">
            <a:extLst>
              <a:ext uri="{FF2B5EF4-FFF2-40B4-BE49-F238E27FC236}">
                <a16:creationId xmlns:a16="http://schemas.microsoft.com/office/drawing/2014/main" id="{212F2F31-7C30-456B-ABFE-D99A49E5B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771" y="-3511"/>
            <a:ext cx="8712229" cy="3428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2" name="Rectangle 34">
            <a:extLst>
              <a:ext uri="{FF2B5EF4-FFF2-40B4-BE49-F238E27FC236}">
                <a16:creationId xmlns:a16="http://schemas.microsoft.com/office/drawing/2014/main" id="{5DA0B273-F203-43D6-8FE3-047452C8C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02419" y="-26161"/>
            <a:ext cx="3429002" cy="3474296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4" name="Oval 4113">
            <a:extLst>
              <a:ext uri="{FF2B5EF4-FFF2-40B4-BE49-F238E27FC236}">
                <a16:creationId xmlns:a16="http://schemas.microsoft.com/office/drawing/2014/main" id="{90F751B8-7AC7-4D63-9776-1CADA60BE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4500" y="178410"/>
            <a:ext cx="3070455" cy="30704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E76953-E810-E5B2-C78A-70A4E2B8D3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19753" y="4023858"/>
            <a:ext cx="5694883" cy="20219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Hidden Language: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When a program finishes, it sends a hidden number back to the Operating System. This is called the Exit Code (or Return Code).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Universal Rule: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0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</a:rPr>
              <a:t> = Absolute Success.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1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</a:rPr>
              <a:t> (or any non-zero number) = Error/Failure.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Why it matters: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If your Python script triggers a 5-hour video rendering process in </a:t>
            </a:r>
            <a:r>
              <a:rPr kumimoji="0" lang="en-US" altLang="en-US" sz="11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FFmpeg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it needs to know if it actually worked. By checking the Exit Code, your script knows whether to proceed to the next step or send an emergency error log.</a:t>
            </a:r>
          </a:p>
        </p:txBody>
      </p:sp>
      <p:pic>
        <p:nvPicPr>
          <p:cNvPr id="4101" name="Picture 5" descr="Effective Techniques to End Python Programs">
            <a:extLst>
              <a:ext uri="{FF2B5EF4-FFF2-40B4-BE49-F238E27FC236}">
                <a16:creationId xmlns:a16="http://schemas.microsoft.com/office/drawing/2014/main" id="{5D00F98D-F6F1-9FA9-28FA-8AC07B912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562" y="812202"/>
            <a:ext cx="5777810" cy="2091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220818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464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Unicode MS</vt:lpstr>
      <vt:lpstr>Avenir Next LT Pro</vt:lpstr>
      <vt:lpstr>Avenir Next LT Pro Light</vt:lpstr>
      <vt:lpstr>Cambria Math</vt:lpstr>
      <vt:lpstr>BlocksVTI</vt:lpstr>
      <vt:lpstr>Welcome &amp; Module Induction</vt:lpstr>
      <vt:lpstr>The subprocess Module</vt:lpstr>
      <vt:lpstr>Running Shell Commands &amp; Capturing Output</vt:lpstr>
      <vt:lpstr>System Exit Codes (How Programs Talk)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2</cp:revision>
  <dcterms:created xsi:type="dcterms:W3CDTF">2026-04-22T07:31:51Z</dcterms:created>
  <dcterms:modified xsi:type="dcterms:W3CDTF">2026-04-22T07:39:02Z</dcterms:modified>
</cp:coreProperties>
</file>