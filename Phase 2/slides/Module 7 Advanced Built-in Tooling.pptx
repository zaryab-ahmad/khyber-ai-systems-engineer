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6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4E5E-9F3C-A28A-77C4-D4B78ECDF7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D904E5-2C5D-7EB9-919A-70BDDF167E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1F92B2-2C49-C564-6063-436EEECA01EE}"/>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5" name="Footer Placeholder 4">
            <a:extLst>
              <a:ext uri="{FF2B5EF4-FFF2-40B4-BE49-F238E27FC236}">
                <a16:creationId xmlns:a16="http://schemas.microsoft.com/office/drawing/2014/main" id="{825EE69A-0F87-1F16-2C16-0AE4693C3C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ACB6E-5BA4-DE54-44E9-CA5BBEFB2B93}"/>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664664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63D83-2DC0-2F2A-EC1A-9F7E69C54E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545658-4FF6-6784-7228-1DE4E576DD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2D24A-F0FE-9621-F606-9C82134530C1}"/>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5" name="Footer Placeholder 4">
            <a:extLst>
              <a:ext uri="{FF2B5EF4-FFF2-40B4-BE49-F238E27FC236}">
                <a16:creationId xmlns:a16="http://schemas.microsoft.com/office/drawing/2014/main" id="{8739FC14-878D-FAF6-A391-051AC9585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676DA4-C23A-89A3-162F-C00E0DD6471A}"/>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2478718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BB4C-8F48-1A73-7759-FBE0DF8C9D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2FBDD4-DF18-5D23-D042-CF4275430E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844936-550F-470C-DA7B-168D2BB8A163}"/>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5" name="Footer Placeholder 4">
            <a:extLst>
              <a:ext uri="{FF2B5EF4-FFF2-40B4-BE49-F238E27FC236}">
                <a16:creationId xmlns:a16="http://schemas.microsoft.com/office/drawing/2014/main" id="{336A2619-6D6C-09EA-C3D6-69DD20FA03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0A014-E7DD-5531-1D59-815358038E63}"/>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19919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3413-D75F-2D04-2382-2F164AFD4C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9C5D7C-67A2-1404-6530-F02016A623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F62D4C-6B25-2225-E92D-5A0CD9A38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E9F2A5-C3B5-356F-1DA1-7EC1BCADF351}"/>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6" name="Footer Placeholder 5">
            <a:extLst>
              <a:ext uri="{FF2B5EF4-FFF2-40B4-BE49-F238E27FC236}">
                <a16:creationId xmlns:a16="http://schemas.microsoft.com/office/drawing/2014/main" id="{DC1DD622-48AC-F0F2-D552-2BADEAC796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5F75A6-84F7-1399-5BFE-4715A4274D54}"/>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1781117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2BF65-2ACE-A3C8-B24E-8BD8360CA1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114FE9-3226-573F-D2CA-AD7457B391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B90DEF-EF9A-9D22-99F1-D32C2E0412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96F465-912E-6477-7FBE-8B0AA3D806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E1A50E-284F-532C-7A4B-B438780119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939D18-A430-8DA2-C270-F47139943BEA}"/>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8" name="Footer Placeholder 7">
            <a:extLst>
              <a:ext uri="{FF2B5EF4-FFF2-40B4-BE49-F238E27FC236}">
                <a16:creationId xmlns:a16="http://schemas.microsoft.com/office/drawing/2014/main" id="{EA5DC675-DC13-BF61-4210-2C71590764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821DF7-CE46-8E1D-CD4B-D2EED7DA512F}"/>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108574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7390-FCA9-69C5-772D-44B55484FC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6AE435-53E6-1749-19C1-F3EF02ED2C3D}"/>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4" name="Footer Placeholder 3">
            <a:extLst>
              <a:ext uri="{FF2B5EF4-FFF2-40B4-BE49-F238E27FC236}">
                <a16:creationId xmlns:a16="http://schemas.microsoft.com/office/drawing/2014/main" id="{89B8B4C6-2814-C2F9-30FE-5D72CB4D5A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8F7559-AF6C-1811-B510-D51C8A0F5EE9}"/>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2896863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0C51BD-C162-B9B5-CB27-519F93A7F15E}"/>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3" name="Footer Placeholder 2">
            <a:extLst>
              <a:ext uri="{FF2B5EF4-FFF2-40B4-BE49-F238E27FC236}">
                <a16:creationId xmlns:a16="http://schemas.microsoft.com/office/drawing/2014/main" id="{57F10462-5E4A-6F1E-1C1C-EC7FF07BC6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09DA32-A823-E574-ABF1-BCCEA73E31E4}"/>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3494016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1061-F98A-1A52-EA25-37E2CCE6F4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7DC0B6-8D7D-C7AB-C4ED-A4A3BB77FE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E925DC-E9E0-632C-607D-6AFEFDC4E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021E90-84C6-F04D-D0AE-693ABB2ACB73}"/>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6" name="Footer Placeholder 5">
            <a:extLst>
              <a:ext uri="{FF2B5EF4-FFF2-40B4-BE49-F238E27FC236}">
                <a16:creationId xmlns:a16="http://schemas.microsoft.com/office/drawing/2014/main" id="{F530FCBA-7C7E-F968-03D2-93C1AD0C1F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9A3DBA-9CBA-B408-64C8-814D73137E0E}"/>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1097634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894C-CA76-ACEC-0188-D3085D900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4712A-ECD3-DC75-A5E1-26C62CE92B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22EE6-7D79-25CB-6502-38BC01E2C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2F7F57-C236-5B3C-4828-DDB97745E827}"/>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6" name="Footer Placeholder 5">
            <a:extLst>
              <a:ext uri="{FF2B5EF4-FFF2-40B4-BE49-F238E27FC236}">
                <a16:creationId xmlns:a16="http://schemas.microsoft.com/office/drawing/2014/main" id="{5C8F597F-A1AF-BC05-460A-E3EC5B8D96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01C5A-54C1-E459-5516-C3327F29315E}"/>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2189150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2D33-D8E5-A157-E233-89BEC3345F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7C12C6-63A0-9F41-7B56-F1968F2C38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85241-B198-8437-8546-175EC5730C3D}"/>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5" name="Footer Placeholder 4">
            <a:extLst>
              <a:ext uri="{FF2B5EF4-FFF2-40B4-BE49-F238E27FC236}">
                <a16:creationId xmlns:a16="http://schemas.microsoft.com/office/drawing/2014/main" id="{E536D2C3-2520-8097-837F-86E1ED44F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21A070-0C6A-4FCA-6352-B3DCE18B6520}"/>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2273369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1D63AF-3318-FA12-9F75-CBE7FA502C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310D19-B534-F1C9-FD19-8F36E0949C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F0B385-EC94-C1C2-9903-765FBC734054}"/>
              </a:ext>
            </a:extLst>
          </p:cNvPr>
          <p:cNvSpPr>
            <a:spLocks noGrp="1"/>
          </p:cNvSpPr>
          <p:nvPr>
            <p:ph type="dt" sz="half" idx="10"/>
          </p:nvPr>
        </p:nvSpPr>
        <p:spPr/>
        <p:txBody>
          <a:bodyPr/>
          <a:lstStyle/>
          <a:p>
            <a:fld id="{E1C65D7F-E4AC-48A2-A7B8-A5DED12F6E2E}" type="datetimeFigureOut">
              <a:rPr lang="en-US" smtClean="0"/>
              <a:t>4/22/2026</a:t>
            </a:fld>
            <a:endParaRPr lang="en-US"/>
          </a:p>
        </p:txBody>
      </p:sp>
      <p:sp>
        <p:nvSpPr>
          <p:cNvPr id="5" name="Footer Placeholder 4">
            <a:extLst>
              <a:ext uri="{FF2B5EF4-FFF2-40B4-BE49-F238E27FC236}">
                <a16:creationId xmlns:a16="http://schemas.microsoft.com/office/drawing/2014/main" id="{6E25F000-6CF6-9093-6141-BD9E3EE3F3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2172B-2EE6-0302-00E8-51E2B010DA6E}"/>
              </a:ext>
            </a:extLst>
          </p:cNvPr>
          <p:cNvSpPr>
            <a:spLocks noGrp="1"/>
          </p:cNvSpPr>
          <p:nvPr>
            <p:ph type="sldNum" sz="quarter" idx="12"/>
          </p:nvPr>
        </p:nvSpPr>
        <p:spPr/>
        <p:txBody>
          <a:bodyPr/>
          <a:lstStyle/>
          <a:p>
            <a:fld id="{774D3EF6-D092-4E21-B97F-99AF0956FFF1}" type="slidenum">
              <a:rPr lang="en-US" smtClean="0"/>
              <a:t>‹#›</a:t>
            </a:fld>
            <a:endParaRPr lang="en-US"/>
          </a:p>
        </p:txBody>
      </p:sp>
    </p:spTree>
    <p:extLst>
      <p:ext uri="{BB962C8B-B14F-4D97-AF65-F5344CB8AC3E}">
        <p14:creationId xmlns:p14="http://schemas.microsoft.com/office/powerpoint/2010/main" val="3387865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B04180-E4A7-6008-4882-D2DED3C48D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F1201F-95E8-D093-6A7C-9CE59CD460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9DEE2-3C37-CE1C-D7C3-AD4139987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C65D7F-E4AC-48A2-A7B8-A5DED12F6E2E}" type="datetimeFigureOut">
              <a:rPr lang="en-US" smtClean="0"/>
              <a:t>4/22/2026</a:t>
            </a:fld>
            <a:endParaRPr lang="en-US"/>
          </a:p>
        </p:txBody>
      </p:sp>
      <p:sp>
        <p:nvSpPr>
          <p:cNvPr id="5" name="Footer Placeholder 4">
            <a:extLst>
              <a:ext uri="{FF2B5EF4-FFF2-40B4-BE49-F238E27FC236}">
                <a16:creationId xmlns:a16="http://schemas.microsoft.com/office/drawing/2014/main" id="{93D148B8-F562-4F2F-0E7F-4FB0DA89BA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923B36-9546-3B5C-BA81-CA607811DA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4D3EF6-D092-4E21-B97F-99AF0956FFF1}" type="slidenum">
              <a:rPr lang="en-US" smtClean="0"/>
              <a:t>‹#›</a:t>
            </a:fld>
            <a:endParaRPr lang="en-US"/>
          </a:p>
        </p:txBody>
      </p:sp>
    </p:spTree>
    <p:extLst>
      <p:ext uri="{BB962C8B-B14F-4D97-AF65-F5344CB8AC3E}">
        <p14:creationId xmlns:p14="http://schemas.microsoft.com/office/powerpoint/2010/main" val="4190670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E907E7-0A00-16A4-E5DA-66FF70AF6781}"/>
              </a:ext>
            </a:extLst>
          </p:cNvPr>
          <p:cNvSpPr>
            <a:spLocks noGrp="1"/>
          </p:cNvSpPr>
          <p:nvPr>
            <p:ph type="ctrTitle"/>
          </p:nvPr>
        </p:nvSpPr>
        <p:spPr>
          <a:xfrm>
            <a:off x="1155559" y="637762"/>
            <a:ext cx="2899568" cy="5576770"/>
          </a:xfrm>
        </p:spPr>
        <p:txBody>
          <a:bodyPr anchor="ctr">
            <a:normAutofit/>
          </a:bodyPr>
          <a:lstStyle/>
          <a:p>
            <a:pPr algn="l"/>
            <a:r>
              <a:rPr lang="en-US" sz="4800">
                <a:solidFill>
                  <a:schemeClr val="bg1"/>
                </a:solidFill>
              </a:rPr>
              <a:t>Welcome &amp; Module Induction</a:t>
            </a:r>
          </a:p>
        </p:txBody>
      </p:sp>
      <p:sp>
        <p:nvSpPr>
          <p:cNvPr id="11" name="Rectangle 1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7847F0B8-E5F3-5132-EBA0-84BF4C12A913}"/>
              </a:ext>
            </a:extLst>
          </p:cNvPr>
          <p:cNvSpPr>
            <a:spLocks noGrp="1" noChangeArrowheads="1"/>
          </p:cNvSpPr>
          <p:nvPr>
            <p:ph type="subTitle" idx="1"/>
          </p:nvPr>
        </p:nvSpPr>
        <p:spPr bwMode="auto">
          <a:xfrm>
            <a:off x="5444775" y="637762"/>
            <a:ext cx="5600580" cy="557677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285750" marR="0" lvl="0" indent="-285750" algn="l"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effectLst/>
                <a:latin typeface="Arial" panose="020B0604020202020204" pitchFamily="34" charset="0"/>
              </a:rPr>
              <a:t>What we learned previously:</a:t>
            </a:r>
            <a:r>
              <a:rPr kumimoji="0" lang="en-US" altLang="en-US" sz="1800" b="0" i="0" u="none" strike="noStrike" cap="none" normalizeH="0" baseline="0" dirty="0">
                <a:ln>
                  <a:noFill/>
                </a:ln>
                <a:effectLst/>
                <a:latin typeface="Arial" panose="020B0604020202020204" pitchFamily="34" charset="0"/>
              </a:rPr>
              <a:t> In Module 6, we learned how to "remote control" other applications and systems using the </a:t>
            </a:r>
            <a:r>
              <a:rPr kumimoji="0" lang="en-US" altLang="en-US" sz="1800" b="0" i="0" u="none" strike="noStrike" cap="none" normalizeH="0" baseline="0" dirty="0">
                <a:ln>
                  <a:noFill/>
                </a:ln>
                <a:effectLst/>
                <a:latin typeface="Arial Unicode MS"/>
              </a:rPr>
              <a:t>subprocess</a:t>
            </a:r>
            <a:r>
              <a:rPr kumimoji="0" lang="en-US" altLang="en-US" sz="1800" b="0" i="0" u="none" strike="noStrike" cap="none" normalizeH="0" baseline="0" dirty="0">
                <a:ln>
                  <a:noFill/>
                </a:ln>
                <a:effectLst/>
              </a:rPr>
              <a:t> module and handle system exit codes to build robust automation pipelines.</a:t>
            </a:r>
            <a:endParaRPr kumimoji="0" lang="en-US" altLang="en-US" sz="1800" b="0" i="0" u="none" strike="noStrike" cap="none" normalizeH="0" baseline="0" dirty="0">
              <a:ln>
                <a:noFill/>
              </a:ln>
              <a:effectLst/>
              <a:latin typeface="Arial" panose="020B0604020202020204" pitchFamily="34" charset="0"/>
            </a:endParaRPr>
          </a:p>
          <a:p>
            <a:pPr marL="285750" marR="0" lvl="0" indent="-285750" algn="l"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effectLst/>
                <a:latin typeface="Arial" panose="020B0604020202020204" pitchFamily="34" charset="0"/>
              </a:rPr>
              <a:t>What we are learning today:</a:t>
            </a:r>
            <a:r>
              <a:rPr kumimoji="0" lang="en-US" altLang="en-US" sz="1800" b="0" i="0" u="none" strike="noStrike" cap="none" normalizeH="0" baseline="0" dirty="0">
                <a:ln>
                  <a:noFill/>
                </a:ln>
                <a:effectLst/>
                <a:latin typeface="Arial" panose="020B0604020202020204" pitchFamily="34" charset="0"/>
              </a:rPr>
              <a:t> We are diving into the "Power Tools" of the Python Standard Library. We will master the </a:t>
            </a:r>
            <a:r>
              <a:rPr kumimoji="0" lang="en-US" altLang="en-US" sz="1800" b="0" i="0" u="none" strike="noStrike" cap="none" normalizeH="0" baseline="0" dirty="0">
                <a:ln>
                  <a:noFill/>
                </a:ln>
                <a:effectLst/>
                <a:latin typeface="Arial Unicode MS"/>
              </a:rPr>
              <a:t>collections</a:t>
            </a:r>
            <a:r>
              <a:rPr kumimoji="0" lang="en-US" altLang="en-US" sz="1800" b="0" i="0" u="none" strike="noStrike" cap="none" normalizeH="0" baseline="0" dirty="0">
                <a:ln>
                  <a:noFill/>
                </a:ln>
                <a:effectLst/>
              </a:rPr>
              <a:t> module for faster data structures, </a:t>
            </a:r>
            <a:r>
              <a:rPr kumimoji="0" lang="en-US" altLang="en-US" sz="1800" b="0" i="0" u="none" strike="noStrike" cap="none" normalizeH="0" baseline="0" dirty="0" err="1">
                <a:ln>
                  <a:noFill/>
                </a:ln>
                <a:effectLst/>
                <a:latin typeface="Arial Unicode MS"/>
              </a:rPr>
              <a:t>itertools</a:t>
            </a:r>
            <a:r>
              <a:rPr kumimoji="0" lang="en-US" altLang="en-US" sz="1800" b="0" i="0" u="none" strike="noStrike" cap="none" normalizeH="0" baseline="0" dirty="0">
                <a:ln>
                  <a:noFill/>
                </a:ln>
                <a:effectLst/>
              </a:rPr>
              <a:t> for memory-efficient looping, and Regular Expressions (</a:t>
            </a:r>
            <a:r>
              <a:rPr kumimoji="0" lang="en-US" altLang="en-US" sz="1800" b="0" i="0" u="none" strike="noStrike" cap="none" normalizeH="0" baseline="0" dirty="0">
                <a:ln>
                  <a:noFill/>
                </a:ln>
                <a:effectLst/>
                <a:latin typeface="Arial Unicode MS"/>
              </a:rPr>
              <a:t>re</a:t>
            </a:r>
            <a:r>
              <a:rPr kumimoji="0" lang="en-US" altLang="en-US" sz="1800" b="0" i="0" u="none" strike="noStrike" cap="none" normalizeH="0" baseline="0" dirty="0">
                <a:ln>
                  <a:noFill/>
                </a:ln>
                <a:effectLst/>
              </a:rPr>
              <a:t>) for advanced text pattern searching.</a:t>
            </a:r>
            <a:endParaRPr kumimoji="0" lang="en-US" altLang="en-US" sz="1800" b="0" i="0" u="none" strike="noStrike" cap="none" normalizeH="0" baseline="0" dirty="0">
              <a:ln>
                <a:noFill/>
              </a:ln>
              <a:effectLst/>
              <a:latin typeface="Arial" panose="020B0604020202020204" pitchFamily="34" charset="0"/>
            </a:endParaRPr>
          </a:p>
          <a:p>
            <a:pPr marL="285750" marR="0" lvl="0" indent="-285750" algn="l"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effectLst/>
                <a:latin typeface="Arial" panose="020B0604020202020204" pitchFamily="34" charset="0"/>
              </a:rPr>
              <a:t>Why this will be helpful:</a:t>
            </a:r>
            <a:r>
              <a:rPr kumimoji="0" lang="en-US" altLang="en-US" sz="1800" b="0" i="0" u="none" strike="noStrike" cap="none" normalizeH="0" baseline="0" dirty="0">
                <a:ln>
                  <a:noFill/>
                </a:ln>
                <a:effectLst/>
                <a:latin typeface="Arial" panose="020B0604020202020204" pitchFamily="34" charset="0"/>
              </a:rPr>
              <a:t> In AI research and high-speed backend engineering, standard lists and basic loops are often too slow or consume too much RAM. When you are processing 1,000,000 log entries or generating every possible combination of hyperparameters for a YOLO model, these advanced tools will keep your system from crashing and make your code run 10x faster.</a:t>
            </a:r>
          </a:p>
        </p:txBody>
      </p:sp>
    </p:spTree>
    <p:extLst>
      <p:ext uri="{BB962C8B-B14F-4D97-AF65-F5344CB8AC3E}">
        <p14:creationId xmlns:p14="http://schemas.microsoft.com/office/powerpoint/2010/main" val="4175772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6" name="Rectangle 2055">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EEE76-2C14-2040-D10D-EE86A7B5EF6C}"/>
              </a:ext>
            </a:extLst>
          </p:cNvPr>
          <p:cNvSpPr>
            <a:spLocks noGrp="1"/>
          </p:cNvSpPr>
          <p:nvPr>
            <p:ph type="title"/>
          </p:nvPr>
        </p:nvSpPr>
        <p:spPr>
          <a:xfrm>
            <a:off x="1156851" y="637763"/>
            <a:ext cx="2910051" cy="5576768"/>
          </a:xfrm>
        </p:spPr>
        <p:txBody>
          <a:bodyPr anchor="t">
            <a:normAutofit/>
          </a:bodyPr>
          <a:lstStyle/>
          <a:p>
            <a:r>
              <a:rPr lang="en-US" b="1" dirty="0">
                <a:solidFill>
                  <a:schemeClr val="bg1"/>
                </a:solidFill>
              </a:rPr>
              <a:t>The collections Module (Beyond Standard Lists)</a:t>
            </a:r>
            <a:br>
              <a:rPr lang="en-US" dirty="0">
                <a:solidFill>
                  <a:schemeClr val="bg1"/>
                </a:solidFill>
              </a:rPr>
            </a:br>
            <a:endParaRPr lang="en-US" dirty="0">
              <a:solidFill>
                <a:schemeClr val="bg1"/>
              </a:solidFill>
            </a:endParaRPr>
          </a:p>
        </p:txBody>
      </p:sp>
      <p:sp>
        <p:nvSpPr>
          <p:cNvPr id="2058" name="Rectangle 2057">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2118" y="0"/>
            <a:ext cx="752987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descr="Python Collections Module: A Complete Guide with Examples">
            <a:extLst>
              <a:ext uri="{FF2B5EF4-FFF2-40B4-BE49-F238E27FC236}">
                <a16:creationId xmlns:a16="http://schemas.microsoft.com/office/drawing/2014/main" id="{9FE3284D-131C-5C4F-0546-10C412951A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74567" y="637762"/>
            <a:ext cx="4923635" cy="2927110"/>
          </a:xfrm>
          <a:prstGeom prst="rect">
            <a:avLst/>
          </a:prstGeom>
          <a:noFill/>
          <a:extLst>
            <a:ext uri="{909E8E84-426E-40DD-AFC4-6F175D3DCCD1}">
              <a14:hiddenFill xmlns:a14="http://schemas.microsoft.com/office/drawing/2010/main">
                <a:solidFill>
                  <a:srgbClr val="FFFFFF"/>
                </a:solidFill>
              </a14:hiddenFill>
            </a:ext>
          </a:extLst>
        </p:spPr>
      </p:pic>
      <p:sp>
        <p:nvSpPr>
          <p:cNvPr id="2060" name="Rectangle 205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6" y="4006121"/>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C4CB5051-A690-A206-3B86-09180FAC9843}"/>
              </a:ext>
            </a:extLst>
          </p:cNvPr>
          <p:cNvSpPr>
            <a:spLocks noGrp="1" noChangeArrowheads="1"/>
          </p:cNvSpPr>
          <p:nvPr>
            <p:ph idx="1"/>
          </p:nvPr>
        </p:nvSpPr>
        <p:spPr bwMode="auto">
          <a:xfrm>
            <a:off x="5439965" y="4212709"/>
            <a:ext cx="5605390" cy="20018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1700" b="1" i="0" u="none" strike="noStrike" cap="none" normalizeH="0" baseline="0">
                <a:ln>
                  <a:noFill/>
                </a:ln>
                <a:effectLst/>
                <a:latin typeface="Arial" panose="020B0604020202020204" pitchFamily="34" charset="0"/>
              </a:rPr>
              <a:t>Namedtuple:</a:t>
            </a:r>
            <a:r>
              <a:rPr kumimoji="0" lang="en-US" altLang="en-US" sz="1700" b="0" i="0" u="none" strike="noStrike" cap="none" normalizeH="0" baseline="0">
                <a:ln>
                  <a:noFill/>
                </a:ln>
                <a:effectLst/>
                <a:latin typeface="Arial" panose="020B0604020202020204" pitchFamily="34" charset="0"/>
              </a:rPr>
              <a:t> Replaces simple tuples with readable objects. Instead of </a:t>
            </a:r>
            <a:r>
              <a:rPr kumimoji="0" lang="en-US" altLang="en-US" sz="1700" b="0" i="0" u="none" strike="noStrike" cap="none" normalizeH="0" baseline="0">
                <a:ln>
                  <a:noFill/>
                </a:ln>
                <a:effectLst/>
                <a:latin typeface="Arial Unicode MS"/>
              </a:rPr>
              <a:t>pixel[0]</a:t>
            </a:r>
            <a:r>
              <a:rPr kumimoji="0" lang="en-US" altLang="en-US" sz="1700" b="0" i="0" u="none" strike="noStrike" cap="none" normalizeH="0" baseline="0">
                <a:ln>
                  <a:noFill/>
                </a:ln>
                <a:effectLst/>
              </a:rPr>
              <a:t>, you use </a:t>
            </a:r>
            <a:r>
              <a:rPr kumimoji="0" lang="en-US" altLang="en-US" sz="1700" b="0" i="0" u="none" strike="noStrike" cap="none" normalizeH="0" baseline="0">
                <a:ln>
                  <a:noFill/>
                </a:ln>
                <a:effectLst/>
                <a:latin typeface="Arial Unicode MS"/>
              </a:rPr>
              <a:t>pixel.red</a:t>
            </a:r>
            <a:r>
              <a:rPr kumimoji="0" lang="en-US" altLang="en-US" sz="1700" b="0" i="0" u="none" strike="noStrike" cap="none" normalizeH="0" baseline="0">
                <a:ln>
                  <a:noFill/>
                </a:ln>
                <a:effectLst/>
              </a:rPr>
              <a:t>.</a:t>
            </a:r>
            <a:endParaRPr kumimoji="0" lang="en-US" altLang="en-US" sz="1700" b="0" i="0" u="none" strike="noStrike" cap="none" normalizeH="0" baseline="0">
              <a:ln>
                <a:noFill/>
              </a:ln>
              <a:effectLst/>
              <a:latin typeface="Arial" panose="020B0604020202020204" pitchFamily="34" charset="0"/>
            </a:endParaRPr>
          </a:p>
          <a:p>
            <a:pPr eaLnBrk="0" fontAlgn="base" hangingPunct="0">
              <a:spcBef>
                <a:spcPct val="0"/>
              </a:spcBef>
              <a:spcAft>
                <a:spcPts val="600"/>
              </a:spcAft>
            </a:pPr>
            <a:r>
              <a:rPr kumimoji="0" lang="en-US" altLang="en-US" sz="1700" b="1" i="0" u="none" strike="noStrike" cap="none" normalizeH="0" baseline="0">
                <a:ln>
                  <a:noFill/>
                </a:ln>
                <a:effectLst/>
                <a:latin typeface="Arial" panose="020B0604020202020204" pitchFamily="34" charset="0"/>
              </a:rPr>
              <a:t>Deque (Double-Ended Queue):</a:t>
            </a:r>
            <a:r>
              <a:rPr kumimoji="0" lang="en-US" altLang="en-US" sz="1700" b="0" i="0" u="none" strike="noStrike" cap="none" normalizeH="0" baseline="0">
                <a:ln>
                  <a:noFill/>
                </a:ln>
                <a:effectLst/>
                <a:latin typeface="Arial" panose="020B0604020202020204" pitchFamily="34" charset="0"/>
              </a:rPr>
              <a:t> A list optimized for fast adding/removing from both ends. Perfect for "sliding window" algorithms in video processing.</a:t>
            </a:r>
          </a:p>
          <a:p>
            <a:pPr eaLnBrk="0" fontAlgn="base" hangingPunct="0">
              <a:spcBef>
                <a:spcPct val="0"/>
              </a:spcBef>
              <a:spcAft>
                <a:spcPts val="600"/>
              </a:spcAft>
            </a:pPr>
            <a:r>
              <a:rPr kumimoji="0" lang="en-US" altLang="en-US" sz="1700" b="1" i="0" u="none" strike="noStrike" cap="none" normalizeH="0" baseline="0">
                <a:ln>
                  <a:noFill/>
                </a:ln>
                <a:effectLst/>
                <a:latin typeface="Arial" panose="020B0604020202020204" pitchFamily="34" charset="0"/>
              </a:rPr>
              <a:t>Counter:</a:t>
            </a:r>
            <a:r>
              <a:rPr kumimoji="0" lang="en-US" altLang="en-US" sz="1700" b="0" i="0" u="none" strike="noStrike" cap="none" normalizeH="0" baseline="0">
                <a:ln>
                  <a:noFill/>
                </a:ln>
                <a:effectLst/>
                <a:latin typeface="Arial" panose="020B0604020202020204" pitchFamily="34" charset="0"/>
              </a:rPr>
              <a:t> A specialized dictionary that counts occurrences instantly.</a:t>
            </a:r>
          </a:p>
        </p:txBody>
      </p:sp>
    </p:spTree>
    <p:extLst>
      <p:ext uri="{BB962C8B-B14F-4D97-AF65-F5344CB8AC3E}">
        <p14:creationId xmlns:p14="http://schemas.microsoft.com/office/powerpoint/2010/main" val="2606394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0" name="Rectangle 3089">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D83DCD-74AC-2468-6AE2-11DEEF09D80E}"/>
              </a:ext>
            </a:extLst>
          </p:cNvPr>
          <p:cNvSpPr>
            <a:spLocks noGrp="1"/>
          </p:cNvSpPr>
          <p:nvPr>
            <p:ph type="title"/>
          </p:nvPr>
        </p:nvSpPr>
        <p:spPr>
          <a:xfrm>
            <a:off x="1156851" y="637763"/>
            <a:ext cx="2910051" cy="5576768"/>
          </a:xfrm>
        </p:spPr>
        <p:txBody>
          <a:bodyPr anchor="t">
            <a:normAutofit/>
          </a:bodyPr>
          <a:lstStyle/>
          <a:p>
            <a:r>
              <a:rPr lang="en-US" sz="4800">
                <a:solidFill>
                  <a:schemeClr val="bg1"/>
                </a:solidFill>
              </a:rPr>
              <a:t>itertools for Efficiency</a:t>
            </a:r>
          </a:p>
        </p:txBody>
      </p:sp>
      <p:sp>
        <p:nvSpPr>
          <p:cNvPr id="3091" name="Rectangle 309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2118" y="0"/>
            <a:ext cx="752987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5" name="Picture 3" descr="Loss of Words • A Nested Journey (# 1 in The `itertools` Series •  `product()`)">
            <a:extLst>
              <a:ext uri="{FF2B5EF4-FFF2-40B4-BE49-F238E27FC236}">
                <a16:creationId xmlns:a16="http://schemas.microsoft.com/office/drawing/2014/main" id="{6BA083B7-B39C-B816-87CF-4BB0B429D1B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45154" y="637762"/>
            <a:ext cx="3982462" cy="2927110"/>
          </a:xfrm>
          <a:prstGeom prst="rect">
            <a:avLst/>
          </a:prstGeom>
          <a:noFill/>
          <a:extLst>
            <a:ext uri="{909E8E84-426E-40DD-AFC4-6F175D3DCCD1}">
              <a14:hiddenFill xmlns:a14="http://schemas.microsoft.com/office/drawing/2010/main">
                <a:solidFill>
                  <a:srgbClr val="FFFFFF"/>
                </a:solidFill>
              </a14:hiddenFill>
            </a:ext>
          </a:extLst>
        </p:spPr>
      </p:pic>
      <p:sp>
        <p:nvSpPr>
          <p:cNvPr id="3092" name="Rectangle 309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6" y="4006121"/>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F6AF0B11-598C-832D-34DB-FF614E2D410A}"/>
              </a:ext>
            </a:extLst>
          </p:cNvPr>
          <p:cNvSpPr>
            <a:spLocks noGrp="1" noChangeArrowheads="1"/>
          </p:cNvSpPr>
          <p:nvPr>
            <p:ph idx="1"/>
          </p:nvPr>
        </p:nvSpPr>
        <p:spPr bwMode="auto">
          <a:xfrm>
            <a:off x="5439965" y="4212709"/>
            <a:ext cx="5605390" cy="20018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1500" b="1" i="0" u="none" strike="noStrike" cap="none" normalizeH="0" baseline="0" dirty="0">
                <a:ln>
                  <a:noFill/>
                </a:ln>
                <a:effectLst/>
                <a:latin typeface="Arial" panose="020B0604020202020204" pitchFamily="34" charset="0"/>
              </a:rPr>
              <a:t>The RAM Problem:</a:t>
            </a:r>
            <a:r>
              <a:rPr kumimoji="0" lang="en-US" altLang="en-US" sz="1500" b="0" i="0" u="none" strike="noStrike" cap="none" normalizeH="0" baseline="0" dirty="0">
                <a:ln>
                  <a:noFill/>
                </a:ln>
                <a:effectLst/>
                <a:latin typeface="Arial" panose="020B0604020202020204" pitchFamily="34" charset="0"/>
              </a:rPr>
              <a:t> Creating a list of 1,000,000 combinations of data will crash most computers.</a:t>
            </a:r>
          </a:p>
          <a:p>
            <a:pPr eaLnBrk="0" fontAlgn="base" hangingPunct="0">
              <a:spcBef>
                <a:spcPct val="0"/>
              </a:spcBef>
              <a:spcAft>
                <a:spcPts val="600"/>
              </a:spcAft>
            </a:pPr>
            <a:r>
              <a:rPr kumimoji="0" lang="en-US" altLang="en-US" sz="1500" b="1" i="0" u="none" strike="noStrike" cap="none" normalizeH="0" baseline="0" dirty="0">
                <a:ln>
                  <a:noFill/>
                </a:ln>
                <a:effectLst/>
                <a:latin typeface="Arial" panose="020B0604020202020204" pitchFamily="34" charset="0"/>
              </a:rPr>
              <a:t>The Iterator Solution:</a:t>
            </a:r>
            <a:r>
              <a:rPr kumimoji="0" lang="en-US" altLang="en-US" sz="1500" b="0" i="0" u="none" strike="noStrike" cap="none" normalizeH="0" baseline="0" dirty="0">
                <a:ln>
                  <a:noFill/>
                </a:ln>
                <a:effectLst/>
                <a:latin typeface="Arial" panose="020B0604020202020204" pitchFamily="34" charset="0"/>
              </a:rPr>
              <a:t> </a:t>
            </a:r>
            <a:r>
              <a:rPr kumimoji="0" lang="en-US" altLang="en-US" sz="1500" b="0" i="0" u="none" strike="noStrike" cap="none" normalizeH="0" baseline="0" dirty="0" err="1">
                <a:ln>
                  <a:noFill/>
                </a:ln>
                <a:effectLst/>
                <a:latin typeface="Arial Unicode MS"/>
              </a:rPr>
              <a:t>itertools</a:t>
            </a:r>
            <a:r>
              <a:rPr kumimoji="0" lang="en-US" altLang="en-US" sz="1500" b="0" i="0" u="none" strike="noStrike" cap="none" normalizeH="0" baseline="0" dirty="0">
                <a:ln>
                  <a:noFill/>
                </a:ln>
                <a:effectLst/>
              </a:rPr>
              <a:t> creates "iterators"—it calculates the next item only when you need it, rather than storing the whole list in memory.</a:t>
            </a:r>
            <a:endParaRPr kumimoji="0" lang="en-US" altLang="en-US" sz="15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US" altLang="en-US" sz="1500" b="1" i="0" u="none" strike="noStrike" cap="none" normalizeH="0" baseline="0" dirty="0">
                <a:ln>
                  <a:noFill/>
                </a:ln>
                <a:effectLst/>
                <a:latin typeface="Arial" panose="020B0604020202020204" pitchFamily="34" charset="0"/>
              </a:rPr>
              <a:t>Key Tools:</a:t>
            </a:r>
            <a:r>
              <a:rPr kumimoji="0" lang="en-US" altLang="en-US" sz="1500" b="0" i="0" u="none" strike="noStrike" cap="none" normalizeH="0" baseline="0" dirty="0">
                <a:ln>
                  <a:noFill/>
                </a:ln>
                <a:effectLst/>
                <a:latin typeface="Arial" panose="020B0604020202020204" pitchFamily="34" charset="0"/>
              </a:rPr>
              <a:t> </a:t>
            </a:r>
            <a:r>
              <a:rPr kumimoji="0" lang="en-US" altLang="en-US" sz="1500" b="0" i="0" u="none" strike="noStrike" cap="none" normalizeH="0" baseline="0" dirty="0">
                <a:ln>
                  <a:noFill/>
                </a:ln>
                <a:effectLst/>
                <a:latin typeface="Arial Unicode MS"/>
              </a:rPr>
              <a:t>combinations</a:t>
            </a:r>
            <a:r>
              <a:rPr kumimoji="0" lang="en-US" altLang="en-US" sz="1500" b="0" i="0" u="none" strike="noStrike" cap="none" normalizeH="0" baseline="0" dirty="0">
                <a:ln>
                  <a:noFill/>
                </a:ln>
                <a:effectLst/>
              </a:rPr>
              <a:t> and </a:t>
            </a:r>
            <a:r>
              <a:rPr kumimoji="0" lang="en-US" altLang="en-US" sz="1500" b="0" i="0" u="none" strike="noStrike" cap="none" normalizeH="0" baseline="0" dirty="0">
                <a:ln>
                  <a:noFill/>
                </a:ln>
                <a:effectLst/>
                <a:latin typeface="Arial Unicode MS"/>
              </a:rPr>
              <a:t>permutations</a:t>
            </a:r>
            <a:r>
              <a:rPr kumimoji="0" lang="en-US" altLang="en-US" sz="1500" b="0" i="0" u="none" strike="noStrike" cap="none" normalizeH="0" baseline="0" dirty="0">
                <a:ln>
                  <a:noFill/>
                </a:ln>
                <a:effectLst/>
              </a:rPr>
              <a:t>. These are essential for "Grid Searches" when tuning AI models to find the best settings.</a:t>
            </a:r>
            <a:endParaRPr kumimoji="0" lang="en-US" altLang="en-US" sz="15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974457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3B9EB8-22C1-A332-94A6-0F9A65A513D1}"/>
              </a:ext>
            </a:extLst>
          </p:cNvPr>
          <p:cNvSpPr>
            <a:spLocks noGrp="1"/>
          </p:cNvSpPr>
          <p:nvPr>
            <p:ph type="title"/>
          </p:nvPr>
        </p:nvSpPr>
        <p:spPr>
          <a:xfrm>
            <a:off x="1156851" y="637763"/>
            <a:ext cx="2910051" cy="5576768"/>
          </a:xfrm>
        </p:spPr>
        <p:txBody>
          <a:bodyPr anchor="t">
            <a:normAutofit/>
          </a:bodyPr>
          <a:lstStyle/>
          <a:p>
            <a:r>
              <a:rPr lang="en-US" sz="4100">
                <a:solidFill>
                  <a:schemeClr val="bg1"/>
                </a:solidFill>
              </a:rPr>
              <a:t>Regular Expressions (re)</a:t>
            </a:r>
          </a:p>
        </p:txBody>
      </p:sp>
      <p:sp>
        <p:nvSpPr>
          <p:cNvPr id="4105" name="Rectangle 4104">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2118" y="0"/>
            <a:ext cx="752987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Mastering Regular Expressions in Python: A Basic Guide | by Gopal Khadka |  Python in Plain English">
            <a:extLst>
              <a:ext uri="{FF2B5EF4-FFF2-40B4-BE49-F238E27FC236}">
                <a16:creationId xmlns:a16="http://schemas.microsoft.com/office/drawing/2014/main" id="{6EAAF53B-377D-1598-0A06-6B8DD3A5D0E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82273" y="637762"/>
            <a:ext cx="4108224" cy="2927110"/>
          </a:xfrm>
          <a:prstGeom prst="rect">
            <a:avLst/>
          </a:prstGeom>
          <a:noFill/>
          <a:extLst>
            <a:ext uri="{909E8E84-426E-40DD-AFC4-6F175D3DCCD1}">
              <a14:hiddenFill xmlns:a14="http://schemas.microsoft.com/office/drawing/2010/main">
                <a:solidFill>
                  <a:srgbClr val="FFFFFF"/>
                </a:solidFill>
              </a14:hiddenFill>
            </a:ext>
          </a:extLst>
        </p:spPr>
      </p:pic>
      <p:sp>
        <p:nvSpPr>
          <p:cNvPr id="4107" name="Rectangle 410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6" y="4006121"/>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C34EAF-A87F-1ABF-DE89-51E72967E903}"/>
              </a:ext>
            </a:extLst>
          </p:cNvPr>
          <p:cNvSpPr>
            <a:spLocks noGrp="1"/>
          </p:cNvSpPr>
          <p:nvPr>
            <p:ph idx="1"/>
          </p:nvPr>
        </p:nvSpPr>
        <p:spPr>
          <a:xfrm>
            <a:off x="5439965" y="4212709"/>
            <a:ext cx="5605390" cy="2001821"/>
          </a:xfrm>
        </p:spPr>
        <p:txBody>
          <a:bodyPr>
            <a:normAutofit/>
          </a:bodyPr>
          <a:lstStyle/>
          <a:p>
            <a:r>
              <a:rPr lang="en-US" sz="1800" b="1"/>
              <a:t>The Pattern Search:</a:t>
            </a:r>
            <a:r>
              <a:rPr lang="en-US" sz="1800"/>
              <a:t> If you need to find every email address in a 5,000-page medical document, a standard if "word" in text search is impossible.</a:t>
            </a:r>
          </a:p>
          <a:p>
            <a:r>
              <a:rPr lang="en-US" sz="1800" b="1"/>
              <a:t>The Logic:</a:t>
            </a:r>
            <a:r>
              <a:rPr lang="en-US" sz="1800"/>
              <a:t> Regex uses a specialized language (e.g., \d{3}-\d{3}-\d{4} for phone numbers) to scan text for patterns rather than exact words.</a:t>
            </a:r>
          </a:p>
          <a:p>
            <a:endParaRPr lang="en-US" sz="1800"/>
          </a:p>
        </p:txBody>
      </p:sp>
    </p:spTree>
    <p:extLst>
      <p:ext uri="{BB962C8B-B14F-4D97-AF65-F5344CB8AC3E}">
        <p14:creationId xmlns:p14="http://schemas.microsoft.com/office/powerpoint/2010/main" val="49753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371</Words>
  <Application>Microsoft Office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Arial Unicode MS</vt:lpstr>
      <vt:lpstr>Office Theme</vt:lpstr>
      <vt:lpstr>Welcome &amp; Module Induction</vt:lpstr>
      <vt:lpstr>The collections Module (Beyond Standard Lists) </vt:lpstr>
      <vt:lpstr>itertools for Efficiency</vt:lpstr>
      <vt:lpstr>Regular Expressions (re)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1</cp:revision>
  <dcterms:created xsi:type="dcterms:W3CDTF">2026-04-22T08:45:14Z</dcterms:created>
  <dcterms:modified xsi:type="dcterms:W3CDTF">2026-04-22T08:54:06Z</dcterms:modified>
</cp:coreProperties>
</file>