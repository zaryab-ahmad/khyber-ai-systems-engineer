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AC1883-73BD-4672-995D-5E5E274E9A6C}"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CBF39FBF-39A7-4137-BB3D-9D8808861462}">
      <dgm:prSet/>
      <dgm:spPr/>
      <dgm:t>
        <a:bodyPr/>
        <a:lstStyle/>
        <a:p>
          <a:r>
            <a:rPr lang="en-US" b="1" i="0" baseline="0"/>
            <a:t>The os Module:</a:t>
          </a:r>
          <a:r>
            <a:rPr lang="en-US" b="0" i="0" baseline="0"/>
            <a:t> Used for interacting with the operating system's structure. You use it to create directories, list files, and delete empty folders.</a:t>
          </a:r>
          <a:endParaRPr lang="en-US"/>
        </a:p>
      </dgm:t>
    </dgm:pt>
    <dgm:pt modelId="{37A31690-99A5-4876-B06C-29E177A690B2}" type="parTrans" cxnId="{CB6F489C-07CC-4CDD-ABD5-2A86923A4EC1}">
      <dgm:prSet/>
      <dgm:spPr/>
      <dgm:t>
        <a:bodyPr/>
        <a:lstStyle/>
        <a:p>
          <a:endParaRPr lang="en-US"/>
        </a:p>
      </dgm:t>
    </dgm:pt>
    <dgm:pt modelId="{7469483D-E132-4041-98DB-650483D13DA2}" type="sibTrans" cxnId="{CB6F489C-07CC-4CDD-ABD5-2A86923A4EC1}">
      <dgm:prSet/>
      <dgm:spPr/>
      <dgm:t>
        <a:bodyPr/>
        <a:lstStyle/>
        <a:p>
          <a:endParaRPr lang="en-US"/>
        </a:p>
      </dgm:t>
    </dgm:pt>
    <dgm:pt modelId="{64BC3DA6-42B2-4ECD-AAEA-453B444DC80C}">
      <dgm:prSet/>
      <dgm:spPr/>
      <dgm:t>
        <a:bodyPr/>
        <a:lstStyle/>
        <a:p>
          <a:r>
            <a:rPr lang="en-US" b="1" i="0" baseline="0"/>
            <a:t>The shutil Module:</a:t>
          </a:r>
          <a:r>
            <a:rPr lang="en-US" b="0" i="0" baseline="0"/>
            <a:t> "Shell Utilities." This is the heavy lifter for data movement. You use it to copy files, move files across drives, or delete entire directories that are full of data (rmtree).</a:t>
          </a:r>
          <a:endParaRPr lang="en-US"/>
        </a:p>
      </dgm:t>
    </dgm:pt>
    <dgm:pt modelId="{CC34F7E4-5C2E-4776-A256-5B7F14022991}" type="parTrans" cxnId="{1702FAB8-22E9-471C-9374-A29BAA90807D}">
      <dgm:prSet/>
      <dgm:spPr/>
      <dgm:t>
        <a:bodyPr/>
        <a:lstStyle/>
        <a:p>
          <a:endParaRPr lang="en-US"/>
        </a:p>
      </dgm:t>
    </dgm:pt>
    <dgm:pt modelId="{B6838599-616C-4F55-835B-2F019CFAEE5B}" type="sibTrans" cxnId="{1702FAB8-22E9-471C-9374-A29BAA90807D}">
      <dgm:prSet/>
      <dgm:spPr/>
      <dgm:t>
        <a:bodyPr/>
        <a:lstStyle/>
        <a:p>
          <a:endParaRPr lang="en-US"/>
        </a:p>
      </dgm:t>
    </dgm:pt>
    <dgm:pt modelId="{58294B43-4A44-4676-B3FD-1E4EF2B95985}" type="pres">
      <dgm:prSet presAssocID="{49AC1883-73BD-4672-995D-5E5E274E9A6C}" presName="hierChild1" presStyleCnt="0">
        <dgm:presLayoutVars>
          <dgm:chPref val="1"/>
          <dgm:dir/>
          <dgm:animOne val="branch"/>
          <dgm:animLvl val="lvl"/>
          <dgm:resizeHandles/>
        </dgm:presLayoutVars>
      </dgm:prSet>
      <dgm:spPr/>
    </dgm:pt>
    <dgm:pt modelId="{D3683651-5960-4F94-8707-4219F8E2C355}" type="pres">
      <dgm:prSet presAssocID="{CBF39FBF-39A7-4137-BB3D-9D8808861462}" presName="hierRoot1" presStyleCnt="0"/>
      <dgm:spPr/>
    </dgm:pt>
    <dgm:pt modelId="{C5E9C90A-65DB-44A9-985A-CD38135C50E0}" type="pres">
      <dgm:prSet presAssocID="{CBF39FBF-39A7-4137-BB3D-9D8808861462}" presName="composite" presStyleCnt="0"/>
      <dgm:spPr/>
    </dgm:pt>
    <dgm:pt modelId="{6D86CB11-8DC5-43D5-865B-434599EA30A0}" type="pres">
      <dgm:prSet presAssocID="{CBF39FBF-39A7-4137-BB3D-9D8808861462}" presName="background" presStyleLbl="node0" presStyleIdx="0" presStyleCnt="2"/>
      <dgm:spPr/>
    </dgm:pt>
    <dgm:pt modelId="{78349EDE-79D0-4043-AFBB-C3BC92A34C41}" type="pres">
      <dgm:prSet presAssocID="{CBF39FBF-39A7-4137-BB3D-9D8808861462}" presName="text" presStyleLbl="fgAcc0" presStyleIdx="0" presStyleCnt="2">
        <dgm:presLayoutVars>
          <dgm:chPref val="3"/>
        </dgm:presLayoutVars>
      </dgm:prSet>
      <dgm:spPr/>
    </dgm:pt>
    <dgm:pt modelId="{49E8C31B-66C0-4F7A-BB8F-88509CB1EDB7}" type="pres">
      <dgm:prSet presAssocID="{CBF39FBF-39A7-4137-BB3D-9D8808861462}" presName="hierChild2" presStyleCnt="0"/>
      <dgm:spPr/>
    </dgm:pt>
    <dgm:pt modelId="{D44BF887-881D-4856-8B35-13964805987D}" type="pres">
      <dgm:prSet presAssocID="{64BC3DA6-42B2-4ECD-AAEA-453B444DC80C}" presName="hierRoot1" presStyleCnt="0"/>
      <dgm:spPr/>
    </dgm:pt>
    <dgm:pt modelId="{6FE9E89E-296D-452E-AB89-6FCAF02EE3DD}" type="pres">
      <dgm:prSet presAssocID="{64BC3DA6-42B2-4ECD-AAEA-453B444DC80C}" presName="composite" presStyleCnt="0"/>
      <dgm:spPr/>
    </dgm:pt>
    <dgm:pt modelId="{C3D45D61-2BCB-4E1E-BA62-0D3726915F35}" type="pres">
      <dgm:prSet presAssocID="{64BC3DA6-42B2-4ECD-AAEA-453B444DC80C}" presName="background" presStyleLbl="node0" presStyleIdx="1" presStyleCnt="2"/>
      <dgm:spPr/>
    </dgm:pt>
    <dgm:pt modelId="{DF9DAC67-9984-49F6-91D6-CFBCB3585CD3}" type="pres">
      <dgm:prSet presAssocID="{64BC3DA6-42B2-4ECD-AAEA-453B444DC80C}" presName="text" presStyleLbl="fgAcc0" presStyleIdx="1" presStyleCnt="2">
        <dgm:presLayoutVars>
          <dgm:chPref val="3"/>
        </dgm:presLayoutVars>
      </dgm:prSet>
      <dgm:spPr/>
    </dgm:pt>
    <dgm:pt modelId="{3D6EA85E-66F1-4A9A-9CE5-8332A4019D79}" type="pres">
      <dgm:prSet presAssocID="{64BC3DA6-42B2-4ECD-AAEA-453B444DC80C}" presName="hierChild2" presStyleCnt="0"/>
      <dgm:spPr/>
    </dgm:pt>
  </dgm:ptLst>
  <dgm:cxnLst>
    <dgm:cxn modelId="{6AE4BA0C-5D30-418E-B531-630BA2C67F3D}" type="presOf" srcId="{49AC1883-73BD-4672-995D-5E5E274E9A6C}" destId="{58294B43-4A44-4676-B3FD-1E4EF2B95985}" srcOrd="0" destOrd="0" presId="urn:microsoft.com/office/officeart/2005/8/layout/hierarchy1"/>
    <dgm:cxn modelId="{CB6F489C-07CC-4CDD-ABD5-2A86923A4EC1}" srcId="{49AC1883-73BD-4672-995D-5E5E274E9A6C}" destId="{CBF39FBF-39A7-4137-BB3D-9D8808861462}" srcOrd="0" destOrd="0" parTransId="{37A31690-99A5-4876-B06C-29E177A690B2}" sibTransId="{7469483D-E132-4041-98DB-650483D13DA2}"/>
    <dgm:cxn modelId="{1702FAB8-22E9-471C-9374-A29BAA90807D}" srcId="{49AC1883-73BD-4672-995D-5E5E274E9A6C}" destId="{64BC3DA6-42B2-4ECD-AAEA-453B444DC80C}" srcOrd="1" destOrd="0" parTransId="{CC34F7E4-5C2E-4776-A256-5B7F14022991}" sibTransId="{B6838599-616C-4F55-835B-2F019CFAEE5B}"/>
    <dgm:cxn modelId="{BD1E65F1-79C4-4957-8BAB-862CA497E177}" type="presOf" srcId="{64BC3DA6-42B2-4ECD-AAEA-453B444DC80C}" destId="{DF9DAC67-9984-49F6-91D6-CFBCB3585CD3}" srcOrd="0" destOrd="0" presId="urn:microsoft.com/office/officeart/2005/8/layout/hierarchy1"/>
    <dgm:cxn modelId="{AD7A64FA-8DF6-4659-90EA-EF5BD1555307}" type="presOf" srcId="{CBF39FBF-39A7-4137-BB3D-9D8808861462}" destId="{78349EDE-79D0-4043-AFBB-C3BC92A34C41}" srcOrd="0" destOrd="0" presId="urn:microsoft.com/office/officeart/2005/8/layout/hierarchy1"/>
    <dgm:cxn modelId="{3A8CEE0C-DC0A-4856-A487-9223ED2842D1}" type="presParOf" srcId="{58294B43-4A44-4676-B3FD-1E4EF2B95985}" destId="{D3683651-5960-4F94-8707-4219F8E2C355}" srcOrd="0" destOrd="0" presId="urn:microsoft.com/office/officeart/2005/8/layout/hierarchy1"/>
    <dgm:cxn modelId="{67CA5573-84D3-4083-8122-89171F6FBD30}" type="presParOf" srcId="{D3683651-5960-4F94-8707-4219F8E2C355}" destId="{C5E9C90A-65DB-44A9-985A-CD38135C50E0}" srcOrd="0" destOrd="0" presId="urn:microsoft.com/office/officeart/2005/8/layout/hierarchy1"/>
    <dgm:cxn modelId="{8E87F29B-3D63-4D93-8154-98F77B787EBF}" type="presParOf" srcId="{C5E9C90A-65DB-44A9-985A-CD38135C50E0}" destId="{6D86CB11-8DC5-43D5-865B-434599EA30A0}" srcOrd="0" destOrd="0" presId="urn:microsoft.com/office/officeart/2005/8/layout/hierarchy1"/>
    <dgm:cxn modelId="{6DBA8B40-D96A-4446-8A9B-49F4460AF092}" type="presParOf" srcId="{C5E9C90A-65DB-44A9-985A-CD38135C50E0}" destId="{78349EDE-79D0-4043-AFBB-C3BC92A34C41}" srcOrd="1" destOrd="0" presId="urn:microsoft.com/office/officeart/2005/8/layout/hierarchy1"/>
    <dgm:cxn modelId="{E2E34B09-805A-46C8-9BB3-57312A1487A8}" type="presParOf" srcId="{D3683651-5960-4F94-8707-4219F8E2C355}" destId="{49E8C31B-66C0-4F7A-BB8F-88509CB1EDB7}" srcOrd="1" destOrd="0" presId="urn:microsoft.com/office/officeart/2005/8/layout/hierarchy1"/>
    <dgm:cxn modelId="{A663FBD4-0018-42FE-BA62-A53BD3482917}" type="presParOf" srcId="{58294B43-4A44-4676-B3FD-1E4EF2B95985}" destId="{D44BF887-881D-4856-8B35-13964805987D}" srcOrd="1" destOrd="0" presId="urn:microsoft.com/office/officeart/2005/8/layout/hierarchy1"/>
    <dgm:cxn modelId="{696DB28E-A917-4EF3-8AB3-99A8C7F812E8}" type="presParOf" srcId="{D44BF887-881D-4856-8B35-13964805987D}" destId="{6FE9E89E-296D-452E-AB89-6FCAF02EE3DD}" srcOrd="0" destOrd="0" presId="urn:microsoft.com/office/officeart/2005/8/layout/hierarchy1"/>
    <dgm:cxn modelId="{41794FC1-13C1-487F-A64C-131A376B560B}" type="presParOf" srcId="{6FE9E89E-296D-452E-AB89-6FCAF02EE3DD}" destId="{C3D45D61-2BCB-4E1E-BA62-0D3726915F35}" srcOrd="0" destOrd="0" presId="urn:microsoft.com/office/officeart/2005/8/layout/hierarchy1"/>
    <dgm:cxn modelId="{1995B212-7275-48E7-BA63-A390BAA70C97}" type="presParOf" srcId="{6FE9E89E-296D-452E-AB89-6FCAF02EE3DD}" destId="{DF9DAC67-9984-49F6-91D6-CFBCB3585CD3}" srcOrd="1" destOrd="0" presId="urn:microsoft.com/office/officeart/2005/8/layout/hierarchy1"/>
    <dgm:cxn modelId="{41EEA48E-A564-47AA-89E8-073B03269A40}" type="presParOf" srcId="{D44BF887-881D-4856-8B35-13964805987D}" destId="{3D6EA85E-66F1-4A9A-9CE5-8332A4019D7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D603E2-A6F7-4F29-9E96-EFD6159EB5B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244E5B63-0968-439C-88DC-830B0D19D1C6}">
      <dgm:prSet/>
      <dgm:spPr/>
      <dgm:t>
        <a:bodyPr/>
        <a:lstStyle/>
        <a:p>
          <a:r>
            <a:rPr lang="en-US" b="1" i="0" baseline="0"/>
            <a:t>The Problem:</a:t>
          </a:r>
          <a:r>
            <a:rPr lang="en-US" b="0" i="0" baseline="0"/>
            <a:t> Windows uses backslashes for paths (C:\data\images), while Mac and Linux (and most servers) use forward slashes (/data/images). If you hardcode slashes, your script will crash when someone else runs it.</a:t>
          </a:r>
          <a:endParaRPr lang="en-US"/>
        </a:p>
      </dgm:t>
    </dgm:pt>
    <dgm:pt modelId="{9796C81C-88BC-43BB-B553-BC7A8E78EDBF}" type="parTrans" cxnId="{DD66C4BF-001B-4982-8361-21CB1C728862}">
      <dgm:prSet/>
      <dgm:spPr/>
      <dgm:t>
        <a:bodyPr/>
        <a:lstStyle/>
        <a:p>
          <a:endParaRPr lang="en-US"/>
        </a:p>
      </dgm:t>
    </dgm:pt>
    <dgm:pt modelId="{64A4A150-95BB-44AA-803B-BE452E47B81B}" type="sibTrans" cxnId="{DD66C4BF-001B-4982-8361-21CB1C728862}">
      <dgm:prSet/>
      <dgm:spPr/>
      <dgm:t>
        <a:bodyPr/>
        <a:lstStyle/>
        <a:p>
          <a:endParaRPr lang="en-US"/>
        </a:p>
      </dgm:t>
    </dgm:pt>
    <dgm:pt modelId="{732D66D9-5B7C-444B-9024-604DD6E1E360}">
      <dgm:prSet/>
      <dgm:spPr/>
      <dgm:t>
        <a:bodyPr/>
        <a:lstStyle/>
        <a:p>
          <a:r>
            <a:rPr lang="en-US" b="1" i="0" baseline="0"/>
            <a:t>The Solution:</a:t>
          </a:r>
          <a:r>
            <a:rPr lang="en-US" b="0" i="0" baseline="0"/>
            <a:t> pathlib. Introduced in modern Python, it treats paths not as "text strings", but as smart </a:t>
          </a:r>
          <a:r>
            <a:rPr lang="en-US" b="0" i="1" baseline="0"/>
            <a:t>objects</a:t>
          </a:r>
          <a:r>
            <a:rPr lang="en-US" b="0" i="0" baseline="0"/>
            <a:t>. It automatically uses the correct slash for whatever operating system it is currently running on.</a:t>
          </a:r>
          <a:endParaRPr lang="en-US"/>
        </a:p>
      </dgm:t>
    </dgm:pt>
    <dgm:pt modelId="{1188C3E4-FB03-4778-83CC-59CCA5685B2A}" type="parTrans" cxnId="{0203AF9F-E7B9-4BF7-845F-53D6967C8CD6}">
      <dgm:prSet/>
      <dgm:spPr/>
      <dgm:t>
        <a:bodyPr/>
        <a:lstStyle/>
        <a:p>
          <a:endParaRPr lang="en-US"/>
        </a:p>
      </dgm:t>
    </dgm:pt>
    <dgm:pt modelId="{2DBF94B1-E1A0-46C3-ABA5-F3351532E7AD}" type="sibTrans" cxnId="{0203AF9F-E7B9-4BF7-845F-53D6967C8CD6}">
      <dgm:prSet/>
      <dgm:spPr/>
      <dgm:t>
        <a:bodyPr/>
        <a:lstStyle/>
        <a:p>
          <a:endParaRPr lang="en-US"/>
        </a:p>
      </dgm:t>
    </dgm:pt>
    <dgm:pt modelId="{0C358C49-7F77-4E4C-84EB-75954551222A}" type="pres">
      <dgm:prSet presAssocID="{75D603E2-A6F7-4F29-9E96-EFD6159EB5B1}" presName="hierChild1" presStyleCnt="0">
        <dgm:presLayoutVars>
          <dgm:chPref val="1"/>
          <dgm:dir/>
          <dgm:animOne val="branch"/>
          <dgm:animLvl val="lvl"/>
          <dgm:resizeHandles/>
        </dgm:presLayoutVars>
      </dgm:prSet>
      <dgm:spPr/>
    </dgm:pt>
    <dgm:pt modelId="{FF606D72-F4CB-473A-AECD-1196359B8B1A}" type="pres">
      <dgm:prSet presAssocID="{244E5B63-0968-439C-88DC-830B0D19D1C6}" presName="hierRoot1" presStyleCnt="0"/>
      <dgm:spPr/>
    </dgm:pt>
    <dgm:pt modelId="{CC63B3C8-1139-40FB-9151-9A1D9E5E301E}" type="pres">
      <dgm:prSet presAssocID="{244E5B63-0968-439C-88DC-830B0D19D1C6}" presName="composite" presStyleCnt="0"/>
      <dgm:spPr/>
    </dgm:pt>
    <dgm:pt modelId="{AAD4E91D-C833-4050-ACDA-FD61491EA8E3}" type="pres">
      <dgm:prSet presAssocID="{244E5B63-0968-439C-88DC-830B0D19D1C6}" presName="background" presStyleLbl="node0" presStyleIdx="0" presStyleCnt="2"/>
      <dgm:spPr/>
    </dgm:pt>
    <dgm:pt modelId="{40123163-5602-4E2F-B2C4-39D635E4D8CB}" type="pres">
      <dgm:prSet presAssocID="{244E5B63-0968-439C-88DC-830B0D19D1C6}" presName="text" presStyleLbl="fgAcc0" presStyleIdx="0" presStyleCnt="2">
        <dgm:presLayoutVars>
          <dgm:chPref val="3"/>
        </dgm:presLayoutVars>
      </dgm:prSet>
      <dgm:spPr/>
    </dgm:pt>
    <dgm:pt modelId="{8BF2D7FC-8B97-4A11-A3B4-27A0752921C7}" type="pres">
      <dgm:prSet presAssocID="{244E5B63-0968-439C-88DC-830B0D19D1C6}" presName="hierChild2" presStyleCnt="0"/>
      <dgm:spPr/>
    </dgm:pt>
    <dgm:pt modelId="{1E1CF898-7E7F-400D-B86F-BFE3C446B775}" type="pres">
      <dgm:prSet presAssocID="{732D66D9-5B7C-444B-9024-604DD6E1E360}" presName="hierRoot1" presStyleCnt="0"/>
      <dgm:spPr/>
    </dgm:pt>
    <dgm:pt modelId="{2D96BBCF-CD75-4CD8-B3D1-8414DC4C644F}" type="pres">
      <dgm:prSet presAssocID="{732D66D9-5B7C-444B-9024-604DD6E1E360}" presName="composite" presStyleCnt="0"/>
      <dgm:spPr/>
    </dgm:pt>
    <dgm:pt modelId="{E41B9A94-7E8D-453A-AC79-8404BA540EAA}" type="pres">
      <dgm:prSet presAssocID="{732D66D9-5B7C-444B-9024-604DD6E1E360}" presName="background" presStyleLbl="node0" presStyleIdx="1" presStyleCnt="2"/>
      <dgm:spPr/>
    </dgm:pt>
    <dgm:pt modelId="{6657B6F1-A138-441C-95CB-F42A16FF9426}" type="pres">
      <dgm:prSet presAssocID="{732D66D9-5B7C-444B-9024-604DD6E1E360}" presName="text" presStyleLbl="fgAcc0" presStyleIdx="1" presStyleCnt="2">
        <dgm:presLayoutVars>
          <dgm:chPref val="3"/>
        </dgm:presLayoutVars>
      </dgm:prSet>
      <dgm:spPr/>
    </dgm:pt>
    <dgm:pt modelId="{C6A33F5A-4616-447E-B018-72412E55C42F}" type="pres">
      <dgm:prSet presAssocID="{732D66D9-5B7C-444B-9024-604DD6E1E360}" presName="hierChild2" presStyleCnt="0"/>
      <dgm:spPr/>
    </dgm:pt>
  </dgm:ptLst>
  <dgm:cxnLst>
    <dgm:cxn modelId="{511B4000-A4EB-4FE7-9869-F61A53B5C8C0}" type="presOf" srcId="{732D66D9-5B7C-444B-9024-604DD6E1E360}" destId="{6657B6F1-A138-441C-95CB-F42A16FF9426}" srcOrd="0" destOrd="0" presId="urn:microsoft.com/office/officeart/2005/8/layout/hierarchy1"/>
    <dgm:cxn modelId="{0203AF9F-E7B9-4BF7-845F-53D6967C8CD6}" srcId="{75D603E2-A6F7-4F29-9E96-EFD6159EB5B1}" destId="{732D66D9-5B7C-444B-9024-604DD6E1E360}" srcOrd="1" destOrd="0" parTransId="{1188C3E4-FB03-4778-83CC-59CCA5685B2A}" sibTransId="{2DBF94B1-E1A0-46C3-ABA5-F3351532E7AD}"/>
    <dgm:cxn modelId="{DD66C4BF-001B-4982-8361-21CB1C728862}" srcId="{75D603E2-A6F7-4F29-9E96-EFD6159EB5B1}" destId="{244E5B63-0968-439C-88DC-830B0D19D1C6}" srcOrd="0" destOrd="0" parTransId="{9796C81C-88BC-43BB-B553-BC7A8E78EDBF}" sibTransId="{64A4A150-95BB-44AA-803B-BE452E47B81B}"/>
    <dgm:cxn modelId="{8500FDC0-E5AC-4D53-9FC8-F28481BF1F19}" type="presOf" srcId="{244E5B63-0968-439C-88DC-830B0D19D1C6}" destId="{40123163-5602-4E2F-B2C4-39D635E4D8CB}" srcOrd="0" destOrd="0" presId="urn:microsoft.com/office/officeart/2005/8/layout/hierarchy1"/>
    <dgm:cxn modelId="{5EFC11D3-E6A3-4A7C-839C-E48650C23E82}" type="presOf" srcId="{75D603E2-A6F7-4F29-9E96-EFD6159EB5B1}" destId="{0C358C49-7F77-4E4C-84EB-75954551222A}" srcOrd="0" destOrd="0" presId="urn:microsoft.com/office/officeart/2005/8/layout/hierarchy1"/>
    <dgm:cxn modelId="{9636AE9E-5BE0-48BC-BE45-B599A71F8FAE}" type="presParOf" srcId="{0C358C49-7F77-4E4C-84EB-75954551222A}" destId="{FF606D72-F4CB-473A-AECD-1196359B8B1A}" srcOrd="0" destOrd="0" presId="urn:microsoft.com/office/officeart/2005/8/layout/hierarchy1"/>
    <dgm:cxn modelId="{161491CD-04E8-4E5B-B9E2-7BD97A499068}" type="presParOf" srcId="{FF606D72-F4CB-473A-AECD-1196359B8B1A}" destId="{CC63B3C8-1139-40FB-9151-9A1D9E5E301E}" srcOrd="0" destOrd="0" presId="urn:microsoft.com/office/officeart/2005/8/layout/hierarchy1"/>
    <dgm:cxn modelId="{C6E43BB0-7CE6-4E1F-B5EE-5685E0E766DA}" type="presParOf" srcId="{CC63B3C8-1139-40FB-9151-9A1D9E5E301E}" destId="{AAD4E91D-C833-4050-ACDA-FD61491EA8E3}" srcOrd="0" destOrd="0" presId="urn:microsoft.com/office/officeart/2005/8/layout/hierarchy1"/>
    <dgm:cxn modelId="{40BB8A05-462E-40E8-BA33-74DB80B4EEA2}" type="presParOf" srcId="{CC63B3C8-1139-40FB-9151-9A1D9E5E301E}" destId="{40123163-5602-4E2F-B2C4-39D635E4D8CB}" srcOrd="1" destOrd="0" presId="urn:microsoft.com/office/officeart/2005/8/layout/hierarchy1"/>
    <dgm:cxn modelId="{49F290AF-B609-4394-B3B3-924D1BE5BD0D}" type="presParOf" srcId="{FF606D72-F4CB-473A-AECD-1196359B8B1A}" destId="{8BF2D7FC-8B97-4A11-A3B4-27A0752921C7}" srcOrd="1" destOrd="0" presId="urn:microsoft.com/office/officeart/2005/8/layout/hierarchy1"/>
    <dgm:cxn modelId="{78C7BAB6-DAB1-490B-B7D8-1DFDC3AB9FF6}" type="presParOf" srcId="{0C358C49-7F77-4E4C-84EB-75954551222A}" destId="{1E1CF898-7E7F-400D-B86F-BFE3C446B775}" srcOrd="1" destOrd="0" presId="urn:microsoft.com/office/officeart/2005/8/layout/hierarchy1"/>
    <dgm:cxn modelId="{46312BB6-85DE-48D6-BFE9-CC1C41F6726A}" type="presParOf" srcId="{1E1CF898-7E7F-400D-B86F-BFE3C446B775}" destId="{2D96BBCF-CD75-4CD8-B3D1-8414DC4C644F}" srcOrd="0" destOrd="0" presId="urn:microsoft.com/office/officeart/2005/8/layout/hierarchy1"/>
    <dgm:cxn modelId="{C670A3F8-F4F0-40FB-9927-AF0CCC1856BE}" type="presParOf" srcId="{2D96BBCF-CD75-4CD8-B3D1-8414DC4C644F}" destId="{E41B9A94-7E8D-453A-AC79-8404BA540EAA}" srcOrd="0" destOrd="0" presId="urn:microsoft.com/office/officeart/2005/8/layout/hierarchy1"/>
    <dgm:cxn modelId="{971709BB-C2AB-4C87-BBDC-A454C239E93D}" type="presParOf" srcId="{2D96BBCF-CD75-4CD8-B3D1-8414DC4C644F}" destId="{6657B6F1-A138-441C-95CB-F42A16FF9426}" srcOrd="1" destOrd="0" presId="urn:microsoft.com/office/officeart/2005/8/layout/hierarchy1"/>
    <dgm:cxn modelId="{0D494506-63BC-42EE-B5DA-473C40A43F1F}" type="presParOf" srcId="{1E1CF898-7E7F-400D-B86F-BFE3C446B775}" destId="{C6A33F5A-4616-447E-B018-72412E55C42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AEC31F-03F4-4744-A06A-6E54E21A088A}"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69427A67-9C98-47CE-99A5-BEC24CBA0D60}">
      <dgm:prSet/>
      <dgm:spPr/>
      <dgm:t>
        <a:bodyPr/>
        <a:lstStyle/>
        <a:p>
          <a:r>
            <a:rPr lang="en-US" b="1" i="0" baseline="0"/>
            <a:t>Beyond the Data:</a:t>
          </a:r>
          <a:r>
            <a:rPr lang="en-US" b="0" i="0" baseline="0"/>
            <a:t> A file is more than just the image or text inside it. The Operating System stores "Metadata" (data about the data).</a:t>
          </a:r>
          <a:endParaRPr lang="en-US"/>
        </a:p>
      </dgm:t>
    </dgm:pt>
    <dgm:pt modelId="{E9AA8EA3-5040-400B-954F-C759DD19F0ED}" type="parTrans" cxnId="{A8A0C043-27E4-4AE7-A289-88767750ACED}">
      <dgm:prSet/>
      <dgm:spPr/>
      <dgm:t>
        <a:bodyPr/>
        <a:lstStyle/>
        <a:p>
          <a:endParaRPr lang="en-US"/>
        </a:p>
      </dgm:t>
    </dgm:pt>
    <dgm:pt modelId="{777C239D-56AD-40B6-ACA7-E0363348300D}" type="sibTrans" cxnId="{A8A0C043-27E4-4AE7-A289-88767750ACED}">
      <dgm:prSet/>
      <dgm:spPr/>
      <dgm:t>
        <a:bodyPr/>
        <a:lstStyle/>
        <a:p>
          <a:endParaRPr lang="en-US"/>
        </a:p>
      </dgm:t>
    </dgm:pt>
    <dgm:pt modelId="{5AB9EB86-A847-4B5E-A8EA-9775839B14CE}">
      <dgm:prSet/>
      <dgm:spPr/>
      <dgm:t>
        <a:bodyPr/>
        <a:lstStyle/>
        <a:p>
          <a:r>
            <a:rPr lang="en-US" b="1" i="0" baseline="0"/>
            <a:t>What we can read:</a:t>
          </a:r>
          <a:r>
            <a:rPr lang="en-US" b="0" i="0" baseline="0"/>
            <a:t> With Python, we can instantly read a file's exact size in bytes, the exact second it was created or modified, and whether it is "Read-Only." This is critical for data validation pipelines.</a:t>
          </a:r>
          <a:endParaRPr lang="en-US"/>
        </a:p>
      </dgm:t>
    </dgm:pt>
    <dgm:pt modelId="{BFAD5C86-3810-46F8-B9FD-D54721CE76C8}" type="parTrans" cxnId="{44F69278-44A0-41FD-90B1-5845AAF86B01}">
      <dgm:prSet/>
      <dgm:spPr/>
      <dgm:t>
        <a:bodyPr/>
        <a:lstStyle/>
        <a:p>
          <a:endParaRPr lang="en-US"/>
        </a:p>
      </dgm:t>
    </dgm:pt>
    <dgm:pt modelId="{2E2D59BE-3492-45C4-BE22-2DEBB813BEB6}" type="sibTrans" cxnId="{44F69278-44A0-41FD-90B1-5845AAF86B01}">
      <dgm:prSet/>
      <dgm:spPr/>
      <dgm:t>
        <a:bodyPr/>
        <a:lstStyle/>
        <a:p>
          <a:endParaRPr lang="en-US"/>
        </a:p>
      </dgm:t>
    </dgm:pt>
    <dgm:pt modelId="{46BBF1B4-B181-4843-808C-DD9DDB711FA0}" type="pres">
      <dgm:prSet presAssocID="{65AEC31F-03F4-4744-A06A-6E54E21A088A}" presName="hierChild1" presStyleCnt="0">
        <dgm:presLayoutVars>
          <dgm:chPref val="1"/>
          <dgm:dir/>
          <dgm:animOne val="branch"/>
          <dgm:animLvl val="lvl"/>
          <dgm:resizeHandles/>
        </dgm:presLayoutVars>
      </dgm:prSet>
      <dgm:spPr/>
    </dgm:pt>
    <dgm:pt modelId="{82094F72-BC58-4830-BEDE-46B3655F1ACD}" type="pres">
      <dgm:prSet presAssocID="{69427A67-9C98-47CE-99A5-BEC24CBA0D60}" presName="hierRoot1" presStyleCnt="0"/>
      <dgm:spPr/>
    </dgm:pt>
    <dgm:pt modelId="{F53B96BE-A117-4382-B840-03713BC867A5}" type="pres">
      <dgm:prSet presAssocID="{69427A67-9C98-47CE-99A5-BEC24CBA0D60}" presName="composite" presStyleCnt="0"/>
      <dgm:spPr/>
    </dgm:pt>
    <dgm:pt modelId="{7961E66F-855D-4961-92DF-ED2D6673C76D}" type="pres">
      <dgm:prSet presAssocID="{69427A67-9C98-47CE-99A5-BEC24CBA0D60}" presName="background" presStyleLbl="node0" presStyleIdx="0" presStyleCnt="2"/>
      <dgm:spPr/>
    </dgm:pt>
    <dgm:pt modelId="{8BFC0641-3C67-4521-BF4B-14D26F444E03}" type="pres">
      <dgm:prSet presAssocID="{69427A67-9C98-47CE-99A5-BEC24CBA0D60}" presName="text" presStyleLbl="fgAcc0" presStyleIdx="0" presStyleCnt="2">
        <dgm:presLayoutVars>
          <dgm:chPref val="3"/>
        </dgm:presLayoutVars>
      </dgm:prSet>
      <dgm:spPr/>
    </dgm:pt>
    <dgm:pt modelId="{1785885E-86CF-4518-82A7-B10D6C28A112}" type="pres">
      <dgm:prSet presAssocID="{69427A67-9C98-47CE-99A5-BEC24CBA0D60}" presName="hierChild2" presStyleCnt="0"/>
      <dgm:spPr/>
    </dgm:pt>
    <dgm:pt modelId="{A8445F38-A1AA-4C0C-A67F-067794DB2EC7}" type="pres">
      <dgm:prSet presAssocID="{5AB9EB86-A847-4B5E-A8EA-9775839B14CE}" presName="hierRoot1" presStyleCnt="0"/>
      <dgm:spPr/>
    </dgm:pt>
    <dgm:pt modelId="{779C7BC7-92CE-4D45-8666-449FD7453B3B}" type="pres">
      <dgm:prSet presAssocID="{5AB9EB86-A847-4B5E-A8EA-9775839B14CE}" presName="composite" presStyleCnt="0"/>
      <dgm:spPr/>
    </dgm:pt>
    <dgm:pt modelId="{EA837F67-1A4A-4913-8EF9-506D32E38E77}" type="pres">
      <dgm:prSet presAssocID="{5AB9EB86-A847-4B5E-A8EA-9775839B14CE}" presName="background" presStyleLbl="node0" presStyleIdx="1" presStyleCnt="2"/>
      <dgm:spPr/>
    </dgm:pt>
    <dgm:pt modelId="{8F51E780-222C-4E5D-A593-6FEAE581FB42}" type="pres">
      <dgm:prSet presAssocID="{5AB9EB86-A847-4B5E-A8EA-9775839B14CE}" presName="text" presStyleLbl="fgAcc0" presStyleIdx="1" presStyleCnt="2">
        <dgm:presLayoutVars>
          <dgm:chPref val="3"/>
        </dgm:presLayoutVars>
      </dgm:prSet>
      <dgm:spPr/>
    </dgm:pt>
    <dgm:pt modelId="{2F6E245B-FE80-482E-9FE6-9241A7206489}" type="pres">
      <dgm:prSet presAssocID="{5AB9EB86-A847-4B5E-A8EA-9775839B14CE}" presName="hierChild2" presStyleCnt="0"/>
      <dgm:spPr/>
    </dgm:pt>
  </dgm:ptLst>
  <dgm:cxnLst>
    <dgm:cxn modelId="{7E9BD408-CB57-462C-AEB2-8DA40D180FF2}" type="presOf" srcId="{5AB9EB86-A847-4B5E-A8EA-9775839B14CE}" destId="{8F51E780-222C-4E5D-A593-6FEAE581FB42}" srcOrd="0" destOrd="0" presId="urn:microsoft.com/office/officeart/2005/8/layout/hierarchy1"/>
    <dgm:cxn modelId="{6524E21E-1DB4-49E7-B9DD-4E1910D91BDC}" type="presOf" srcId="{69427A67-9C98-47CE-99A5-BEC24CBA0D60}" destId="{8BFC0641-3C67-4521-BF4B-14D26F444E03}" srcOrd="0" destOrd="0" presId="urn:microsoft.com/office/officeart/2005/8/layout/hierarchy1"/>
    <dgm:cxn modelId="{A8A0C043-27E4-4AE7-A289-88767750ACED}" srcId="{65AEC31F-03F4-4744-A06A-6E54E21A088A}" destId="{69427A67-9C98-47CE-99A5-BEC24CBA0D60}" srcOrd="0" destOrd="0" parTransId="{E9AA8EA3-5040-400B-954F-C759DD19F0ED}" sibTransId="{777C239D-56AD-40B6-ACA7-E0363348300D}"/>
    <dgm:cxn modelId="{44F69278-44A0-41FD-90B1-5845AAF86B01}" srcId="{65AEC31F-03F4-4744-A06A-6E54E21A088A}" destId="{5AB9EB86-A847-4B5E-A8EA-9775839B14CE}" srcOrd="1" destOrd="0" parTransId="{BFAD5C86-3810-46F8-B9FD-D54721CE76C8}" sibTransId="{2E2D59BE-3492-45C4-BE22-2DEBB813BEB6}"/>
    <dgm:cxn modelId="{0FB5A8D9-F9CF-4830-B716-4237266E71B7}" type="presOf" srcId="{65AEC31F-03F4-4744-A06A-6E54E21A088A}" destId="{46BBF1B4-B181-4843-808C-DD9DDB711FA0}" srcOrd="0" destOrd="0" presId="urn:microsoft.com/office/officeart/2005/8/layout/hierarchy1"/>
    <dgm:cxn modelId="{65AE5B90-ACA0-46E6-8BD8-D60CE3FE275D}" type="presParOf" srcId="{46BBF1B4-B181-4843-808C-DD9DDB711FA0}" destId="{82094F72-BC58-4830-BEDE-46B3655F1ACD}" srcOrd="0" destOrd="0" presId="urn:microsoft.com/office/officeart/2005/8/layout/hierarchy1"/>
    <dgm:cxn modelId="{BC4FFFE2-A613-4226-ACBB-D8E926997AFB}" type="presParOf" srcId="{82094F72-BC58-4830-BEDE-46B3655F1ACD}" destId="{F53B96BE-A117-4382-B840-03713BC867A5}" srcOrd="0" destOrd="0" presId="urn:microsoft.com/office/officeart/2005/8/layout/hierarchy1"/>
    <dgm:cxn modelId="{FF5B72A0-475A-4EC4-86CB-9CC2EE40FF61}" type="presParOf" srcId="{F53B96BE-A117-4382-B840-03713BC867A5}" destId="{7961E66F-855D-4961-92DF-ED2D6673C76D}" srcOrd="0" destOrd="0" presId="urn:microsoft.com/office/officeart/2005/8/layout/hierarchy1"/>
    <dgm:cxn modelId="{6D1C82EE-C44D-49B9-A0CB-AE250F5B2063}" type="presParOf" srcId="{F53B96BE-A117-4382-B840-03713BC867A5}" destId="{8BFC0641-3C67-4521-BF4B-14D26F444E03}" srcOrd="1" destOrd="0" presId="urn:microsoft.com/office/officeart/2005/8/layout/hierarchy1"/>
    <dgm:cxn modelId="{DDBCBB7C-FFC7-4235-947A-60ACB4E05E65}" type="presParOf" srcId="{82094F72-BC58-4830-BEDE-46B3655F1ACD}" destId="{1785885E-86CF-4518-82A7-B10D6C28A112}" srcOrd="1" destOrd="0" presId="urn:microsoft.com/office/officeart/2005/8/layout/hierarchy1"/>
    <dgm:cxn modelId="{C5CC8BBE-5CBF-4D18-917F-FF3C13F5E30F}" type="presParOf" srcId="{46BBF1B4-B181-4843-808C-DD9DDB711FA0}" destId="{A8445F38-A1AA-4C0C-A67F-067794DB2EC7}" srcOrd="1" destOrd="0" presId="urn:microsoft.com/office/officeart/2005/8/layout/hierarchy1"/>
    <dgm:cxn modelId="{643DFC44-5D2C-4E1E-86B8-A5BDF80CD822}" type="presParOf" srcId="{A8445F38-A1AA-4C0C-A67F-067794DB2EC7}" destId="{779C7BC7-92CE-4D45-8666-449FD7453B3B}" srcOrd="0" destOrd="0" presId="urn:microsoft.com/office/officeart/2005/8/layout/hierarchy1"/>
    <dgm:cxn modelId="{05AA13EF-150F-4879-AB38-742789A3EF6D}" type="presParOf" srcId="{779C7BC7-92CE-4D45-8666-449FD7453B3B}" destId="{EA837F67-1A4A-4913-8EF9-506D32E38E77}" srcOrd="0" destOrd="0" presId="urn:microsoft.com/office/officeart/2005/8/layout/hierarchy1"/>
    <dgm:cxn modelId="{7C14CA6C-C2F3-4AB9-A413-22830C5FDDA4}" type="presParOf" srcId="{779C7BC7-92CE-4D45-8666-449FD7453B3B}" destId="{8F51E780-222C-4E5D-A593-6FEAE581FB42}" srcOrd="1" destOrd="0" presId="urn:microsoft.com/office/officeart/2005/8/layout/hierarchy1"/>
    <dgm:cxn modelId="{EEAB2E86-E865-44B1-969A-4D0A3946D6D2}" type="presParOf" srcId="{A8445F38-A1AA-4C0C-A67F-067794DB2EC7}" destId="{2F6E245B-FE80-482E-9FE6-9241A720648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6CB11-8DC5-43D5-865B-434599EA30A0}">
      <dsp:nvSpPr>
        <dsp:cNvPr id="0" name=""/>
        <dsp:cNvSpPr/>
      </dsp:nvSpPr>
      <dsp:spPr>
        <a:xfrm>
          <a:off x="1361" y="113499"/>
          <a:ext cx="4780382" cy="30355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349EDE-79D0-4043-AFBB-C3BC92A34C41}">
      <dsp:nvSpPr>
        <dsp:cNvPr id="0" name=""/>
        <dsp:cNvSpPr/>
      </dsp:nvSpPr>
      <dsp:spPr>
        <a:xfrm>
          <a:off x="532515" y="618095"/>
          <a:ext cx="4780382" cy="30355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baseline="0"/>
            <a:t>The os Module:</a:t>
          </a:r>
          <a:r>
            <a:rPr lang="en-US" sz="2700" b="0" i="0" kern="1200" baseline="0"/>
            <a:t> Used for interacting with the operating system's structure. You use it to create directories, list files, and delete empty folders.</a:t>
          </a:r>
          <a:endParaRPr lang="en-US" sz="2700" kern="1200"/>
        </a:p>
      </dsp:txBody>
      <dsp:txXfrm>
        <a:off x="621423" y="707003"/>
        <a:ext cx="4602566" cy="2857726"/>
      </dsp:txXfrm>
    </dsp:sp>
    <dsp:sp modelId="{C3D45D61-2BCB-4E1E-BA62-0D3726915F35}">
      <dsp:nvSpPr>
        <dsp:cNvPr id="0" name=""/>
        <dsp:cNvSpPr/>
      </dsp:nvSpPr>
      <dsp:spPr>
        <a:xfrm>
          <a:off x="5844051" y="113499"/>
          <a:ext cx="4780382" cy="30355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9DAC67-9984-49F6-91D6-CFBCB3585CD3}">
      <dsp:nvSpPr>
        <dsp:cNvPr id="0" name=""/>
        <dsp:cNvSpPr/>
      </dsp:nvSpPr>
      <dsp:spPr>
        <a:xfrm>
          <a:off x="6375205" y="618095"/>
          <a:ext cx="4780382" cy="30355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baseline="0"/>
            <a:t>The shutil Module:</a:t>
          </a:r>
          <a:r>
            <a:rPr lang="en-US" sz="2700" b="0" i="0" kern="1200" baseline="0"/>
            <a:t> "Shell Utilities." This is the heavy lifter for data movement. You use it to copy files, move files across drives, or delete entire directories that are full of data (rmtree).</a:t>
          </a:r>
          <a:endParaRPr lang="en-US" sz="2700" kern="1200"/>
        </a:p>
      </dsp:txBody>
      <dsp:txXfrm>
        <a:off x="6464113" y="707003"/>
        <a:ext cx="4602566" cy="28577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D4E91D-C833-4050-ACDA-FD61491EA8E3}">
      <dsp:nvSpPr>
        <dsp:cNvPr id="0" name=""/>
        <dsp:cNvSpPr/>
      </dsp:nvSpPr>
      <dsp:spPr>
        <a:xfrm>
          <a:off x="1361" y="113499"/>
          <a:ext cx="4780382" cy="30355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123163-5602-4E2F-B2C4-39D635E4D8CB}">
      <dsp:nvSpPr>
        <dsp:cNvPr id="0" name=""/>
        <dsp:cNvSpPr/>
      </dsp:nvSpPr>
      <dsp:spPr>
        <a:xfrm>
          <a:off x="532515" y="618095"/>
          <a:ext cx="4780382" cy="30355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baseline="0"/>
            <a:t>The Problem:</a:t>
          </a:r>
          <a:r>
            <a:rPr lang="en-US" sz="2400" b="0" i="0" kern="1200" baseline="0"/>
            <a:t> Windows uses backslashes for paths (C:\data\images), while Mac and Linux (and most servers) use forward slashes (/data/images). If you hardcode slashes, your script will crash when someone else runs it.</a:t>
          </a:r>
          <a:endParaRPr lang="en-US" sz="2400" kern="1200"/>
        </a:p>
      </dsp:txBody>
      <dsp:txXfrm>
        <a:off x="621423" y="707003"/>
        <a:ext cx="4602566" cy="2857726"/>
      </dsp:txXfrm>
    </dsp:sp>
    <dsp:sp modelId="{E41B9A94-7E8D-453A-AC79-8404BA540EAA}">
      <dsp:nvSpPr>
        <dsp:cNvPr id="0" name=""/>
        <dsp:cNvSpPr/>
      </dsp:nvSpPr>
      <dsp:spPr>
        <a:xfrm>
          <a:off x="5844051" y="113499"/>
          <a:ext cx="4780382" cy="30355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57B6F1-A138-441C-95CB-F42A16FF9426}">
      <dsp:nvSpPr>
        <dsp:cNvPr id="0" name=""/>
        <dsp:cNvSpPr/>
      </dsp:nvSpPr>
      <dsp:spPr>
        <a:xfrm>
          <a:off x="6375205" y="618095"/>
          <a:ext cx="4780382" cy="30355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i="0" kern="1200" baseline="0"/>
            <a:t>The Solution:</a:t>
          </a:r>
          <a:r>
            <a:rPr lang="en-US" sz="2400" b="0" i="0" kern="1200" baseline="0"/>
            <a:t> pathlib. Introduced in modern Python, it treats paths not as "text strings", but as smart </a:t>
          </a:r>
          <a:r>
            <a:rPr lang="en-US" sz="2400" b="0" i="1" kern="1200" baseline="0"/>
            <a:t>objects</a:t>
          </a:r>
          <a:r>
            <a:rPr lang="en-US" sz="2400" b="0" i="0" kern="1200" baseline="0"/>
            <a:t>. It automatically uses the correct slash for whatever operating system it is currently running on.</a:t>
          </a:r>
          <a:endParaRPr lang="en-US" sz="2400" kern="1200"/>
        </a:p>
      </dsp:txBody>
      <dsp:txXfrm>
        <a:off x="6464113" y="707003"/>
        <a:ext cx="4602566" cy="28577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61E66F-855D-4961-92DF-ED2D6673C76D}">
      <dsp:nvSpPr>
        <dsp:cNvPr id="0" name=""/>
        <dsp:cNvSpPr/>
      </dsp:nvSpPr>
      <dsp:spPr>
        <a:xfrm>
          <a:off x="1361" y="113499"/>
          <a:ext cx="4780382" cy="30355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C0641-3C67-4521-BF4B-14D26F444E03}">
      <dsp:nvSpPr>
        <dsp:cNvPr id="0" name=""/>
        <dsp:cNvSpPr/>
      </dsp:nvSpPr>
      <dsp:spPr>
        <a:xfrm>
          <a:off x="532515" y="618095"/>
          <a:ext cx="4780382" cy="30355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baseline="0"/>
            <a:t>Beyond the Data:</a:t>
          </a:r>
          <a:r>
            <a:rPr lang="en-US" sz="2700" b="0" i="0" kern="1200" baseline="0"/>
            <a:t> A file is more than just the image or text inside it. The Operating System stores "Metadata" (data about the data).</a:t>
          </a:r>
          <a:endParaRPr lang="en-US" sz="2700" kern="1200"/>
        </a:p>
      </dsp:txBody>
      <dsp:txXfrm>
        <a:off x="621423" y="707003"/>
        <a:ext cx="4602566" cy="2857726"/>
      </dsp:txXfrm>
    </dsp:sp>
    <dsp:sp modelId="{EA837F67-1A4A-4913-8EF9-506D32E38E77}">
      <dsp:nvSpPr>
        <dsp:cNvPr id="0" name=""/>
        <dsp:cNvSpPr/>
      </dsp:nvSpPr>
      <dsp:spPr>
        <a:xfrm>
          <a:off x="5844051" y="113499"/>
          <a:ext cx="4780382" cy="303554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51E780-222C-4E5D-A593-6FEAE581FB42}">
      <dsp:nvSpPr>
        <dsp:cNvPr id="0" name=""/>
        <dsp:cNvSpPr/>
      </dsp:nvSpPr>
      <dsp:spPr>
        <a:xfrm>
          <a:off x="6375205" y="618095"/>
          <a:ext cx="4780382" cy="30355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baseline="0"/>
            <a:t>What we can read:</a:t>
          </a:r>
          <a:r>
            <a:rPr lang="en-US" sz="2700" b="0" i="0" kern="1200" baseline="0"/>
            <a:t> With Python, we can instantly read a file's exact size in bytes, the exact second it was created or modified, and whether it is "Read-Only." This is critical for data validation pipelines.</a:t>
          </a:r>
          <a:endParaRPr lang="en-US" sz="2700" kern="1200"/>
        </a:p>
      </dsp:txBody>
      <dsp:txXfrm>
        <a:off x="6464113" y="707003"/>
        <a:ext cx="4602566" cy="285772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538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29313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7612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617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21976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97108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01649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5926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4267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80046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4/22/2026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8241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4/22/2026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6655586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2D8D50DA-DC4E-3702-6EBC-80965D733AA7}"/>
              </a:ext>
            </a:extLst>
          </p:cNvPr>
          <p:cNvPicPr>
            <a:picLocks noChangeAspect="1"/>
          </p:cNvPicPr>
          <p:nvPr/>
        </p:nvPicPr>
        <p:blipFill>
          <a:blip r:embed="rId2">
            <a:alphaModFix amt="40000"/>
          </a:blip>
          <a:srcRect t="12315" b="12685"/>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6BFAC5B7-B23C-2464-360B-05C4ECC14771}"/>
              </a:ext>
            </a:extLst>
          </p:cNvPr>
          <p:cNvSpPr>
            <a:spLocks noGrp="1"/>
          </p:cNvSpPr>
          <p:nvPr>
            <p:ph type="ctrTitle"/>
          </p:nvPr>
        </p:nvSpPr>
        <p:spPr>
          <a:xfrm>
            <a:off x="517870" y="978408"/>
            <a:ext cx="9856216" cy="1862764"/>
          </a:xfrm>
        </p:spPr>
        <p:txBody>
          <a:bodyPr anchor="t">
            <a:normAutofit fontScale="90000"/>
          </a:bodyPr>
          <a:lstStyle/>
          <a:p>
            <a:r>
              <a:rPr lang="en-US" sz="6000" dirty="0">
                <a:solidFill>
                  <a:srgbClr val="FFFFFF"/>
                </a:solidFill>
              </a:rPr>
              <a:t>Welcome &amp; Module Induction</a:t>
            </a:r>
          </a:p>
        </p:txBody>
      </p:sp>
      <p:sp>
        <p:nvSpPr>
          <p:cNvPr id="4" name="Rectangle 1">
            <a:extLst>
              <a:ext uri="{FF2B5EF4-FFF2-40B4-BE49-F238E27FC236}">
                <a16:creationId xmlns:a16="http://schemas.microsoft.com/office/drawing/2014/main" id="{AB57DBCB-CEE6-60DC-4770-2DCC3F143DD9}"/>
              </a:ext>
            </a:extLst>
          </p:cNvPr>
          <p:cNvSpPr>
            <a:spLocks noGrp="1" noChangeArrowheads="1"/>
          </p:cNvSpPr>
          <p:nvPr>
            <p:ph type="subTitle" idx="1"/>
          </p:nvPr>
        </p:nvSpPr>
        <p:spPr bwMode="auto">
          <a:xfrm>
            <a:off x="517870" y="2449286"/>
            <a:ext cx="9627616" cy="375719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fontScale="92500" lnSpcReduction="20000"/>
          </a:bodyPr>
          <a:lstStyle/>
          <a:p>
            <a:pPr marL="0" marR="0" lvl="0" indent="0" defTabSz="914400" rtl="0" eaLnBrk="0" fontAlgn="base" latinLnBrk="0" hangingPunct="0">
              <a:lnSpc>
                <a:spcPct val="100000"/>
              </a:lnSpc>
              <a:spcBef>
                <a:spcPct val="0"/>
              </a:spcBef>
              <a:spcAft>
                <a:spcPts val="600"/>
              </a:spcAft>
              <a:buClrTx/>
              <a:buSzTx/>
              <a:tabLst/>
            </a:pPr>
            <a:r>
              <a:rPr kumimoji="0" lang="en-US" altLang="en-US" sz="2000" b="1" i="0" u="none" strike="noStrike" cap="none" normalizeH="0" baseline="0" dirty="0">
                <a:ln>
                  <a:noFill/>
                </a:ln>
                <a:solidFill>
                  <a:srgbClr val="FFFFFF"/>
                </a:solidFill>
                <a:effectLst/>
                <a:latin typeface="Arial" panose="020B0604020202020204" pitchFamily="34" charset="0"/>
              </a:rPr>
              <a:t>What we learned previously:</a:t>
            </a:r>
            <a:r>
              <a:rPr kumimoji="0" lang="en-US" altLang="en-US" sz="2000" b="0" i="0" u="none" strike="noStrike" cap="none" normalizeH="0" baseline="0" dirty="0">
                <a:ln>
                  <a:noFill/>
                </a:ln>
                <a:solidFill>
                  <a:srgbClr val="FFFFFF"/>
                </a:solidFill>
                <a:effectLst/>
                <a:latin typeface="Arial" panose="020B0604020202020204" pitchFamily="34" charset="0"/>
              </a:rPr>
              <a:t> In Module 4, we learned how to track and protect our code using Git, allowing us to collaborate safely and revert mistakes using terminal commands.</a:t>
            </a:r>
          </a:p>
          <a:p>
            <a:pPr marL="0" marR="0" lvl="0" indent="0" defTabSz="914400" rtl="0" eaLnBrk="0" fontAlgn="base" latinLnBrk="0" hangingPunct="0">
              <a:lnSpc>
                <a:spcPct val="100000"/>
              </a:lnSpc>
              <a:spcBef>
                <a:spcPct val="0"/>
              </a:spcBef>
              <a:spcAft>
                <a:spcPts val="600"/>
              </a:spcAft>
              <a:buClrTx/>
              <a:buSzTx/>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tabLst/>
            </a:pPr>
            <a:r>
              <a:rPr kumimoji="0" lang="en-US" altLang="en-US" sz="2000" b="1" i="0" u="none" strike="noStrike" cap="none" normalizeH="0" baseline="0" dirty="0">
                <a:ln>
                  <a:noFill/>
                </a:ln>
                <a:solidFill>
                  <a:srgbClr val="FFFFFF"/>
                </a:solidFill>
                <a:effectLst/>
                <a:latin typeface="Arial" panose="020B0604020202020204" pitchFamily="34" charset="0"/>
              </a:rPr>
              <a:t>What we are learning today:</a:t>
            </a:r>
            <a:r>
              <a:rPr kumimoji="0" lang="en-US" altLang="en-US" sz="2000" b="0" i="0" u="none" strike="noStrike" cap="none" normalizeH="0" baseline="0" dirty="0">
                <a:ln>
                  <a:noFill/>
                </a:ln>
                <a:solidFill>
                  <a:srgbClr val="FFFFFF"/>
                </a:solidFill>
                <a:effectLst/>
                <a:latin typeface="Arial" panose="020B0604020202020204" pitchFamily="34" charset="0"/>
              </a:rPr>
              <a:t> We are going to write code that controls the Operating System itself. We will learn how to programmatically move, rename, and analyze thousands of files at once using Python’s built-in </a:t>
            </a:r>
            <a:r>
              <a:rPr kumimoji="0" lang="en-US" altLang="en-US" sz="2000" b="0" i="0" u="none" strike="noStrike" cap="none" normalizeH="0" baseline="0" dirty="0" err="1">
                <a:ln>
                  <a:noFill/>
                </a:ln>
                <a:solidFill>
                  <a:srgbClr val="FFFFFF"/>
                </a:solidFill>
                <a:effectLst/>
                <a:latin typeface="Arial Unicode MS"/>
              </a:rPr>
              <a:t>os</a:t>
            </a:r>
            <a:r>
              <a:rPr kumimoji="0" lang="en-US" altLang="en-US" sz="2000" b="0" i="0" u="none" strike="noStrike" cap="none" normalizeH="0" baseline="0" dirty="0">
                <a:ln>
                  <a:noFill/>
                </a:ln>
                <a:solidFill>
                  <a:srgbClr val="FFFFFF"/>
                </a:solidFill>
                <a:effectLst/>
              </a:rPr>
              <a:t>, </a:t>
            </a:r>
            <a:r>
              <a:rPr kumimoji="0" lang="en-US" altLang="en-US" sz="2000" b="0" i="0" u="none" strike="noStrike" cap="none" normalizeH="0" baseline="0" dirty="0" err="1">
                <a:ln>
                  <a:noFill/>
                </a:ln>
                <a:solidFill>
                  <a:srgbClr val="FFFFFF"/>
                </a:solidFill>
                <a:effectLst/>
                <a:latin typeface="Arial Unicode MS"/>
              </a:rPr>
              <a:t>shutil</a:t>
            </a:r>
            <a:r>
              <a:rPr kumimoji="0" lang="en-US" altLang="en-US" sz="2000" b="0" i="0" u="none" strike="noStrike" cap="none" normalizeH="0" baseline="0" dirty="0">
                <a:ln>
                  <a:noFill/>
                </a:ln>
                <a:solidFill>
                  <a:srgbClr val="FFFFFF"/>
                </a:solidFill>
                <a:effectLst/>
              </a:rPr>
              <a:t>, and </a:t>
            </a:r>
            <a:r>
              <a:rPr kumimoji="0" lang="en-US" altLang="en-US" sz="2000" b="0" i="0" u="none" strike="noStrike" cap="none" normalizeH="0" baseline="0" dirty="0" err="1">
                <a:ln>
                  <a:noFill/>
                </a:ln>
                <a:solidFill>
                  <a:srgbClr val="FFFFFF"/>
                </a:solidFill>
                <a:effectLst/>
                <a:latin typeface="Arial Unicode MS"/>
              </a:rPr>
              <a:t>pathlib</a:t>
            </a:r>
            <a:r>
              <a:rPr kumimoji="0" lang="en-US" altLang="en-US" sz="2000" b="0" i="0" u="none" strike="noStrike" cap="none" normalizeH="0" baseline="0" dirty="0">
                <a:ln>
                  <a:noFill/>
                </a:ln>
                <a:solidFill>
                  <a:srgbClr val="FFFFFF"/>
                </a:solidFill>
                <a:effectLst/>
              </a:rPr>
              <a:t> modules.</a:t>
            </a:r>
          </a:p>
          <a:p>
            <a:pPr marL="0" marR="0" lvl="0" indent="0" defTabSz="914400" rtl="0" eaLnBrk="0" fontAlgn="base" latinLnBrk="0" hangingPunct="0">
              <a:lnSpc>
                <a:spcPct val="100000"/>
              </a:lnSpc>
              <a:spcBef>
                <a:spcPct val="0"/>
              </a:spcBef>
              <a:spcAft>
                <a:spcPts val="600"/>
              </a:spcAft>
              <a:buClrTx/>
              <a:buSzTx/>
              <a:tabLst/>
            </a:pPr>
            <a:endParaRPr kumimoji="0" lang="en-US" altLang="en-US" sz="2000" b="0" i="0" u="none" strike="noStrike" cap="none" normalizeH="0" baseline="0" dirty="0">
              <a:ln>
                <a:noFill/>
              </a:ln>
              <a:solidFill>
                <a:srgbClr val="FFFFFF"/>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tabLst/>
            </a:pPr>
            <a:r>
              <a:rPr kumimoji="0" lang="en-US" altLang="en-US" sz="2000" b="1" i="0" u="none" strike="noStrike" cap="none" normalizeH="0" baseline="0" dirty="0">
                <a:ln>
                  <a:noFill/>
                </a:ln>
                <a:solidFill>
                  <a:srgbClr val="FFFFFF"/>
                </a:solidFill>
                <a:effectLst/>
                <a:latin typeface="Arial" panose="020B0604020202020204" pitchFamily="34" charset="0"/>
              </a:rPr>
              <a:t>Why this will be helpful:</a:t>
            </a:r>
            <a:r>
              <a:rPr kumimoji="0" lang="en-US" altLang="en-US" sz="2000" b="0" i="0" u="none" strike="noStrike" cap="none" normalizeH="0" baseline="0" dirty="0">
                <a:ln>
                  <a:noFill/>
                </a:ln>
                <a:solidFill>
                  <a:srgbClr val="FFFFFF"/>
                </a:solidFill>
                <a:effectLst/>
                <a:latin typeface="Arial" panose="020B0604020202020204" pitchFamily="34" charset="0"/>
              </a:rPr>
              <a:t> In AI and Computer Vision, you rarely work with just one file. You work with datasets containing 50,000 thermal images. If you need to separate the images into "Training" and "Validation" folders, or delete every corrupted image under 5KB, you cannot do it by hand. Today, you will learn how to write a script that does it in milliseconds.</a:t>
            </a: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157986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CC0BE1-9659-E89C-84A2-BF5F05C815E4}"/>
              </a:ext>
            </a:extLst>
          </p:cNvPr>
          <p:cNvSpPr>
            <a:spLocks noGrp="1"/>
          </p:cNvSpPr>
          <p:nvPr>
            <p:ph type="title"/>
          </p:nvPr>
        </p:nvSpPr>
        <p:spPr>
          <a:xfrm>
            <a:off x="521208" y="978408"/>
            <a:ext cx="11155680" cy="1463040"/>
          </a:xfrm>
        </p:spPr>
        <p:txBody>
          <a:bodyPr>
            <a:normAutofit/>
          </a:bodyPr>
          <a:lstStyle/>
          <a:p>
            <a:r>
              <a:rPr lang="en-US" dirty="0"/>
              <a:t>The </a:t>
            </a:r>
            <a:r>
              <a:rPr lang="en-US" dirty="0" err="1"/>
              <a:t>os</a:t>
            </a:r>
            <a:r>
              <a:rPr lang="en-US" dirty="0"/>
              <a:t> and </a:t>
            </a:r>
            <a:r>
              <a:rPr lang="en-US" dirty="0" err="1"/>
              <a:t>shutil</a:t>
            </a:r>
            <a:r>
              <a:rPr lang="en-US" dirty="0"/>
              <a:t> Modules (The Heavy Lifters)</a:t>
            </a:r>
          </a:p>
        </p:txBody>
      </p:sp>
      <p:sp>
        <p:nvSpPr>
          <p:cNvPr id="12" name="Rectangle 11">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A884B97A-B394-D85B-5677-AFF76DBC8A3A}"/>
              </a:ext>
            </a:extLst>
          </p:cNvPr>
          <p:cNvGraphicFramePr>
            <a:graphicFrameLocks noGrp="1"/>
          </p:cNvGraphicFramePr>
          <p:nvPr>
            <p:ph idx="1"/>
            <p:extLst>
              <p:ext uri="{D42A27DB-BD31-4B8C-83A1-F6EECF244321}">
                <p14:modId xmlns:p14="http://schemas.microsoft.com/office/powerpoint/2010/main" val="1178050617"/>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9928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155B23-7FCB-FDB1-7414-ECE3CCF9D3AA}"/>
              </a:ext>
            </a:extLst>
          </p:cNvPr>
          <p:cNvSpPr>
            <a:spLocks noGrp="1"/>
          </p:cNvSpPr>
          <p:nvPr>
            <p:ph type="title"/>
          </p:nvPr>
        </p:nvSpPr>
        <p:spPr>
          <a:xfrm>
            <a:off x="521208" y="978408"/>
            <a:ext cx="11155680" cy="1463040"/>
          </a:xfrm>
        </p:spPr>
        <p:txBody>
          <a:bodyPr>
            <a:normAutofit/>
          </a:bodyPr>
          <a:lstStyle/>
          <a:p>
            <a:r>
              <a:rPr lang="en-US" dirty="0" err="1"/>
              <a:t>pathlib</a:t>
            </a:r>
            <a:r>
              <a:rPr lang="en-US" dirty="0"/>
              <a:t> (The Modern Standard)</a:t>
            </a:r>
          </a:p>
        </p:txBody>
      </p:sp>
      <p:sp>
        <p:nvSpPr>
          <p:cNvPr id="12" name="Rectangle 11">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8B8C0ABA-C013-2474-8909-B03922833647}"/>
              </a:ext>
            </a:extLst>
          </p:cNvPr>
          <p:cNvGraphicFramePr>
            <a:graphicFrameLocks noGrp="1"/>
          </p:cNvGraphicFramePr>
          <p:nvPr>
            <p:ph idx="1"/>
            <p:extLst>
              <p:ext uri="{D42A27DB-BD31-4B8C-83A1-F6EECF244321}">
                <p14:modId xmlns:p14="http://schemas.microsoft.com/office/powerpoint/2010/main" val="298880923"/>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4456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4070F1-9220-9228-B2F0-4FFFA6EDDE75}"/>
              </a:ext>
            </a:extLst>
          </p:cNvPr>
          <p:cNvSpPr>
            <a:spLocks noGrp="1"/>
          </p:cNvSpPr>
          <p:nvPr>
            <p:ph type="title"/>
          </p:nvPr>
        </p:nvSpPr>
        <p:spPr>
          <a:xfrm>
            <a:off x="521208" y="978408"/>
            <a:ext cx="11155680" cy="1463040"/>
          </a:xfrm>
        </p:spPr>
        <p:txBody>
          <a:bodyPr>
            <a:normAutofit/>
          </a:bodyPr>
          <a:lstStyle/>
          <a:p>
            <a:r>
              <a:rPr lang="en-US" dirty="0"/>
              <a:t>File Permissions &amp; Metadata</a:t>
            </a:r>
          </a:p>
        </p:txBody>
      </p:sp>
      <p:sp>
        <p:nvSpPr>
          <p:cNvPr id="12" name="Rectangle 11">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F2285CFD-BE05-9C25-42E4-1D5371EDC1E9}"/>
              </a:ext>
            </a:extLst>
          </p:cNvPr>
          <p:cNvGraphicFramePr>
            <a:graphicFrameLocks noGrp="1"/>
          </p:cNvGraphicFramePr>
          <p:nvPr>
            <p:ph idx="1"/>
            <p:extLst>
              <p:ext uri="{D42A27DB-BD31-4B8C-83A1-F6EECF244321}">
                <p14:modId xmlns:p14="http://schemas.microsoft.com/office/powerpoint/2010/main" val="3150360339"/>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296463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6</TotalTime>
  <Words>410</Words>
  <Application>Microsoft Office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Arial Unicode MS</vt:lpstr>
      <vt:lpstr>Bierstadt</vt:lpstr>
      <vt:lpstr>GestaltVTI</vt:lpstr>
      <vt:lpstr>Welcome &amp; Module Induction</vt:lpstr>
      <vt:lpstr>The os and shutil Modules (The Heavy Lifters)</vt:lpstr>
      <vt:lpstr>pathlib (The Modern Standard)</vt:lpstr>
      <vt:lpstr>File Permissions &amp; Metadata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zaryab ahmad khan</dc:creator>
  <cp:lastModifiedBy>zaryab ahmad khan</cp:lastModifiedBy>
  <cp:revision>1</cp:revision>
  <dcterms:created xsi:type="dcterms:W3CDTF">2026-04-22T07:24:01Z</dcterms:created>
  <dcterms:modified xsi:type="dcterms:W3CDTF">2026-04-22T07:31:27Z</dcterms:modified>
</cp:coreProperties>
</file>