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8" d="100"/>
          <a:sy n="58" d="100"/>
        </p:scale>
        <p:origin x="92"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87862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110407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8058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04644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98463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96902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009634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7624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18399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132313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9335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4/22/2026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092394587"/>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BEC44CD-E290-4D60-A056-5BA05B182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7C8E4E53-CDF4-6368-B23B-C786EC35BA27}"/>
              </a:ext>
            </a:extLst>
          </p:cNvPr>
          <p:cNvPicPr>
            <a:picLocks noChangeAspect="1"/>
          </p:cNvPicPr>
          <p:nvPr/>
        </p:nvPicPr>
        <p:blipFill>
          <a:blip r:embed="rId2">
            <a:alphaModFix amt="40000"/>
          </a:blip>
          <a:srcRect t="25594" b="18156"/>
          <a:stretch>
            <a:fillRect/>
          </a:stretch>
        </p:blipFill>
        <p:spPr>
          <a:xfrm>
            <a:off x="-2" y="-4"/>
            <a:ext cx="12192001" cy="6858001"/>
          </a:xfrm>
          <a:prstGeom prst="rect">
            <a:avLst/>
          </a:prstGeom>
        </p:spPr>
      </p:pic>
      <p:sp>
        <p:nvSpPr>
          <p:cNvPr id="2" name="Title 1">
            <a:extLst>
              <a:ext uri="{FF2B5EF4-FFF2-40B4-BE49-F238E27FC236}">
                <a16:creationId xmlns:a16="http://schemas.microsoft.com/office/drawing/2014/main" id="{656620A1-ABB5-3AC7-4455-B339B8E1E465}"/>
              </a:ext>
            </a:extLst>
          </p:cNvPr>
          <p:cNvSpPr>
            <a:spLocks noGrp="1"/>
          </p:cNvSpPr>
          <p:nvPr>
            <p:ph type="ctrTitle"/>
          </p:nvPr>
        </p:nvSpPr>
        <p:spPr>
          <a:xfrm>
            <a:off x="517870" y="978408"/>
            <a:ext cx="5021182" cy="2450592"/>
          </a:xfrm>
        </p:spPr>
        <p:txBody>
          <a:bodyPr anchor="t">
            <a:normAutofit/>
          </a:bodyPr>
          <a:lstStyle/>
          <a:p>
            <a:pPr>
              <a:lnSpc>
                <a:spcPct val="90000"/>
              </a:lnSpc>
            </a:pPr>
            <a:r>
              <a:rPr lang="en-US" sz="5600">
                <a:solidFill>
                  <a:srgbClr val="FFFFFF"/>
                </a:solidFill>
              </a:rPr>
              <a:t>Welcome &amp; Module Induction</a:t>
            </a:r>
          </a:p>
        </p:txBody>
      </p:sp>
      <p:sp>
        <p:nvSpPr>
          <p:cNvPr id="4" name="Rectangle 1">
            <a:extLst>
              <a:ext uri="{FF2B5EF4-FFF2-40B4-BE49-F238E27FC236}">
                <a16:creationId xmlns:a16="http://schemas.microsoft.com/office/drawing/2014/main" id="{5882C069-0868-897A-5E9A-30308EAA63C0}"/>
              </a:ext>
            </a:extLst>
          </p:cNvPr>
          <p:cNvSpPr>
            <a:spLocks noGrp="1" noChangeArrowheads="1"/>
          </p:cNvSpPr>
          <p:nvPr>
            <p:ph type="subTitle" idx="1"/>
          </p:nvPr>
        </p:nvSpPr>
        <p:spPr bwMode="auto">
          <a:xfrm>
            <a:off x="4847422" y="2214390"/>
            <a:ext cx="6845729" cy="363222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0" rIns="91440" bIns="45720" numCol="1" anchor="b" anchorCtr="0" compatLnSpc="1">
            <a:prstTxWarp prst="textNoShape">
              <a:avLst/>
            </a:prstTxWarp>
            <a:normAutofit fontScale="92500" lnSpcReduction="20000"/>
          </a:bodyPr>
          <a:lstStyle/>
          <a:p>
            <a:pPr marL="171450" marR="0" lvl="0" indent="-171450"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2000" b="1" i="0" u="none" strike="noStrike" cap="none" normalizeH="0" baseline="0" dirty="0">
                <a:ln>
                  <a:noFill/>
                </a:ln>
                <a:solidFill>
                  <a:srgbClr val="FFFFFF"/>
                </a:solidFill>
                <a:effectLst/>
                <a:latin typeface="Google Sans Text"/>
              </a:rPr>
              <a:t>What we learned previously:</a:t>
            </a:r>
            <a:r>
              <a:rPr kumimoji="0" lang="en-US" altLang="en-US" sz="2000" b="0" i="0" u="none" strike="noStrike" cap="none" normalizeH="0" baseline="0" dirty="0">
                <a:ln>
                  <a:noFill/>
                </a:ln>
                <a:solidFill>
                  <a:srgbClr val="FFFFFF"/>
                </a:solidFill>
                <a:effectLst/>
                <a:latin typeface="Google Sans Text"/>
              </a:rPr>
              <a:t> In Module 9, we mastered Logging and Diagnostics, moving away from temporary prints to a professional system that tracks errors and manages disk space via rotating logs. </a:t>
            </a:r>
          </a:p>
          <a:p>
            <a:pPr marL="171450" marR="0" lvl="0" indent="-171450"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2000" b="1" i="0" u="none" strike="noStrike" cap="none" normalizeH="0" baseline="0" dirty="0">
                <a:ln>
                  <a:noFill/>
                </a:ln>
                <a:solidFill>
                  <a:srgbClr val="FFFFFF"/>
                </a:solidFill>
                <a:effectLst/>
                <a:latin typeface="Google Sans Text"/>
              </a:rPr>
              <a:t>What we are learning today:</a:t>
            </a:r>
            <a:r>
              <a:rPr kumimoji="0" lang="en-US" altLang="en-US" sz="2000" b="0" i="0" u="none" strike="noStrike" cap="none" normalizeH="0" baseline="0" dirty="0">
                <a:ln>
                  <a:noFill/>
                </a:ln>
                <a:solidFill>
                  <a:srgbClr val="FFFFFF"/>
                </a:solidFill>
                <a:effectLst/>
                <a:latin typeface="Google Sans Text"/>
              </a:rPr>
              <a:t> We are connecting our Python scripts to the world. We will learn HTTP basics (GET, POST, PUT, DELETE), JSON manipulation, and how to securely access private data using API Keys and Tokens. </a:t>
            </a:r>
          </a:p>
          <a:p>
            <a:pPr marL="171450" marR="0" lvl="0" indent="-171450"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2000" b="1" i="0" u="none" strike="noStrike" cap="none" normalizeH="0" baseline="0" dirty="0">
                <a:ln>
                  <a:noFill/>
                </a:ln>
                <a:solidFill>
                  <a:srgbClr val="FFFFFF"/>
                </a:solidFill>
                <a:effectLst/>
                <a:latin typeface="Google Sans Text"/>
              </a:rPr>
              <a:t>Why this will be helpful:</a:t>
            </a:r>
            <a:r>
              <a:rPr kumimoji="0" lang="en-US" altLang="en-US" sz="2000" b="0" i="0" u="none" strike="noStrike" cap="none" normalizeH="0" baseline="0" dirty="0">
                <a:ln>
                  <a:noFill/>
                </a:ln>
                <a:solidFill>
                  <a:srgbClr val="FFFFFF"/>
                </a:solidFill>
                <a:effectLst/>
                <a:latin typeface="Google Sans Text"/>
              </a:rPr>
              <a:t> In modern AI engineering, your code rarely works in isolation. You need to fetch live weather data, send images to a cloud-based GPU for processing, or interact with Large Language Models like OpenAI’s GPT-4. Mastering the requests library allows you to build software that communicates across the entire internet. </a:t>
            </a:r>
            <a:endParaRPr kumimoji="0" lang="en-US" altLang="en-US" sz="2000" b="0" i="0" u="none" strike="noStrike" cap="none" normalizeH="0" baseline="0" dirty="0">
              <a:ln>
                <a:noFill/>
              </a:ln>
              <a:solidFill>
                <a:srgbClr val="FFFFFF"/>
              </a:solidFill>
              <a:effectLst/>
              <a:latin typeface="Arial" panose="020B0604020202020204" pitchFamily="34" charset="0"/>
            </a:endParaRPr>
          </a:p>
        </p:txBody>
      </p:sp>
      <p:sp>
        <p:nvSpPr>
          <p:cNvPr id="11" name="Rectangle 10">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573196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6" name="Rectangle 2055">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91CDABF-E4FA-7836-506E-ED2EEC7347D2}"/>
              </a:ext>
            </a:extLst>
          </p:cNvPr>
          <p:cNvSpPr>
            <a:spLocks noGrp="1"/>
          </p:cNvSpPr>
          <p:nvPr>
            <p:ph type="title"/>
          </p:nvPr>
        </p:nvSpPr>
        <p:spPr>
          <a:xfrm>
            <a:off x="521208" y="978408"/>
            <a:ext cx="6300216" cy="1325880"/>
          </a:xfrm>
        </p:spPr>
        <p:txBody>
          <a:bodyPr>
            <a:normAutofit/>
          </a:bodyPr>
          <a:lstStyle/>
          <a:p>
            <a:pPr>
              <a:lnSpc>
                <a:spcPct val="90000"/>
              </a:lnSpc>
            </a:pPr>
            <a:r>
              <a:rPr lang="en-US" dirty="0"/>
              <a:t>HTTP Basics &amp; The requests Library</a:t>
            </a:r>
            <a:endParaRPr lang="en-US"/>
          </a:p>
        </p:txBody>
      </p:sp>
      <p:sp>
        <p:nvSpPr>
          <p:cNvPr id="2058" name="Rectangle 2057">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0" name="Rectangle 2059">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2051" name="Picture 3" descr="GET and POST Requests Using Python - GeeksforGeeks">
            <a:extLst>
              <a:ext uri="{FF2B5EF4-FFF2-40B4-BE49-F238E27FC236}">
                <a16:creationId xmlns:a16="http://schemas.microsoft.com/office/drawing/2014/main" id="{A66167B8-65F9-B49A-E37D-CC31835E09F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7867" y="2796715"/>
            <a:ext cx="6281928" cy="354928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a:extLst>
              <a:ext uri="{FF2B5EF4-FFF2-40B4-BE49-F238E27FC236}">
                <a16:creationId xmlns:a16="http://schemas.microsoft.com/office/drawing/2014/main" id="{7DB69314-C49E-8DC1-0986-C4054E9A618A}"/>
              </a:ext>
            </a:extLst>
          </p:cNvPr>
          <p:cNvSpPr>
            <a:spLocks noGrp="1" noChangeArrowheads="1"/>
          </p:cNvSpPr>
          <p:nvPr>
            <p:ph idx="1"/>
          </p:nvPr>
        </p:nvSpPr>
        <p:spPr bwMode="auto">
          <a:xfrm>
            <a:off x="7507224" y="1088136"/>
            <a:ext cx="4160520" cy="52578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0" rIns="91440" bIns="45720" numCol="1" anchorCtr="0" compatLnSpc="1">
            <a:prstTxWarp prst="textNoShape">
              <a:avLst/>
            </a:prstTxWarp>
            <a:normAutofit fontScale="92500" lnSpcReduction="20000"/>
          </a:bodyPr>
          <a:lstStyle/>
          <a:p>
            <a:pPr eaLnBrk="0" fontAlgn="base" hangingPunct="0">
              <a:spcBef>
                <a:spcPct val="0"/>
              </a:spcBef>
              <a:spcAft>
                <a:spcPts val="600"/>
              </a:spcAft>
            </a:pPr>
            <a:r>
              <a:rPr kumimoji="0" lang="en-US" altLang="en-US" sz="2400" b="1" i="0" u="none" strike="noStrike" cap="none" normalizeH="0" baseline="0" dirty="0">
                <a:ln>
                  <a:noFill/>
                </a:ln>
                <a:effectLst/>
                <a:latin typeface="Google Sans Text"/>
              </a:rPr>
              <a:t>The Concept:</a:t>
            </a:r>
            <a:r>
              <a:rPr kumimoji="0" lang="en-US" altLang="en-US" sz="2400" b="0" i="0" u="none" strike="noStrike" cap="none" normalizeH="0" baseline="0" dirty="0">
                <a:ln>
                  <a:noFill/>
                </a:ln>
                <a:effectLst/>
                <a:latin typeface="Google Sans Text"/>
              </a:rPr>
              <a:t> HTTP is the language of the web. The requests library allows Python to "talk" to websites. </a:t>
            </a:r>
          </a:p>
          <a:p>
            <a:pPr eaLnBrk="0" fontAlgn="base" hangingPunct="0">
              <a:spcBef>
                <a:spcPct val="0"/>
              </a:spcBef>
              <a:spcAft>
                <a:spcPts val="600"/>
              </a:spcAft>
            </a:pPr>
            <a:r>
              <a:rPr kumimoji="0" lang="en-US" altLang="en-US" sz="2400" b="1" i="0" u="none" strike="noStrike" cap="none" normalizeH="0" baseline="0" dirty="0">
                <a:ln>
                  <a:noFill/>
                </a:ln>
                <a:effectLst/>
                <a:latin typeface="Google Sans Text"/>
              </a:rPr>
              <a:t>The Core Verbs:</a:t>
            </a:r>
            <a:endParaRPr kumimoji="0" lang="en-US" altLang="en-US" sz="2400" b="0" i="0" u="none" strike="noStrike" cap="none" normalizeH="0" baseline="0" dirty="0">
              <a:ln>
                <a:noFill/>
              </a:ln>
              <a:effectLst/>
              <a:latin typeface="Google Sans Text"/>
            </a:endParaRPr>
          </a:p>
          <a:p>
            <a:pPr eaLnBrk="0" fontAlgn="base" hangingPunct="0">
              <a:spcBef>
                <a:spcPct val="0"/>
              </a:spcBef>
              <a:spcAft>
                <a:spcPts val="600"/>
              </a:spcAft>
            </a:pPr>
            <a:r>
              <a:rPr kumimoji="0" lang="en-US" altLang="en-US" sz="2400" b="1" i="0" u="none" strike="noStrike" cap="none" normalizeH="0" baseline="0" dirty="0">
                <a:ln>
                  <a:noFill/>
                </a:ln>
                <a:effectLst/>
                <a:latin typeface="Google Sans Text"/>
              </a:rPr>
              <a:t>GET:</a:t>
            </a:r>
            <a:r>
              <a:rPr kumimoji="0" lang="en-US" altLang="en-US" sz="2400" b="0" i="0" u="none" strike="noStrike" cap="none" normalizeH="0" baseline="0" dirty="0">
                <a:ln>
                  <a:noFill/>
                </a:ln>
                <a:effectLst/>
                <a:latin typeface="Google Sans Text"/>
              </a:rPr>
              <a:t> Asking the server to send you data (like reading a webpage). </a:t>
            </a:r>
          </a:p>
          <a:p>
            <a:pPr eaLnBrk="0" fontAlgn="base" hangingPunct="0">
              <a:spcBef>
                <a:spcPct val="0"/>
              </a:spcBef>
              <a:spcAft>
                <a:spcPts val="600"/>
              </a:spcAft>
            </a:pPr>
            <a:r>
              <a:rPr kumimoji="0" lang="en-US" altLang="en-US" sz="2400" b="1" i="0" u="none" strike="noStrike" cap="none" normalizeH="0" baseline="0" dirty="0">
                <a:ln>
                  <a:noFill/>
                </a:ln>
                <a:effectLst/>
                <a:latin typeface="Google Sans Text"/>
              </a:rPr>
              <a:t>POST:</a:t>
            </a:r>
            <a:r>
              <a:rPr kumimoji="0" lang="en-US" altLang="en-US" sz="2400" b="0" i="0" u="none" strike="noStrike" cap="none" normalizeH="0" baseline="0" dirty="0">
                <a:ln>
                  <a:noFill/>
                </a:ln>
                <a:effectLst/>
                <a:latin typeface="Google Sans Text"/>
              </a:rPr>
              <a:t> Sending new data to a server (like submitting a login form). </a:t>
            </a:r>
          </a:p>
          <a:p>
            <a:pPr eaLnBrk="0" fontAlgn="base" hangingPunct="0">
              <a:spcBef>
                <a:spcPct val="0"/>
              </a:spcBef>
              <a:spcAft>
                <a:spcPts val="600"/>
              </a:spcAft>
            </a:pPr>
            <a:r>
              <a:rPr kumimoji="0" lang="en-US" altLang="en-US" sz="2400" b="1" i="0" u="none" strike="noStrike" cap="none" normalizeH="0" baseline="0" dirty="0">
                <a:ln>
                  <a:noFill/>
                </a:ln>
                <a:effectLst/>
                <a:latin typeface="Google Sans Text"/>
              </a:rPr>
              <a:t>PUT:</a:t>
            </a:r>
            <a:r>
              <a:rPr kumimoji="0" lang="en-US" altLang="en-US" sz="2400" b="0" i="0" u="none" strike="noStrike" cap="none" normalizeH="0" baseline="0" dirty="0">
                <a:ln>
                  <a:noFill/>
                </a:ln>
                <a:effectLst/>
                <a:latin typeface="Google Sans Text"/>
              </a:rPr>
              <a:t> Updating existing data on a server. </a:t>
            </a:r>
          </a:p>
          <a:p>
            <a:pPr eaLnBrk="0" fontAlgn="base" hangingPunct="0">
              <a:spcBef>
                <a:spcPct val="0"/>
              </a:spcBef>
              <a:spcAft>
                <a:spcPts val="600"/>
              </a:spcAft>
            </a:pPr>
            <a:r>
              <a:rPr kumimoji="0" lang="en-US" altLang="en-US" sz="2400" b="1" i="0" u="none" strike="noStrike" cap="none" normalizeH="0" baseline="0" dirty="0">
                <a:ln>
                  <a:noFill/>
                </a:ln>
                <a:effectLst/>
                <a:latin typeface="Google Sans Text"/>
              </a:rPr>
              <a:t>DELETE:</a:t>
            </a:r>
            <a:r>
              <a:rPr kumimoji="0" lang="en-US" altLang="en-US" sz="2400" b="0" i="0" u="none" strike="noStrike" cap="none" normalizeH="0" baseline="0" dirty="0">
                <a:ln>
                  <a:noFill/>
                </a:ln>
                <a:effectLst/>
                <a:latin typeface="Google Sans Text"/>
              </a:rPr>
              <a:t> Removing data from a server. </a:t>
            </a:r>
          </a:p>
          <a:p>
            <a:pPr eaLnBrk="0" fontAlgn="base" hangingPunct="0">
              <a:spcBef>
                <a:spcPct val="0"/>
              </a:spcBef>
              <a:spcAft>
                <a:spcPts val="600"/>
              </a:spcAft>
            </a:pPr>
            <a:endParaRPr kumimoji="0" lang="en-US" altLang="en-US" sz="24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3380691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0" name="Rectangle 3079">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6B32D44-6BE6-9C48-D6B5-4F695DBB1B98}"/>
              </a:ext>
            </a:extLst>
          </p:cNvPr>
          <p:cNvSpPr>
            <a:spLocks noGrp="1"/>
          </p:cNvSpPr>
          <p:nvPr>
            <p:ph type="title"/>
          </p:nvPr>
        </p:nvSpPr>
        <p:spPr>
          <a:xfrm>
            <a:off x="521208" y="978408"/>
            <a:ext cx="6300216" cy="1325880"/>
          </a:xfrm>
        </p:spPr>
        <p:txBody>
          <a:bodyPr>
            <a:normAutofit/>
          </a:bodyPr>
          <a:lstStyle/>
          <a:p>
            <a:pPr>
              <a:lnSpc>
                <a:spcPct val="90000"/>
              </a:lnSpc>
            </a:pPr>
            <a:r>
              <a:rPr lang="en-US" dirty="0"/>
              <a:t>JSON: The Universal Data Language</a:t>
            </a:r>
            <a:endParaRPr lang="en-US"/>
          </a:p>
        </p:txBody>
      </p:sp>
      <p:sp>
        <p:nvSpPr>
          <p:cNvPr id="3082" name="Rectangle 3081">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4" name="Rectangle 3083">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3075" name="Picture 3" descr="How to Work with JSON Data in Python | by Ordinary Coders | Python in Plain  English">
            <a:extLst>
              <a:ext uri="{FF2B5EF4-FFF2-40B4-BE49-F238E27FC236}">
                <a16:creationId xmlns:a16="http://schemas.microsoft.com/office/drawing/2014/main" id="{D2ACCBF3-91E7-4FF5-9AFC-DC09453C348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7867" y="2718191"/>
            <a:ext cx="6281928" cy="362781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a:extLst>
              <a:ext uri="{FF2B5EF4-FFF2-40B4-BE49-F238E27FC236}">
                <a16:creationId xmlns:a16="http://schemas.microsoft.com/office/drawing/2014/main" id="{E7563E7C-AA28-9006-A2BC-B53FA7A527C8}"/>
              </a:ext>
            </a:extLst>
          </p:cNvPr>
          <p:cNvSpPr>
            <a:spLocks noGrp="1" noChangeArrowheads="1"/>
          </p:cNvSpPr>
          <p:nvPr>
            <p:ph idx="1"/>
          </p:nvPr>
        </p:nvSpPr>
        <p:spPr bwMode="auto">
          <a:xfrm>
            <a:off x="7507224" y="1088136"/>
            <a:ext cx="4160520" cy="52578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b="1" i="0" u="none" strike="noStrike" cap="none" normalizeH="0" baseline="0" dirty="0">
                <a:ln>
                  <a:noFill/>
                </a:ln>
                <a:effectLst/>
                <a:latin typeface="Arial" panose="020B0604020202020204" pitchFamily="34" charset="0"/>
              </a:rPr>
              <a:t>The Problem:</a:t>
            </a:r>
            <a:r>
              <a:rPr kumimoji="0" lang="en-US" altLang="en-US" b="0" i="0" u="none" strike="noStrike" cap="none" normalizeH="0" baseline="0" dirty="0">
                <a:ln>
                  <a:noFill/>
                </a:ln>
                <a:effectLst/>
                <a:latin typeface="Arial" panose="020B0604020202020204" pitchFamily="34" charset="0"/>
              </a:rPr>
              <a:t> Python understands "Dictionaries," but a web server might be running Java or JavaScript. </a:t>
            </a:r>
          </a:p>
          <a:p>
            <a:pPr eaLnBrk="0" fontAlgn="base" hangingPunct="0">
              <a:spcBef>
                <a:spcPct val="0"/>
              </a:spcBef>
              <a:spcAft>
                <a:spcPts val="600"/>
              </a:spcAft>
            </a:pPr>
            <a:r>
              <a:rPr kumimoji="0" lang="en-US" altLang="en-US" b="1" i="0" u="none" strike="noStrike" cap="none" normalizeH="0" baseline="0" dirty="0">
                <a:ln>
                  <a:noFill/>
                </a:ln>
                <a:effectLst/>
                <a:latin typeface="Arial" panose="020B0604020202020204" pitchFamily="34" charset="0"/>
              </a:rPr>
              <a:t>The Solution:</a:t>
            </a:r>
            <a:r>
              <a:rPr kumimoji="0" lang="en-US" altLang="en-US" b="0" i="0" u="none" strike="noStrike" cap="none" normalizeH="0" baseline="0" dirty="0">
                <a:ln>
                  <a:noFill/>
                </a:ln>
                <a:effectLst/>
                <a:latin typeface="Arial" panose="020B0604020202020204" pitchFamily="34" charset="0"/>
              </a:rPr>
              <a:t> JSON (JavaScript Object Notation). It is a simple text format that every programming language understands. </a:t>
            </a:r>
          </a:p>
          <a:p>
            <a:pPr eaLnBrk="0" fontAlgn="base" hangingPunct="0">
              <a:spcBef>
                <a:spcPct val="0"/>
              </a:spcBef>
              <a:spcAft>
                <a:spcPts val="600"/>
              </a:spcAft>
            </a:pPr>
            <a:r>
              <a:rPr kumimoji="0" lang="en-US" altLang="en-US" b="1" i="0" u="none" strike="noStrike" cap="none" normalizeH="0" baseline="0" dirty="0">
                <a:ln>
                  <a:noFill/>
                </a:ln>
                <a:effectLst/>
                <a:latin typeface="Arial" panose="020B0604020202020204" pitchFamily="34" charset="0"/>
              </a:rPr>
              <a:t>The Process:</a:t>
            </a:r>
            <a:r>
              <a:rPr kumimoji="0" lang="en-US" altLang="en-US" b="0" i="0" u="none" strike="noStrike" cap="none" normalizeH="0" baseline="0" dirty="0">
                <a:ln>
                  <a:noFill/>
                </a:ln>
                <a:effectLst/>
                <a:latin typeface="Arial" panose="020B0604020202020204" pitchFamily="34" charset="0"/>
              </a:rPr>
              <a:t> We "serialize" (convert) Python dictionaries into JSON strings to send them away, and "deserialize" incoming JSON strings back into dictionaries to use them in our code. </a:t>
            </a:r>
          </a:p>
        </p:txBody>
      </p:sp>
    </p:spTree>
    <p:extLst>
      <p:ext uri="{BB962C8B-B14F-4D97-AF65-F5344CB8AC3E}">
        <p14:creationId xmlns:p14="http://schemas.microsoft.com/office/powerpoint/2010/main" val="2374864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4" name="Rectangle 4103">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333B81C-2380-EECC-9181-D13C2E3F1D9B}"/>
              </a:ext>
            </a:extLst>
          </p:cNvPr>
          <p:cNvSpPr>
            <a:spLocks noGrp="1"/>
          </p:cNvSpPr>
          <p:nvPr>
            <p:ph type="title"/>
          </p:nvPr>
        </p:nvSpPr>
        <p:spPr>
          <a:xfrm>
            <a:off x="521208" y="978408"/>
            <a:ext cx="6300216" cy="1325880"/>
          </a:xfrm>
        </p:spPr>
        <p:txBody>
          <a:bodyPr>
            <a:normAutofit/>
          </a:bodyPr>
          <a:lstStyle/>
          <a:p>
            <a:pPr>
              <a:lnSpc>
                <a:spcPct val="90000"/>
              </a:lnSpc>
            </a:pPr>
            <a:r>
              <a:rPr lang="en-US" sz="3400"/>
              <a:t>API Authentication &amp; Security</a:t>
            </a:r>
            <a:br>
              <a:rPr lang="en-US" sz="3400"/>
            </a:br>
            <a:endParaRPr lang="en-US" sz="3400"/>
          </a:p>
        </p:txBody>
      </p:sp>
      <p:sp>
        <p:nvSpPr>
          <p:cNvPr id="4106" name="Rectangle 4105">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8" name="Rectangle 4107">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099" name="Picture 3" descr="Why and when to use API keys | Cloud Endpoints with OpenAPI | Google Cloud  Documentation">
            <a:extLst>
              <a:ext uri="{FF2B5EF4-FFF2-40B4-BE49-F238E27FC236}">
                <a16:creationId xmlns:a16="http://schemas.microsoft.com/office/drawing/2014/main" id="{CBE3B47A-1044-E8C8-A23C-FA88CC7BC6A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7868" y="2625327"/>
            <a:ext cx="6281928" cy="295250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a:extLst>
              <a:ext uri="{FF2B5EF4-FFF2-40B4-BE49-F238E27FC236}">
                <a16:creationId xmlns:a16="http://schemas.microsoft.com/office/drawing/2014/main" id="{E5C7A6C9-C80C-D2CC-6FA4-53F5EEEE813A}"/>
              </a:ext>
            </a:extLst>
          </p:cNvPr>
          <p:cNvSpPr>
            <a:spLocks noGrp="1" noChangeArrowheads="1"/>
          </p:cNvSpPr>
          <p:nvPr>
            <p:ph idx="1"/>
          </p:nvPr>
        </p:nvSpPr>
        <p:spPr bwMode="auto">
          <a:xfrm>
            <a:off x="7507224" y="1088136"/>
            <a:ext cx="4160520" cy="52578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endParaRPr kumimoji="0" lang="en-US" altLang="en-US" b="0" i="0" u="none" strike="noStrike" cap="none" normalizeH="0" baseline="0" dirty="0">
              <a:ln>
                <a:noFill/>
              </a:ln>
              <a:effectLst/>
              <a:latin typeface="Arial" panose="020B0604020202020204" pitchFamily="34" charset="0"/>
            </a:endParaRPr>
          </a:p>
          <a:p>
            <a:pPr eaLnBrk="0" fontAlgn="base" hangingPunct="0">
              <a:spcBef>
                <a:spcPct val="0"/>
              </a:spcBef>
              <a:spcAft>
                <a:spcPts val="600"/>
              </a:spcAft>
            </a:pPr>
            <a:r>
              <a:rPr kumimoji="0" lang="en-US" altLang="en-US" b="1" i="0" u="none" strike="noStrike" cap="none" normalizeH="0" baseline="0" dirty="0">
                <a:ln>
                  <a:noFill/>
                </a:ln>
                <a:effectLst/>
                <a:latin typeface="Arial" panose="020B0604020202020204" pitchFamily="34" charset="0"/>
              </a:rPr>
              <a:t>The Gatekeeper:</a:t>
            </a:r>
            <a:r>
              <a:rPr kumimoji="0" lang="en-US" altLang="en-US" b="0" i="0" u="none" strike="noStrike" cap="none" normalizeH="0" baseline="0" dirty="0">
                <a:ln>
                  <a:noFill/>
                </a:ln>
                <a:effectLst/>
                <a:latin typeface="Arial" panose="020B0604020202020204" pitchFamily="34" charset="0"/>
              </a:rPr>
              <a:t> High-quality data (from Google or OpenAI) isn't free or public. You need permission to access it. </a:t>
            </a:r>
          </a:p>
          <a:p>
            <a:pPr eaLnBrk="0" fontAlgn="base" hangingPunct="0">
              <a:spcBef>
                <a:spcPct val="0"/>
              </a:spcBef>
              <a:spcAft>
                <a:spcPts val="600"/>
              </a:spcAft>
            </a:pPr>
            <a:r>
              <a:rPr kumimoji="0" lang="en-US" altLang="en-US" b="1" i="0" u="none" strike="noStrike" cap="none" normalizeH="0" baseline="0" dirty="0">
                <a:ln>
                  <a:noFill/>
                </a:ln>
                <a:effectLst/>
                <a:latin typeface="Arial" panose="020B0604020202020204" pitchFamily="34" charset="0"/>
              </a:rPr>
              <a:t>Authentication Methods:</a:t>
            </a:r>
            <a:endParaRPr kumimoji="0" lang="en-US" altLang="en-US" b="0" i="0" u="none" strike="noStrike" cap="none" normalizeH="0" baseline="0" dirty="0">
              <a:ln>
                <a:noFill/>
              </a:ln>
              <a:effectLst/>
              <a:latin typeface="Arial" panose="020B0604020202020204" pitchFamily="34" charset="0"/>
            </a:endParaRPr>
          </a:p>
          <a:p>
            <a:pPr lvl="1" eaLnBrk="0" fontAlgn="base" hangingPunct="0">
              <a:spcBef>
                <a:spcPct val="0"/>
              </a:spcBef>
              <a:spcAft>
                <a:spcPts val="600"/>
              </a:spcAft>
            </a:pPr>
            <a:r>
              <a:rPr kumimoji="0" lang="en-US" altLang="en-US" b="1" i="0" u="none" strike="noStrike" cap="none" normalizeH="0" baseline="0" dirty="0">
                <a:ln>
                  <a:noFill/>
                </a:ln>
                <a:effectLst/>
                <a:latin typeface="Arial" panose="020B0604020202020204" pitchFamily="34" charset="0"/>
              </a:rPr>
              <a:t>API Keys:</a:t>
            </a:r>
            <a:r>
              <a:rPr kumimoji="0" lang="en-US" altLang="en-US" b="0" i="0" u="none" strike="noStrike" cap="none" normalizeH="0" baseline="0" dirty="0">
                <a:ln>
                  <a:noFill/>
                </a:ln>
                <a:effectLst/>
                <a:latin typeface="Arial" panose="020B0604020202020204" pitchFamily="34" charset="0"/>
              </a:rPr>
              <a:t> A unique "password" for your script sent in the headers. </a:t>
            </a:r>
          </a:p>
          <a:p>
            <a:pPr lvl="1" eaLnBrk="0" fontAlgn="base" hangingPunct="0">
              <a:spcBef>
                <a:spcPct val="0"/>
              </a:spcBef>
              <a:spcAft>
                <a:spcPts val="600"/>
              </a:spcAft>
            </a:pPr>
            <a:r>
              <a:rPr kumimoji="0" lang="en-US" altLang="en-US" b="1" i="0" u="none" strike="noStrike" cap="none" normalizeH="0" baseline="0" dirty="0">
                <a:ln>
                  <a:noFill/>
                </a:ln>
                <a:effectLst/>
                <a:latin typeface="Arial" panose="020B0604020202020204" pitchFamily="34" charset="0"/>
              </a:rPr>
              <a:t>Bearer Tokens:</a:t>
            </a:r>
            <a:r>
              <a:rPr kumimoji="0" lang="en-US" altLang="en-US" b="0" i="0" u="none" strike="noStrike" cap="none" normalizeH="0" baseline="0" dirty="0">
                <a:ln>
                  <a:noFill/>
                </a:ln>
                <a:effectLst/>
                <a:latin typeface="Arial" panose="020B0604020202020204" pitchFamily="34" charset="0"/>
              </a:rPr>
              <a:t> A temporary, highly secure pass used for sensitive data. </a:t>
            </a:r>
          </a:p>
          <a:p>
            <a:pPr eaLnBrk="0" fontAlgn="base" hangingPunct="0">
              <a:spcBef>
                <a:spcPct val="0"/>
              </a:spcBef>
              <a:spcAft>
                <a:spcPts val="600"/>
              </a:spcAft>
            </a:pPr>
            <a:r>
              <a:rPr kumimoji="0" lang="en-US" altLang="en-US" b="1" i="0" u="none" strike="noStrike" cap="none" normalizeH="0" baseline="0" dirty="0">
                <a:ln>
                  <a:noFill/>
                </a:ln>
                <a:effectLst/>
                <a:latin typeface="Arial" panose="020B0604020202020204" pitchFamily="34" charset="0"/>
              </a:rPr>
              <a:t>Security Rule:</a:t>
            </a:r>
            <a:r>
              <a:rPr kumimoji="0" lang="en-US" altLang="en-US" b="0" i="0" u="none" strike="noStrike" cap="none" normalizeH="0" baseline="0" dirty="0">
                <a:ln>
                  <a:noFill/>
                </a:ln>
                <a:effectLst/>
                <a:latin typeface="Arial" panose="020B0604020202020204" pitchFamily="34" charset="0"/>
              </a:rPr>
              <a:t> Never hardcode your API keys directly in the script; use environment variables to keep them hidden from GitHub. </a:t>
            </a:r>
          </a:p>
          <a:p>
            <a:pPr eaLnBrk="0" fontAlgn="base" hangingPunct="0">
              <a:spcBef>
                <a:spcPct val="0"/>
              </a:spcBef>
              <a:spcAft>
                <a:spcPts val="600"/>
              </a:spcAft>
            </a:pPr>
            <a:endParaRPr kumimoji="0" lang="en-US" altLang="en-US"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3234755106"/>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4</TotalTime>
  <Words>393</Words>
  <Application>Microsoft Office PowerPoint</Application>
  <PresentationFormat>Widescreen</PresentationFormat>
  <Paragraphs>22</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Bierstadt</vt:lpstr>
      <vt:lpstr>Google Sans Text</vt:lpstr>
      <vt:lpstr>GestaltVTI</vt:lpstr>
      <vt:lpstr>Welcome &amp; Module Induction</vt:lpstr>
      <vt:lpstr>HTTP Basics &amp; The requests Library</vt:lpstr>
      <vt:lpstr>JSON: The Universal Data Language</vt:lpstr>
      <vt:lpstr>API Authentication &amp; Security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zaryab ahmad khan</dc:creator>
  <cp:lastModifiedBy>zaryab ahmad khan</cp:lastModifiedBy>
  <cp:revision>1</cp:revision>
  <dcterms:created xsi:type="dcterms:W3CDTF">2026-04-22T09:23:04Z</dcterms:created>
  <dcterms:modified xsi:type="dcterms:W3CDTF">2026-04-22T09:28:01Z</dcterms:modified>
</cp:coreProperties>
</file>