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1B586D-4A42-4937-9EDB-730E866248E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9D2387D-9B41-4F98-B6C2-C1A51352F1BF}">
      <dgm:prSet/>
      <dgm:spPr/>
      <dgm:t>
        <a:bodyPr/>
        <a:lstStyle/>
        <a:p>
          <a:r>
            <a:rPr lang="en-US" b="1" i="0" baseline="0"/>
            <a:t>Concept:</a:t>
          </a:r>
          <a:r>
            <a:rPr lang="en-US" b="0" i="0" baseline="0"/>
            <a:t> The Operating System does not inherently know what Python is. It only knows how to search.</a:t>
          </a:r>
          <a:endParaRPr lang="en-US"/>
        </a:p>
      </dgm:t>
    </dgm:pt>
    <dgm:pt modelId="{0805534F-AF0E-44EA-B0C6-310582E8AED8}" type="parTrans" cxnId="{0762423C-9125-43F3-84FD-20C078D96370}">
      <dgm:prSet/>
      <dgm:spPr/>
      <dgm:t>
        <a:bodyPr/>
        <a:lstStyle/>
        <a:p>
          <a:endParaRPr lang="en-US"/>
        </a:p>
      </dgm:t>
    </dgm:pt>
    <dgm:pt modelId="{A12D9869-1DEE-4864-AC34-9C3512801BBA}" type="sibTrans" cxnId="{0762423C-9125-43F3-84FD-20C078D96370}">
      <dgm:prSet/>
      <dgm:spPr/>
      <dgm:t>
        <a:bodyPr/>
        <a:lstStyle/>
        <a:p>
          <a:endParaRPr lang="en-US"/>
        </a:p>
      </dgm:t>
    </dgm:pt>
    <dgm:pt modelId="{49C1D359-1CB9-4664-9CF1-55A921F1687D}">
      <dgm:prSet/>
      <dgm:spPr/>
      <dgm:t>
        <a:bodyPr/>
        <a:lstStyle/>
        <a:p>
          <a:r>
            <a:rPr lang="en-US" b="1" i="0" baseline="0"/>
            <a:t>The $PATH Variable:</a:t>
          </a:r>
          <a:r>
            <a:rPr lang="en-US" b="0" i="0" baseline="0"/>
            <a:t> An ordered list of directories the OS scans when a command is executed in the terminal.</a:t>
          </a:r>
          <a:endParaRPr lang="en-US"/>
        </a:p>
      </dgm:t>
    </dgm:pt>
    <dgm:pt modelId="{35A70836-FE3B-481F-B204-3722DC417B5E}" type="parTrans" cxnId="{C7D184F5-E32F-4742-A29F-3529C355B8BF}">
      <dgm:prSet/>
      <dgm:spPr/>
      <dgm:t>
        <a:bodyPr/>
        <a:lstStyle/>
        <a:p>
          <a:endParaRPr lang="en-US"/>
        </a:p>
      </dgm:t>
    </dgm:pt>
    <dgm:pt modelId="{8E6561A8-29E6-43F6-BA33-34C0CEACE986}" type="sibTrans" cxnId="{C7D184F5-E32F-4742-A29F-3529C355B8BF}">
      <dgm:prSet/>
      <dgm:spPr/>
      <dgm:t>
        <a:bodyPr/>
        <a:lstStyle/>
        <a:p>
          <a:endParaRPr lang="en-US"/>
        </a:p>
      </dgm:t>
    </dgm:pt>
    <dgm:pt modelId="{910EEAD9-BC85-4D2D-8E4D-9D0FFFEC4099}">
      <dgm:prSet/>
      <dgm:spPr/>
      <dgm:t>
        <a:bodyPr/>
        <a:lstStyle/>
        <a:p>
          <a:r>
            <a:rPr lang="en-US" b="1" i="0" baseline="0"/>
            <a:t>Execution Hierarchy:</a:t>
          </a:r>
          <a:r>
            <a:rPr lang="en-US" b="0" i="0" baseline="0"/>
            <a:t> If you type python, the OS executes the </a:t>
          </a:r>
          <a:r>
            <a:rPr lang="en-US" b="0" i="1" baseline="0"/>
            <a:t>first</a:t>
          </a:r>
          <a:r>
            <a:rPr lang="en-US" b="0" i="0" baseline="0"/>
            <a:t> matching binary it finds in the $PATH order.</a:t>
          </a:r>
          <a:endParaRPr lang="en-US"/>
        </a:p>
      </dgm:t>
    </dgm:pt>
    <dgm:pt modelId="{95BBE400-3622-41AE-BE2C-EEEEDCB6C9D1}" type="parTrans" cxnId="{FAE38AA5-5CEC-4549-AD73-FB1ACB23EEFF}">
      <dgm:prSet/>
      <dgm:spPr/>
      <dgm:t>
        <a:bodyPr/>
        <a:lstStyle/>
        <a:p>
          <a:endParaRPr lang="en-US"/>
        </a:p>
      </dgm:t>
    </dgm:pt>
    <dgm:pt modelId="{05DB15E0-90CE-4805-AD9C-F94A51E399E3}" type="sibTrans" cxnId="{FAE38AA5-5CEC-4549-AD73-FB1ACB23EEFF}">
      <dgm:prSet/>
      <dgm:spPr/>
      <dgm:t>
        <a:bodyPr/>
        <a:lstStyle/>
        <a:p>
          <a:endParaRPr lang="en-US"/>
        </a:p>
      </dgm:t>
    </dgm:pt>
    <dgm:pt modelId="{1546D53D-AAA9-4B5E-BD16-517B5EB73372}">
      <dgm:prSet/>
      <dgm:spPr/>
      <dgm:t>
        <a:bodyPr/>
        <a:lstStyle/>
        <a:p>
          <a:r>
            <a:rPr lang="en-US" b="1" i="0" baseline="0"/>
            <a:t>Troubleshooting "Command Not Found":</a:t>
          </a:r>
          <a:r>
            <a:rPr lang="en-US" b="0" i="0" baseline="0"/>
            <a:t> This error rarely means Python isn't installed; it means the executable's directory is missing from the system's $PATH variable.</a:t>
          </a:r>
          <a:endParaRPr lang="en-US"/>
        </a:p>
      </dgm:t>
    </dgm:pt>
    <dgm:pt modelId="{2B9881CC-C7D5-43C0-A050-7D2CA9329594}" type="parTrans" cxnId="{1CAC39EA-44C6-4B80-B640-8CFB8FAA7C2A}">
      <dgm:prSet/>
      <dgm:spPr/>
      <dgm:t>
        <a:bodyPr/>
        <a:lstStyle/>
        <a:p>
          <a:endParaRPr lang="en-US"/>
        </a:p>
      </dgm:t>
    </dgm:pt>
    <dgm:pt modelId="{041CCC9D-6B12-4440-875F-B3370EA9E86C}" type="sibTrans" cxnId="{1CAC39EA-44C6-4B80-B640-8CFB8FAA7C2A}">
      <dgm:prSet/>
      <dgm:spPr/>
      <dgm:t>
        <a:bodyPr/>
        <a:lstStyle/>
        <a:p>
          <a:endParaRPr lang="en-US"/>
        </a:p>
      </dgm:t>
    </dgm:pt>
    <dgm:pt modelId="{54A8C71B-9527-49FE-AA20-B121ECBFF176}" type="pres">
      <dgm:prSet presAssocID="{931B586D-4A42-4937-9EDB-730E866248ED}" presName="vert0" presStyleCnt="0">
        <dgm:presLayoutVars>
          <dgm:dir/>
          <dgm:animOne val="branch"/>
          <dgm:animLvl val="lvl"/>
        </dgm:presLayoutVars>
      </dgm:prSet>
      <dgm:spPr/>
    </dgm:pt>
    <dgm:pt modelId="{5A4C7AB7-AB04-4F5C-8080-2696ECF35483}" type="pres">
      <dgm:prSet presAssocID="{19D2387D-9B41-4F98-B6C2-C1A51352F1BF}" presName="thickLine" presStyleLbl="alignNode1" presStyleIdx="0" presStyleCnt="4"/>
      <dgm:spPr/>
    </dgm:pt>
    <dgm:pt modelId="{03AD5CCC-59AF-4777-A3F7-14DA1F1C3471}" type="pres">
      <dgm:prSet presAssocID="{19D2387D-9B41-4F98-B6C2-C1A51352F1BF}" presName="horz1" presStyleCnt="0"/>
      <dgm:spPr/>
    </dgm:pt>
    <dgm:pt modelId="{F339DDAD-6B85-4360-8F69-FAD639AB88CC}" type="pres">
      <dgm:prSet presAssocID="{19D2387D-9B41-4F98-B6C2-C1A51352F1BF}" presName="tx1" presStyleLbl="revTx" presStyleIdx="0" presStyleCnt="4"/>
      <dgm:spPr/>
    </dgm:pt>
    <dgm:pt modelId="{865FA10D-3A5C-4583-AC6B-E254FC4B5433}" type="pres">
      <dgm:prSet presAssocID="{19D2387D-9B41-4F98-B6C2-C1A51352F1BF}" presName="vert1" presStyleCnt="0"/>
      <dgm:spPr/>
    </dgm:pt>
    <dgm:pt modelId="{1F7736E9-097A-41DF-A740-9A4403BA9762}" type="pres">
      <dgm:prSet presAssocID="{49C1D359-1CB9-4664-9CF1-55A921F1687D}" presName="thickLine" presStyleLbl="alignNode1" presStyleIdx="1" presStyleCnt="4"/>
      <dgm:spPr/>
    </dgm:pt>
    <dgm:pt modelId="{50F70CAF-2794-419E-B87C-5DC27FC5C6B9}" type="pres">
      <dgm:prSet presAssocID="{49C1D359-1CB9-4664-9CF1-55A921F1687D}" presName="horz1" presStyleCnt="0"/>
      <dgm:spPr/>
    </dgm:pt>
    <dgm:pt modelId="{90A449B1-BE93-491B-AC27-1C8B695EC112}" type="pres">
      <dgm:prSet presAssocID="{49C1D359-1CB9-4664-9CF1-55A921F1687D}" presName="tx1" presStyleLbl="revTx" presStyleIdx="1" presStyleCnt="4"/>
      <dgm:spPr/>
    </dgm:pt>
    <dgm:pt modelId="{3517BBDE-0D90-4532-808F-93982A2314C6}" type="pres">
      <dgm:prSet presAssocID="{49C1D359-1CB9-4664-9CF1-55A921F1687D}" presName="vert1" presStyleCnt="0"/>
      <dgm:spPr/>
    </dgm:pt>
    <dgm:pt modelId="{81E0D504-8782-4C6D-9F7F-BCD32346D6A4}" type="pres">
      <dgm:prSet presAssocID="{910EEAD9-BC85-4D2D-8E4D-9D0FFFEC4099}" presName="thickLine" presStyleLbl="alignNode1" presStyleIdx="2" presStyleCnt="4"/>
      <dgm:spPr/>
    </dgm:pt>
    <dgm:pt modelId="{C7476769-CEEA-49DE-B657-AE6491411F11}" type="pres">
      <dgm:prSet presAssocID="{910EEAD9-BC85-4D2D-8E4D-9D0FFFEC4099}" presName="horz1" presStyleCnt="0"/>
      <dgm:spPr/>
    </dgm:pt>
    <dgm:pt modelId="{3D5AD73D-0ADE-474B-A5BD-4397605AA905}" type="pres">
      <dgm:prSet presAssocID="{910EEAD9-BC85-4D2D-8E4D-9D0FFFEC4099}" presName="tx1" presStyleLbl="revTx" presStyleIdx="2" presStyleCnt="4"/>
      <dgm:spPr/>
    </dgm:pt>
    <dgm:pt modelId="{2329A292-B2F3-47FF-9E69-4207707B05F0}" type="pres">
      <dgm:prSet presAssocID="{910EEAD9-BC85-4D2D-8E4D-9D0FFFEC4099}" presName="vert1" presStyleCnt="0"/>
      <dgm:spPr/>
    </dgm:pt>
    <dgm:pt modelId="{D107A39B-A057-43BF-9504-E32AFCE408D0}" type="pres">
      <dgm:prSet presAssocID="{1546D53D-AAA9-4B5E-BD16-517B5EB73372}" presName="thickLine" presStyleLbl="alignNode1" presStyleIdx="3" presStyleCnt="4"/>
      <dgm:spPr/>
    </dgm:pt>
    <dgm:pt modelId="{6EA72EDD-F7BD-4066-8C70-5ADFD964FB94}" type="pres">
      <dgm:prSet presAssocID="{1546D53D-AAA9-4B5E-BD16-517B5EB73372}" presName="horz1" presStyleCnt="0"/>
      <dgm:spPr/>
    </dgm:pt>
    <dgm:pt modelId="{EF1CA3BB-2055-4599-B2BA-0462AECF0049}" type="pres">
      <dgm:prSet presAssocID="{1546D53D-AAA9-4B5E-BD16-517B5EB73372}" presName="tx1" presStyleLbl="revTx" presStyleIdx="3" presStyleCnt="4"/>
      <dgm:spPr/>
    </dgm:pt>
    <dgm:pt modelId="{D350F21D-EB72-47CD-BEA3-0146D746AAB2}" type="pres">
      <dgm:prSet presAssocID="{1546D53D-AAA9-4B5E-BD16-517B5EB73372}" presName="vert1" presStyleCnt="0"/>
      <dgm:spPr/>
    </dgm:pt>
  </dgm:ptLst>
  <dgm:cxnLst>
    <dgm:cxn modelId="{0762423C-9125-43F3-84FD-20C078D96370}" srcId="{931B586D-4A42-4937-9EDB-730E866248ED}" destId="{19D2387D-9B41-4F98-B6C2-C1A51352F1BF}" srcOrd="0" destOrd="0" parTransId="{0805534F-AF0E-44EA-B0C6-310582E8AED8}" sibTransId="{A12D9869-1DEE-4864-AC34-9C3512801BBA}"/>
    <dgm:cxn modelId="{4B755D5B-3FB6-4DC3-8808-FB29B4FBA10A}" type="presOf" srcId="{19D2387D-9B41-4F98-B6C2-C1A51352F1BF}" destId="{F339DDAD-6B85-4360-8F69-FAD639AB88CC}" srcOrd="0" destOrd="0" presId="urn:microsoft.com/office/officeart/2008/layout/LinedList"/>
    <dgm:cxn modelId="{3D4D8C5D-3C64-4B1D-8253-F46106AA0BCD}" type="presOf" srcId="{910EEAD9-BC85-4D2D-8E4D-9D0FFFEC4099}" destId="{3D5AD73D-0ADE-474B-A5BD-4397605AA905}" srcOrd="0" destOrd="0" presId="urn:microsoft.com/office/officeart/2008/layout/LinedList"/>
    <dgm:cxn modelId="{56EB956D-F3FD-4018-BADE-EC1E7EA84556}" type="presOf" srcId="{931B586D-4A42-4937-9EDB-730E866248ED}" destId="{54A8C71B-9527-49FE-AA20-B121ECBFF176}" srcOrd="0" destOrd="0" presId="urn:microsoft.com/office/officeart/2008/layout/LinedList"/>
    <dgm:cxn modelId="{B2E6B99C-F93F-4B21-9B75-9E349D727EF4}" type="presOf" srcId="{1546D53D-AAA9-4B5E-BD16-517B5EB73372}" destId="{EF1CA3BB-2055-4599-B2BA-0462AECF0049}" srcOrd="0" destOrd="0" presId="urn:microsoft.com/office/officeart/2008/layout/LinedList"/>
    <dgm:cxn modelId="{FAE38AA5-5CEC-4549-AD73-FB1ACB23EEFF}" srcId="{931B586D-4A42-4937-9EDB-730E866248ED}" destId="{910EEAD9-BC85-4D2D-8E4D-9D0FFFEC4099}" srcOrd="2" destOrd="0" parTransId="{95BBE400-3622-41AE-BE2C-EEEEDCB6C9D1}" sibTransId="{05DB15E0-90CE-4805-AD9C-F94A51E399E3}"/>
    <dgm:cxn modelId="{25528CD0-5B1D-45B7-9E46-8E3BB7BDD3BB}" type="presOf" srcId="{49C1D359-1CB9-4664-9CF1-55A921F1687D}" destId="{90A449B1-BE93-491B-AC27-1C8B695EC112}" srcOrd="0" destOrd="0" presId="urn:microsoft.com/office/officeart/2008/layout/LinedList"/>
    <dgm:cxn modelId="{1CAC39EA-44C6-4B80-B640-8CFB8FAA7C2A}" srcId="{931B586D-4A42-4937-9EDB-730E866248ED}" destId="{1546D53D-AAA9-4B5E-BD16-517B5EB73372}" srcOrd="3" destOrd="0" parTransId="{2B9881CC-C7D5-43C0-A050-7D2CA9329594}" sibTransId="{041CCC9D-6B12-4440-875F-B3370EA9E86C}"/>
    <dgm:cxn modelId="{C7D184F5-E32F-4742-A29F-3529C355B8BF}" srcId="{931B586D-4A42-4937-9EDB-730E866248ED}" destId="{49C1D359-1CB9-4664-9CF1-55A921F1687D}" srcOrd="1" destOrd="0" parTransId="{35A70836-FE3B-481F-B204-3722DC417B5E}" sibTransId="{8E6561A8-29E6-43F6-BA33-34C0CEACE986}"/>
    <dgm:cxn modelId="{ADD02E3C-06AF-48CA-9683-5474E9EF00CB}" type="presParOf" srcId="{54A8C71B-9527-49FE-AA20-B121ECBFF176}" destId="{5A4C7AB7-AB04-4F5C-8080-2696ECF35483}" srcOrd="0" destOrd="0" presId="urn:microsoft.com/office/officeart/2008/layout/LinedList"/>
    <dgm:cxn modelId="{161B5077-6074-48D4-9BE2-A59B6CB6A155}" type="presParOf" srcId="{54A8C71B-9527-49FE-AA20-B121ECBFF176}" destId="{03AD5CCC-59AF-4777-A3F7-14DA1F1C3471}" srcOrd="1" destOrd="0" presId="urn:microsoft.com/office/officeart/2008/layout/LinedList"/>
    <dgm:cxn modelId="{60403B0F-464B-463B-9630-51836603CE65}" type="presParOf" srcId="{03AD5CCC-59AF-4777-A3F7-14DA1F1C3471}" destId="{F339DDAD-6B85-4360-8F69-FAD639AB88CC}" srcOrd="0" destOrd="0" presId="urn:microsoft.com/office/officeart/2008/layout/LinedList"/>
    <dgm:cxn modelId="{701C78AF-B309-4623-B188-8BFB422C4401}" type="presParOf" srcId="{03AD5CCC-59AF-4777-A3F7-14DA1F1C3471}" destId="{865FA10D-3A5C-4583-AC6B-E254FC4B5433}" srcOrd="1" destOrd="0" presId="urn:microsoft.com/office/officeart/2008/layout/LinedList"/>
    <dgm:cxn modelId="{2EA81A79-F1BC-41FF-9A75-EEC7B4A36CD3}" type="presParOf" srcId="{54A8C71B-9527-49FE-AA20-B121ECBFF176}" destId="{1F7736E9-097A-41DF-A740-9A4403BA9762}" srcOrd="2" destOrd="0" presId="urn:microsoft.com/office/officeart/2008/layout/LinedList"/>
    <dgm:cxn modelId="{94E95C3F-DEFF-4405-83AB-25F18E4129DC}" type="presParOf" srcId="{54A8C71B-9527-49FE-AA20-B121ECBFF176}" destId="{50F70CAF-2794-419E-B87C-5DC27FC5C6B9}" srcOrd="3" destOrd="0" presId="urn:microsoft.com/office/officeart/2008/layout/LinedList"/>
    <dgm:cxn modelId="{11759AAA-DE91-4938-BF3A-777150107404}" type="presParOf" srcId="{50F70CAF-2794-419E-B87C-5DC27FC5C6B9}" destId="{90A449B1-BE93-491B-AC27-1C8B695EC112}" srcOrd="0" destOrd="0" presId="urn:microsoft.com/office/officeart/2008/layout/LinedList"/>
    <dgm:cxn modelId="{41C6B0AE-6B55-4B4A-89F2-E488EDECFC72}" type="presParOf" srcId="{50F70CAF-2794-419E-B87C-5DC27FC5C6B9}" destId="{3517BBDE-0D90-4532-808F-93982A2314C6}" srcOrd="1" destOrd="0" presId="urn:microsoft.com/office/officeart/2008/layout/LinedList"/>
    <dgm:cxn modelId="{8F8C44C8-0F0F-4653-B6C0-0D341F812821}" type="presParOf" srcId="{54A8C71B-9527-49FE-AA20-B121ECBFF176}" destId="{81E0D504-8782-4C6D-9F7F-BCD32346D6A4}" srcOrd="4" destOrd="0" presId="urn:microsoft.com/office/officeart/2008/layout/LinedList"/>
    <dgm:cxn modelId="{BE1AAF11-ED82-41D4-8695-18C2F386B919}" type="presParOf" srcId="{54A8C71B-9527-49FE-AA20-B121ECBFF176}" destId="{C7476769-CEEA-49DE-B657-AE6491411F11}" srcOrd="5" destOrd="0" presId="urn:microsoft.com/office/officeart/2008/layout/LinedList"/>
    <dgm:cxn modelId="{EF592DAA-8C7E-43B9-9401-FB3A5C84025A}" type="presParOf" srcId="{C7476769-CEEA-49DE-B657-AE6491411F11}" destId="{3D5AD73D-0ADE-474B-A5BD-4397605AA905}" srcOrd="0" destOrd="0" presId="urn:microsoft.com/office/officeart/2008/layout/LinedList"/>
    <dgm:cxn modelId="{1E2281A6-DD9D-4492-B2E9-111ADB22CF15}" type="presParOf" srcId="{C7476769-CEEA-49DE-B657-AE6491411F11}" destId="{2329A292-B2F3-47FF-9E69-4207707B05F0}" srcOrd="1" destOrd="0" presId="urn:microsoft.com/office/officeart/2008/layout/LinedList"/>
    <dgm:cxn modelId="{8887AE4A-2FFE-4052-BD71-E0F87E1CFA70}" type="presParOf" srcId="{54A8C71B-9527-49FE-AA20-B121ECBFF176}" destId="{D107A39B-A057-43BF-9504-E32AFCE408D0}" srcOrd="6" destOrd="0" presId="urn:microsoft.com/office/officeart/2008/layout/LinedList"/>
    <dgm:cxn modelId="{1C53249A-35B8-43FB-B490-BD8AA8A6F20B}" type="presParOf" srcId="{54A8C71B-9527-49FE-AA20-B121ECBFF176}" destId="{6EA72EDD-F7BD-4066-8C70-5ADFD964FB94}" srcOrd="7" destOrd="0" presId="urn:microsoft.com/office/officeart/2008/layout/LinedList"/>
    <dgm:cxn modelId="{7A571EA7-4CC7-46D7-A001-400E61F4934E}" type="presParOf" srcId="{6EA72EDD-F7BD-4066-8C70-5ADFD964FB94}" destId="{EF1CA3BB-2055-4599-B2BA-0462AECF0049}" srcOrd="0" destOrd="0" presId="urn:microsoft.com/office/officeart/2008/layout/LinedList"/>
    <dgm:cxn modelId="{127ED778-D993-4CCC-BE5B-3FADD928D3E4}" type="presParOf" srcId="{6EA72EDD-F7BD-4066-8C70-5ADFD964FB94}" destId="{D350F21D-EB72-47CD-BEA3-0146D746AAB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4C7AB7-AB04-4F5C-8080-2696ECF35483}">
      <dsp:nvSpPr>
        <dsp:cNvPr id="0" name=""/>
        <dsp:cNvSpPr/>
      </dsp:nvSpPr>
      <dsp:spPr>
        <a:xfrm>
          <a:off x="0" y="0"/>
          <a:ext cx="67147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39DDAD-6B85-4360-8F69-FAD639AB88CC}">
      <dsp:nvSpPr>
        <dsp:cNvPr id="0" name=""/>
        <dsp:cNvSpPr/>
      </dsp:nvSpPr>
      <dsp:spPr>
        <a:xfrm>
          <a:off x="0" y="0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Concept:</a:t>
          </a:r>
          <a:r>
            <a:rPr lang="en-US" sz="2000" b="0" i="0" kern="1200" baseline="0"/>
            <a:t> The Operating System does not inherently know what Python is. It only knows how to search.</a:t>
          </a:r>
          <a:endParaRPr lang="en-US" sz="2000" kern="1200"/>
        </a:p>
      </dsp:txBody>
      <dsp:txXfrm>
        <a:off x="0" y="0"/>
        <a:ext cx="6714744" cy="1075866"/>
      </dsp:txXfrm>
    </dsp:sp>
    <dsp:sp modelId="{1F7736E9-097A-41DF-A740-9A4403BA9762}">
      <dsp:nvSpPr>
        <dsp:cNvPr id="0" name=""/>
        <dsp:cNvSpPr/>
      </dsp:nvSpPr>
      <dsp:spPr>
        <a:xfrm>
          <a:off x="0" y="1075866"/>
          <a:ext cx="67147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A449B1-BE93-491B-AC27-1C8B695EC112}">
      <dsp:nvSpPr>
        <dsp:cNvPr id="0" name=""/>
        <dsp:cNvSpPr/>
      </dsp:nvSpPr>
      <dsp:spPr>
        <a:xfrm>
          <a:off x="0" y="1075866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The $PATH Variable:</a:t>
          </a:r>
          <a:r>
            <a:rPr lang="en-US" sz="2000" b="0" i="0" kern="1200" baseline="0"/>
            <a:t> An ordered list of directories the OS scans when a command is executed in the terminal.</a:t>
          </a:r>
          <a:endParaRPr lang="en-US" sz="2000" kern="1200"/>
        </a:p>
      </dsp:txBody>
      <dsp:txXfrm>
        <a:off x="0" y="1075866"/>
        <a:ext cx="6714744" cy="1075866"/>
      </dsp:txXfrm>
    </dsp:sp>
    <dsp:sp modelId="{81E0D504-8782-4C6D-9F7F-BCD32346D6A4}">
      <dsp:nvSpPr>
        <dsp:cNvPr id="0" name=""/>
        <dsp:cNvSpPr/>
      </dsp:nvSpPr>
      <dsp:spPr>
        <a:xfrm>
          <a:off x="0" y="2151732"/>
          <a:ext cx="67147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5AD73D-0ADE-474B-A5BD-4397605AA905}">
      <dsp:nvSpPr>
        <dsp:cNvPr id="0" name=""/>
        <dsp:cNvSpPr/>
      </dsp:nvSpPr>
      <dsp:spPr>
        <a:xfrm>
          <a:off x="0" y="2151732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Execution Hierarchy:</a:t>
          </a:r>
          <a:r>
            <a:rPr lang="en-US" sz="2000" b="0" i="0" kern="1200" baseline="0"/>
            <a:t> If you type python, the OS executes the </a:t>
          </a:r>
          <a:r>
            <a:rPr lang="en-US" sz="2000" b="0" i="1" kern="1200" baseline="0"/>
            <a:t>first</a:t>
          </a:r>
          <a:r>
            <a:rPr lang="en-US" sz="2000" b="0" i="0" kern="1200" baseline="0"/>
            <a:t> matching binary it finds in the $PATH order.</a:t>
          </a:r>
          <a:endParaRPr lang="en-US" sz="2000" kern="1200"/>
        </a:p>
      </dsp:txBody>
      <dsp:txXfrm>
        <a:off x="0" y="2151732"/>
        <a:ext cx="6714744" cy="1075866"/>
      </dsp:txXfrm>
    </dsp:sp>
    <dsp:sp modelId="{D107A39B-A057-43BF-9504-E32AFCE408D0}">
      <dsp:nvSpPr>
        <dsp:cNvPr id="0" name=""/>
        <dsp:cNvSpPr/>
      </dsp:nvSpPr>
      <dsp:spPr>
        <a:xfrm>
          <a:off x="0" y="3227598"/>
          <a:ext cx="67147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1CA3BB-2055-4599-B2BA-0462AECF0049}">
      <dsp:nvSpPr>
        <dsp:cNvPr id="0" name=""/>
        <dsp:cNvSpPr/>
      </dsp:nvSpPr>
      <dsp:spPr>
        <a:xfrm>
          <a:off x="0" y="3227598"/>
          <a:ext cx="6714744" cy="1075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Troubleshooting "Command Not Found":</a:t>
          </a:r>
          <a:r>
            <a:rPr lang="en-US" sz="2000" b="0" i="0" kern="1200" baseline="0"/>
            <a:t> This error rarely means Python isn't installed; it means the executable's directory is missing from the system's $PATH variable.</a:t>
          </a:r>
          <a:endParaRPr lang="en-US" sz="2000" kern="1200"/>
        </a:p>
      </dsp:txBody>
      <dsp:txXfrm>
        <a:off x="0" y="3227598"/>
        <a:ext cx="6714744" cy="10758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3DB27-4EF2-3BE8-4D6B-EE782504E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FB092A-011B-F5B6-8B82-42435E81A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0BA19-F0EC-64FB-C443-DB97D9DA9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E2F8-3A27-4711-85C0-D8966461DF9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AA905-76F0-6FE6-8C9C-3DBD89AAB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B9D3E-A0F0-058B-D74A-A1C4D7836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B8E4E-7DF8-404E-BB69-7FD0C8E6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166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19DB-0E8A-9E46-7896-938A25931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F9C51-2A80-98CC-D88D-92CFDB101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BE8CD-DA63-1A4D-E621-BB405A97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E2F8-3A27-4711-85C0-D8966461DF9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D6E36-854D-2DAA-EEEC-6EE4D4914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D9502-0DCF-9B9D-C5CE-51185E761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B8E4E-7DF8-404E-BB69-7FD0C8E6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61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DBE93-7DAF-5697-6AF4-647C21A92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58851-61C7-77EE-D7FE-0EAB30BCF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59045-52DD-92FC-7DE2-8266A4D72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E2F8-3A27-4711-85C0-D8966461DF9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8F675-D273-5042-4A25-E61FBE352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6D755-4F8D-7EE8-F82E-200E2EEF6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B8E4E-7DF8-404E-BB69-7FD0C8E6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0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64EF3-4495-8DA5-6C44-31233E363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D4E5E-8376-DF6A-8757-133D7FCC5A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D6546-5AA3-E7CA-C612-091C86C4E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D30E8-788B-C393-EC7C-7BE264EC5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E2F8-3A27-4711-85C0-D8966461DF9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6E5F-E5C4-BDC0-EE79-B89071D6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A2BF9-403D-B897-47F2-7C962CE11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B8E4E-7DF8-404E-BB69-7FD0C8E6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20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29230-25B4-7152-DEE0-B8C6AE92F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5CA5B-BB55-2EF8-C9A4-A47CBB155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CBDB73-8AEF-F302-0BCB-59879717F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2AC233-5715-7337-BCD4-EEE2D95CD0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48CF1C-BC6B-D2C2-FB76-1A400E5C94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77A12F-B670-A91B-9F23-EADC081CC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E2F8-3A27-4711-85C0-D8966461DF9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3957FE-6364-E401-E11D-0932C2CC0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CBE65A-C6A1-9262-215C-C908FA2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B8E4E-7DF8-404E-BB69-7FD0C8E6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0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569AE-FE02-2262-26D1-2A5408206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9494BB-B0E4-1A42-AD4D-16043F521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E2F8-3A27-4711-85C0-D8966461DF9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779B0C-5722-2CFE-EBC7-82939F79F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54C3C-DF2F-1ABD-A1AA-C7D7FB4CA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B8E4E-7DF8-404E-BB69-7FD0C8E6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BBD0E5-8DDC-EA5A-3E06-8602644A3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E2F8-3A27-4711-85C0-D8966461DF9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F8266-B7E3-373F-252C-E57AB437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03162-06D9-AB32-C62A-A0FBF126F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B8E4E-7DF8-404E-BB69-7FD0C8E6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49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B8D6E-C3A0-6241-7A89-CD0BCCC20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C9103-C648-F30B-56F2-C89FC2E07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C060A7-154E-19FE-A0D0-CB8CB0D22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F3675-21A1-DEEA-3902-FBFCDABA3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E2F8-3A27-4711-85C0-D8966461DF9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FF29B-1E4B-3592-D4E9-FC49E73B8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33B08-95C8-7928-8A44-F11ED1AD7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B8E4E-7DF8-404E-BB69-7FD0C8E6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11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D23D8-5E4F-E0B2-BC16-7D1A8EBB6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0BA21F-5C78-1898-70AF-6FA393F23C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B9373-A3C8-52F6-2861-16A1FE4FF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5A87A-E976-21F7-0E5B-EA6E03A00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E2F8-3A27-4711-85C0-D8966461DF9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2B01D4-0AEE-5E23-89AD-C37FEFC1C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03A14-A3E3-DB52-13CC-810CC1FB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B8E4E-7DF8-404E-BB69-7FD0C8E6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75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8A619-E50B-BA91-AF35-5EC853439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953E98-59C6-D1B8-67BD-D8F96A718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53B4F-2A8D-ED69-EC0A-E10D39F0A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E2F8-3A27-4711-85C0-D8966461DF9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3BD02-11CC-5153-2590-F3709AA9F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C5D57-E2F4-FE7A-F094-FC4C411A1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B8E4E-7DF8-404E-BB69-7FD0C8E6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485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B1D079-C128-4041-37C9-0BBC1D508A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585D53-B353-C41A-E41B-9B8F241C77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30847-C403-6203-B028-68359335B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E2F8-3A27-4711-85C0-D8966461DF9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57DD9-CB17-6A46-EF18-ECB2B40B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9D6B7-31F9-F756-C29F-8EBC54529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B8E4E-7DF8-404E-BB69-7FD0C8E6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16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537931-F753-6770-34EF-F2D64175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0C22C-3AD7-261D-DB99-A51FA426B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3B27A-91AC-F219-B4F3-8ECC1C964F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E8E2F8-3A27-4711-85C0-D8966461DF9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FA038-2EF5-147B-C539-76CC66A61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B776F-D03B-0359-6D6F-F8C24A3E65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0B8E4E-7DF8-404E-BB69-7FD0C8E6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57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56C299-FB49-B8FD-7F66-89C8D941C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0407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/>
              <a:t>Module 1: Environment Mastery &amp; Path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6896BD-F981-D57B-325B-B0B0D66E6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0408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1500"/>
              <a:t>Move beyond basic script execution to understanding the underlying operating system linkages, dependency isolation, and dynamic path routing required for scalable architecture.</a:t>
            </a:r>
          </a:p>
          <a:p>
            <a:pPr algn="l"/>
            <a:r>
              <a:rPr lang="en-US" sz="1500"/>
              <a:t>Presented By: Zaryab Ahmad</a:t>
            </a:r>
          </a:p>
        </p:txBody>
      </p:sp>
      <p:pic>
        <p:nvPicPr>
          <p:cNvPr id="1026" name="Picture 2" descr="Python Environment: Choose Best Tools for Data Science Projects">
            <a:extLst>
              <a:ext uri="{FF2B5EF4-FFF2-40B4-BE49-F238E27FC236}">
                <a16:creationId xmlns:a16="http://schemas.microsoft.com/office/drawing/2014/main" id="{3DC015A8-C966-1555-ED8F-1DA09FC11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"/>
          <a:stretch>
            <a:fillRect/>
          </a:stretch>
        </p:blipFill>
        <p:spPr bwMode="auto">
          <a:xfrm>
            <a:off x="20" y="10"/>
            <a:ext cx="699288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8081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1503B01-BBE9-1A86-5CFF-84F3087F492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61840" y="1138265"/>
                <a:ext cx="4544762" cy="1401183"/>
              </a:xfrm>
            </p:spPr>
            <p:txBody>
              <a:bodyPr anchor="t">
                <a:normAutofit/>
              </a:bodyPr>
              <a:lstStyle/>
              <a:p>
                <a:r>
                  <a:rPr lang="en-US" sz="3200"/>
                  <a:t>Virtual Environments: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𝑣𝑒𝑛𝑣</m:t>
                    </m:r>
                  </m:oMath>
                </a14:m>
                <a:r>
                  <a:rPr lang="en-US" sz="3200"/>
                  <a:t> vs. </a:t>
                </a:r>
                <a:r>
                  <a:rPr lang="en-US" sz="3200" i="1">
                    <a:latin typeface="Cambria Math" panose="02040503050406030204" pitchFamily="18" charset="0"/>
                  </a:rPr>
                  <a:t>conda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1503B01-BBE9-1A86-5CFF-84F3087F49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61840" y="1138265"/>
                <a:ext cx="4544762" cy="1401183"/>
              </a:xfrm>
              <a:blipFill>
                <a:blip r:embed="rId2"/>
                <a:stretch>
                  <a:fillRect l="-3485" t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56" name="Straight Connector 2055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531BAD-23DA-7C8F-4AC9-D2C9909262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1840" y="2412694"/>
                <a:ext cx="6531326" cy="394403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1800" dirty="0"/>
                  <a:t>The Problem: Global installations create state mutations. Upgrading a package for Project A might silently break the YOLO benchmarking script or 3D segmentation model in Project B.</a:t>
                </a:r>
              </a:p>
              <a:p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</a:rPr>
                      <m:t>𝒗𝒆𝒏𝒗</m:t>
                    </m:r>
                  </m:oMath>
                </a14:m>
                <a:r>
                  <a:rPr lang="en-US" sz="1800" b="1" dirty="0"/>
                  <a:t> (Standard Library):</a:t>
                </a:r>
                <a:endParaRPr lang="en-US" sz="1800" dirty="0"/>
              </a:p>
              <a:p>
                <a:pPr lvl="1"/>
                <a:r>
                  <a:rPr lang="en-US" sz="1800" dirty="0"/>
                  <a:t>Mechanism: Creates a lightweight directory containing </a:t>
                </a:r>
                <a:r>
                  <a:rPr lang="en-US" sz="1800" dirty="0" err="1"/>
                  <a:t>symlinks</a:t>
                </a:r>
                <a:r>
                  <a:rPr lang="en-US" sz="1800" dirty="0"/>
                  <a:t> to the system's Python binary and a localized site-packages folder.</a:t>
                </a:r>
              </a:p>
              <a:p>
                <a:pPr lvl="1"/>
                <a:r>
                  <a:rPr lang="en-US" sz="1800" b="1" dirty="0"/>
                  <a:t>Best for: </a:t>
                </a:r>
                <a:r>
                  <a:rPr lang="en-US" sz="1800" dirty="0"/>
                  <a:t>Standard Python microservices, web APIs, and lightweight automation.</a:t>
                </a:r>
              </a:p>
              <a:p>
                <a:r>
                  <a:rPr lang="en-US" sz="1800" b="1" i="1" dirty="0" err="1">
                    <a:latin typeface="Cambria Math" panose="02040503050406030204" pitchFamily="18" charset="0"/>
                  </a:rPr>
                  <a:t>conda</a:t>
                </a:r>
                <a:r>
                  <a:rPr lang="en-US" sz="1800" dirty="0"/>
                  <a:t> </a:t>
                </a:r>
                <a:r>
                  <a:rPr lang="en-US" sz="1800" b="1" dirty="0"/>
                  <a:t>(Cross-Language Package Manager):</a:t>
                </a:r>
              </a:p>
              <a:p>
                <a:pPr lvl="1"/>
                <a:r>
                  <a:rPr lang="en-US" sz="1800" b="1" dirty="0"/>
                  <a:t>Mechanism: </a:t>
                </a:r>
                <a:r>
                  <a:rPr lang="en-US" sz="1800" dirty="0"/>
                  <a:t>Manages not just Python packages, but underlying C/C++ libraries and binaries.</a:t>
                </a:r>
              </a:p>
              <a:p>
                <a:pPr lvl="1"/>
                <a:r>
                  <a:rPr lang="en-US" sz="1800" b="1" dirty="0"/>
                  <a:t>Best for: </a:t>
                </a:r>
                <a:r>
                  <a:rPr lang="en-US" sz="1800" dirty="0"/>
                  <a:t>Heavy data science, computer vision, and AI workloads where system-level dependencies (like specific CUDA toolkits or OpenCV binaries) must be strictly controlled and isolated.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531BAD-23DA-7C8F-4AC9-D2C9909262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1840" y="2412694"/>
                <a:ext cx="6531326" cy="3944039"/>
              </a:xfrm>
              <a:blipFill>
                <a:blip r:embed="rId3"/>
                <a:stretch>
                  <a:fillRect l="-467" t="-1546" b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1" name="Picture 3" descr="Virtualenv vs Conda: Choosing the Right ...">
            <a:extLst>
              <a:ext uri="{FF2B5EF4-FFF2-40B4-BE49-F238E27FC236}">
                <a16:creationId xmlns:a16="http://schemas.microsoft.com/office/drawing/2014/main" id="{15E5A249-BFC0-5C1A-A286-505FD8611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51162" y="2765234"/>
            <a:ext cx="3665746" cy="2439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8196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9A921D5-8098-DCA5-C78C-E04417A0276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306443"/>
              </a:xfrm>
            </p:spPr>
            <p:txBody>
              <a:bodyPr>
                <a:normAutofit/>
              </a:bodyPr>
              <a:lstStyle/>
              <a:p>
                <a:r>
                  <a:rPr lang="en-US" sz="4000" dirty="0"/>
                  <a:t>The Global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 panose="02040503050406030204" pitchFamily="18" charset="0"/>
                      </a:rPr>
                      <m:t>𝑃𝐴𝑇𝐻</m:t>
                    </m:r>
                  </m:oMath>
                </a14:m>
                <a:r>
                  <a:rPr lang="en-US" sz="4000" dirty="0"/>
                  <a:t> &amp; </a:t>
                </a:r>
                <a:r>
                  <a:rPr lang="en-US" sz="4000" i="1" dirty="0">
                    <a:latin typeface="Cambria Math" panose="02040503050406030204" pitchFamily="18" charset="0"/>
                  </a:rPr>
                  <a:t>OS </a:t>
                </a:r>
                <a:r>
                  <a:rPr lang="en-US" sz="4000" dirty="0"/>
                  <a:t>Handoff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9A921D5-8098-DCA5-C78C-E04417A027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306443"/>
              </a:xfrm>
              <a:blipFill>
                <a:blip r:embed="rId2"/>
                <a:stretch>
                  <a:fillRect l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05F6BA9-81E5-326F-408C-7A66256464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577" r="26339" b="-2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B34BB9A-2C2B-A6E9-94C5-B096CFC40F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6818568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08480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2FA0D2-03BF-2A5E-93BF-22F2BD94F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37883"/>
            <a:ext cx="4783697" cy="1942810"/>
          </a:xfrm>
        </p:spPr>
        <p:txBody>
          <a:bodyPr anchor="b">
            <a:normAutofit/>
          </a:bodyPr>
          <a:lstStyle/>
          <a:p>
            <a:r>
              <a:rPr lang="en-US" sz="4000"/>
              <a:t>Python's Internal Routing (sys.path)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14A6D3-EA69-0D3F-49F2-2EC44C4665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686323"/>
            <a:ext cx="4783697" cy="34335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Concept: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Once the OS finds Python, how does Python find your code?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Resolution Order: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When you run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import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my_module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, Python searches exactly in this order: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directory containing the input script (Current Working Directory).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PYTHONPATH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(an environment variable you can set to point to custom libraries).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Standard library directories (e.g.,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math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os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).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site-packages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(where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pip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or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conda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installs third-party tools).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Architectural Impact: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Understanding this order allows developers to structure repositories properly (e.g., separating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src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/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tests/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, and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data/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 directories) without relying on fragile relative imports.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CEDF3D-BFAF-F843-AF5E-104235A92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424" y="854114"/>
            <a:ext cx="5365375" cy="494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437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391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Arial Unicode MS</vt:lpstr>
      <vt:lpstr>Cambria Math</vt:lpstr>
      <vt:lpstr>Office Theme</vt:lpstr>
      <vt:lpstr>Module 1: Environment Mastery &amp; Path Architecture</vt:lpstr>
      <vt:lpstr>Virtual Environments: venv vs. conda</vt:lpstr>
      <vt:lpstr>The Global PATH &amp; OS Handoff</vt:lpstr>
      <vt:lpstr>Python's Internal Routing (sys.path)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2</cp:revision>
  <dcterms:created xsi:type="dcterms:W3CDTF">2026-04-22T05:18:31Z</dcterms:created>
  <dcterms:modified xsi:type="dcterms:W3CDTF">2026-04-22T05:42:44Z</dcterms:modified>
</cp:coreProperties>
</file>