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467111-C06C-463E-B5D9-E909DCE19B4E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905756-9C48-4295-857A-B1E4E23584B9}">
      <dgm:prSet/>
      <dgm:spPr/>
      <dgm:t>
        <a:bodyPr/>
        <a:lstStyle/>
        <a:p>
          <a:r>
            <a:rPr lang="en-US" b="1" i="0" baseline="0"/>
            <a:t>The Amateur Way:</a:t>
          </a:r>
          <a:r>
            <a:rPr lang="en-US" b="0" i="0" baseline="0"/>
            <a:t> Opening the script, finding line 12, changing learning_rate = 0.01 to 0.05, saving the file, and hitting run. If you want to run 10 experiments, you have to edit the code 10 times. This is dangerous and impossible to automate.</a:t>
          </a:r>
          <a:endParaRPr lang="en-US"/>
        </a:p>
      </dgm:t>
    </dgm:pt>
    <dgm:pt modelId="{8687A1B6-F4AE-4819-AB34-78557AED48E5}" type="parTrans" cxnId="{2E7245CB-3156-49B9-BDFA-B9DCA82B8028}">
      <dgm:prSet/>
      <dgm:spPr/>
      <dgm:t>
        <a:bodyPr/>
        <a:lstStyle/>
        <a:p>
          <a:endParaRPr lang="en-US"/>
        </a:p>
      </dgm:t>
    </dgm:pt>
    <dgm:pt modelId="{19D61021-62C7-4BC8-861A-403FDAA266AF}" type="sibTrans" cxnId="{2E7245CB-3156-49B9-BDFA-B9DCA82B8028}">
      <dgm:prSet/>
      <dgm:spPr/>
      <dgm:t>
        <a:bodyPr/>
        <a:lstStyle/>
        <a:p>
          <a:endParaRPr lang="en-US"/>
        </a:p>
      </dgm:t>
    </dgm:pt>
    <dgm:pt modelId="{900AE87B-D111-41D6-9E25-F6BA8473E546}">
      <dgm:prSet/>
      <dgm:spPr/>
      <dgm:t>
        <a:bodyPr/>
        <a:lstStyle/>
        <a:p>
          <a:r>
            <a:rPr lang="en-US" b="1" i="0" baseline="0" dirty="0"/>
            <a:t>The Professional Way:</a:t>
          </a:r>
          <a:r>
            <a:rPr lang="en-US" b="0" i="0" baseline="0" dirty="0"/>
            <a:t> Writing the logic once, and passing the variables from the outside: python train_model.py --</a:t>
          </a:r>
          <a:r>
            <a:rPr lang="en-US" b="0" i="0" baseline="0" dirty="0" err="1"/>
            <a:t>lr</a:t>
          </a:r>
          <a:r>
            <a:rPr lang="en-US" b="0" i="0" baseline="0" dirty="0"/>
            <a:t> 0.05 --epochs 100.</a:t>
          </a:r>
          <a:endParaRPr lang="en-US" dirty="0"/>
        </a:p>
      </dgm:t>
    </dgm:pt>
    <dgm:pt modelId="{0891C5E6-752F-4945-95D9-64E60AE96F1C}" type="parTrans" cxnId="{34BC93F2-34FF-4A7C-90BE-C5035EFF3E79}">
      <dgm:prSet/>
      <dgm:spPr/>
      <dgm:t>
        <a:bodyPr/>
        <a:lstStyle/>
        <a:p>
          <a:endParaRPr lang="en-US"/>
        </a:p>
      </dgm:t>
    </dgm:pt>
    <dgm:pt modelId="{DB6A3552-93A8-49CE-8B7E-B253EDF6763E}" type="sibTrans" cxnId="{34BC93F2-34FF-4A7C-90BE-C5035EFF3E79}">
      <dgm:prSet/>
      <dgm:spPr/>
      <dgm:t>
        <a:bodyPr/>
        <a:lstStyle/>
        <a:p>
          <a:endParaRPr lang="en-US"/>
        </a:p>
      </dgm:t>
    </dgm:pt>
    <dgm:pt modelId="{A1C4D752-D4E2-4CC1-91F7-B9EF701BCAD4}" type="pres">
      <dgm:prSet presAssocID="{54467111-C06C-463E-B5D9-E909DCE19B4E}" presName="Name0" presStyleCnt="0">
        <dgm:presLayoutVars>
          <dgm:dir/>
          <dgm:animLvl val="lvl"/>
          <dgm:resizeHandles val="exact"/>
        </dgm:presLayoutVars>
      </dgm:prSet>
      <dgm:spPr/>
    </dgm:pt>
    <dgm:pt modelId="{CE236B36-AF82-4F44-8F62-4E1C8731CE7F}" type="pres">
      <dgm:prSet presAssocID="{900AE87B-D111-41D6-9E25-F6BA8473E546}" presName="boxAndChildren" presStyleCnt="0"/>
      <dgm:spPr/>
    </dgm:pt>
    <dgm:pt modelId="{1D71ABFC-63C3-4A08-B0F1-8E52E73AAA5C}" type="pres">
      <dgm:prSet presAssocID="{900AE87B-D111-41D6-9E25-F6BA8473E546}" presName="parentTextBox" presStyleLbl="node1" presStyleIdx="0" presStyleCnt="2"/>
      <dgm:spPr/>
    </dgm:pt>
    <dgm:pt modelId="{69497A22-EA5E-4016-9DF6-54C4EEB958E9}" type="pres">
      <dgm:prSet presAssocID="{19D61021-62C7-4BC8-861A-403FDAA266AF}" presName="sp" presStyleCnt="0"/>
      <dgm:spPr/>
    </dgm:pt>
    <dgm:pt modelId="{FB2B444A-9A86-4FA3-B4E2-BDF5071C5CC3}" type="pres">
      <dgm:prSet presAssocID="{CB905756-9C48-4295-857A-B1E4E23584B9}" presName="arrowAndChildren" presStyleCnt="0"/>
      <dgm:spPr/>
    </dgm:pt>
    <dgm:pt modelId="{2B3EA38A-C945-40A5-A871-AD6A553A8219}" type="pres">
      <dgm:prSet presAssocID="{CB905756-9C48-4295-857A-B1E4E23584B9}" presName="parentTextArrow" presStyleLbl="node1" presStyleIdx="1" presStyleCnt="2"/>
      <dgm:spPr/>
    </dgm:pt>
  </dgm:ptLst>
  <dgm:cxnLst>
    <dgm:cxn modelId="{B7B8DE52-DC0E-45D3-9AB6-2F209F9BF3C0}" type="presOf" srcId="{54467111-C06C-463E-B5D9-E909DCE19B4E}" destId="{A1C4D752-D4E2-4CC1-91F7-B9EF701BCAD4}" srcOrd="0" destOrd="0" presId="urn:microsoft.com/office/officeart/2005/8/layout/process4"/>
    <dgm:cxn modelId="{05F56073-D8EA-413C-BF7F-F7A62B6A170F}" type="presOf" srcId="{CB905756-9C48-4295-857A-B1E4E23584B9}" destId="{2B3EA38A-C945-40A5-A871-AD6A553A8219}" srcOrd="0" destOrd="0" presId="urn:microsoft.com/office/officeart/2005/8/layout/process4"/>
    <dgm:cxn modelId="{0D450054-008C-4B79-99F1-28A614D3958E}" type="presOf" srcId="{900AE87B-D111-41D6-9E25-F6BA8473E546}" destId="{1D71ABFC-63C3-4A08-B0F1-8E52E73AAA5C}" srcOrd="0" destOrd="0" presId="urn:microsoft.com/office/officeart/2005/8/layout/process4"/>
    <dgm:cxn modelId="{2E7245CB-3156-49B9-BDFA-B9DCA82B8028}" srcId="{54467111-C06C-463E-B5D9-E909DCE19B4E}" destId="{CB905756-9C48-4295-857A-B1E4E23584B9}" srcOrd="0" destOrd="0" parTransId="{8687A1B6-F4AE-4819-AB34-78557AED48E5}" sibTransId="{19D61021-62C7-4BC8-861A-403FDAA266AF}"/>
    <dgm:cxn modelId="{34BC93F2-34FF-4A7C-90BE-C5035EFF3E79}" srcId="{54467111-C06C-463E-B5D9-E909DCE19B4E}" destId="{900AE87B-D111-41D6-9E25-F6BA8473E546}" srcOrd="1" destOrd="0" parTransId="{0891C5E6-752F-4945-95D9-64E60AE96F1C}" sibTransId="{DB6A3552-93A8-49CE-8B7E-B253EDF6763E}"/>
    <dgm:cxn modelId="{D7B6A5FD-32BD-4026-AABF-037F112CDA15}" type="presParOf" srcId="{A1C4D752-D4E2-4CC1-91F7-B9EF701BCAD4}" destId="{CE236B36-AF82-4F44-8F62-4E1C8731CE7F}" srcOrd="0" destOrd="0" presId="urn:microsoft.com/office/officeart/2005/8/layout/process4"/>
    <dgm:cxn modelId="{794F9493-4E8D-48B1-B5A2-D48E9219522D}" type="presParOf" srcId="{CE236B36-AF82-4F44-8F62-4E1C8731CE7F}" destId="{1D71ABFC-63C3-4A08-B0F1-8E52E73AAA5C}" srcOrd="0" destOrd="0" presId="urn:microsoft.com/office/officeart/2005/8/layout/process4"/>
    <dgm:cxn modelId="{438B6F94-7DB4-4D1C-BA3A-B823A138F11C}" type="presParOf" srcId="{A1C4D752-D4E2-4CC1-91F7-B9EF701BCAD4}" destId="{69497A22-EA5E-4016-9DF6-54C4EEB958E9}" srcOrd="1" destOrd="0" presId="urn:microsoft.com/office/officeart/2005/8/layout/process4"/>
    <dgm:cxn modelId="{16537E7A-17C1-4234-8CAA-5E7E8131D3F2}" type="presParOf" srcId="{A1C4D752-D4E2-4CC1-91F7-B9EF701BCAD4}" destId="{FB2B444A-9A86-4FA3-B4E2-BDF5071C5CC3}" srcOrd="2" destOrd="0" presId="urn:microsoft.com/office/officeart/2005/8/layout/process4"/>
    <dgm:cxn modelId="{E3F34B7E-0CF2-4039-B139-91C9105CA5B2}" type="presParOf" srcId="{FB2B444A-9A86-4FA3-B4E2-BDF5071C5CC3}" destId="{2B3EA38A-C945-40A5-A871-AD6A553A821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311C0C-32BF-497E-A7C0-FA1EB0732D03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DD603F-929B-41EE-A6A1-97B951D866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What it does:</a:t>
          </a:r>
          <a:r>
            <a:rPr lang="en-US" b="0" i="0" baseline="0"/>
            <a:t> It intercepts the words you type in the terminal after the script name and safely converts them into Python variables your code can use.</a:t>
          </a:r>
          <a:endParaRPr lang="en-US"/>
        </a:p>
      </dgm:t>
    </dgm:pt>
    <dgm:pt modelId="{07A1E2EC-6028-4372-AA54-D9FE4B8AA737}" type="parTrans" cxnId="{E19A63BC-E66F-4913-A586-6D167ADA336C}">
      <dgm:prSet/>
      <dgm:spPr/>
      <dgm:t>
        <a:bodyPr/>
        <a:lstStyle/>
        <a:p>
          <a:endParaRPr lang="en-US"/>
        </a:p>
      </dgm:t>
    </dgm:pt>
    <dgm:pt modelId="{32526CA6-853C-4419-8118-B5B9252F6B96}" type="sibTrans" cxnId="{E19A63BC-E66F-4913-A586-6D167ADA336C}">
      <dgm:prSet/>
      <dgm:spPr/>
      <dgm:t>
        <a:bodyPr/>
        <a:lstStyle/>
        <a:p>
          <a:endParaRPr lang="en-US"/>
        </a:p>
      </dgm:t>
    </dgm:pt>
    <dgm:pt modelId="{2737BFF3-D4C3-4FEC-83A6-02F5BFA748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The Magic Help Menu:</a:t>
          </a:r>
          <a:r>
            <a:rPr lang="en-US" b="0" i="0" baseline="0" dirty="0"/>
            <a:t> The best feature of </a:t>
          </a:r>
          <a:r>
            <a:rPr lang="en-US" b="0" i="0" baseline="0" dirty="0" err="1"/>
            <a:t>argparse</a:t>
          </a:r>
          <a:r>
            <a:rPr lang="en-US" b="0" i="0" baseline="0" dirty="0"/>
            <a:t> is that if you type python script.py --help, it automatically reads your code and generates a professional, formatted instruction manual for your tool. You get world-class documentation with zero extra effort.</a:t>
          </a:r>
          <a:endParaRPr lang="en-US" dirty="0"/>
        </a:p>
      </dgm:t>
    </dgm:pt>
    <dgm:pt modelId="{55267BDD-0F33-4F1C-A6C2-E3C591C15293}" type="parTrans" cxnId="{ED77FB3D-41FF-44D2-A958-09E2E2B54328}">
      <dgm:prSet/>
      <dgm:spPr/>
      <dgm:t>
        <a:bodyPr/>
        <a:lstStyle/>
        <a:p>
          <a:endParaRPr lang="en-US"/>
        </a:p>
      </dgm:t>
    </dgm:pt>
    <dgm:pt modelId="{1F6778BB-713F-443F-A164-3EBFFF2CA0F7}" type="sibTrans" cxnId="{ED77FB3D-41FF-44D2-A958-09E2E2B54328}">
      <dgm:prSet/>
      <dgm:spPr/>
      <dgm:t>
        <a:bodyPr/>
        <a:lstStyle/>
        <a:p>
          <a:endParaRPr lang="en-US"/>
        </a:p>
      </dgm:t>
    </dgm:pt>
    <dgm:pt modelId="{76D5BCC5-5711-4D16-9857-897F6F6C3B76}" type="pres">
      <dgm:prSet presAssocID="{C9311C0C-32BF-497E-A7C0-FA1EB0732D03}" presName="linear" presStyleCnt="0">
        <dgm:presLayoutVars>
          <dgm:animLvl val="lvl"/>
          <dgm:resizeHandles val="exact"/>
        </dgm:presLayoutVars>
      </dgm:prSet>
      <dgm:spPr/>
    </dgm:pt>
    <dgm:pt modelId="{6B5DD0EC-B87D-4C9B-9CAD-D8CC2E845970}" type="pres">
      <dgm:prSet presAssocID="{12DD603F-929B-41EE-A6A1-97B951D866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FF128EC-E5CE-40D9-9AE5-812BABE41CA4}" type="pres">
      <dgm:prSet presAssocID="{32526CA6-853C-4419-8118-B5B9252F6B96}" presName="spacer" presStyleCnt="0"/>
      <dgm:spPr/>
    </dgm:pt>
    <dgm:pt modelId="{3E9B448B-F380-43D1-BE11-72192F08058A}" type="pres">
      <dgm:prSet presAssocID="{2737BFF3-D4C3-4FEC-83A6-02F5BFA748D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54E760B-C018-4C5E-AA52-92094A7CBE62}" type="presOf" srcId="{C9311C0C-32BF-497E-A7C0-FA1EB0732D03}" destId="{76D5BCC5-5711-4D16-9857-897F6F6C3B76}" srcOrd="0" destOrd="0" presId="urn:microsoft.com/office/officeart/2005/8/layout/vList2"/>
    <dgm:cxn modelId="{ED77FB3D-41FF-44D2-A958-09E2E2B54328}" srcId="{C9311C0C-32BF-497E-A7C0-FA1EB0732D03}" destId="{2737BFF3-D4C3-4FEC-83A6-02F5BFA748DF}" srcOrd="1" destOrd="0" parTransId="{55267BDD-0F33-4F1C-A6C2-E3C591C15293}" sibTransId="{1F6778BB-713F-443F-A164-3EBFFF2CA0F7}"/>
    <dgm:cxn modelId="{00AA929F-0920-40B2-8C4D-68387A5535EF}" type="presOf" srcId="{12DD603F-929B-41EE-A6A1-97B951D8661A}" destId="{6B5DD0EC-B87D-4C9B-9CAD-D8CC2E845970}" srcOrd="0" destOrd="0" presId="urn:microsoft.com/office/officeart/2005/8/layout/vList2"/>
    <dgm:cxn modelId="{E19A63BC-E66F-4913-A586-6D167ADA336C}" srcId="{C9311C0C-32BF-497E-A7C0-FA1EB0732D03}" destId="{12DD603F-929B-41EE-A6A1-97B951D8661A}" srcOrd="0" destOrd="0" parTransId="{07A1E2EC-6028-4372-AA54-D9FE4B8AA737}" sibTransId="{32526CA6-853C-4419-8118-B5B9252F6B96}"/>
    <dgm:cxn modelId="{4A4905D9-5EEF-49A4-8219-3942D1FDE541}" type="presOf" srcId="{2737BFF3-D4C3-4FEC-83A6-02F5BFA748DF}" destId="{3E9B448B-F380-43D1-BE11-72192F08058A}" srcOrd="0" destOrd="0" presId="urn:microsoft.com/office/officeart/2005/8/layout/vList2"/>
    <dgm:cxn modelId="{0789324E-FD1F-49A7-8E43-A51855252B72}" type="presParOf" srcId="{76D5BCC5-5711-4D16-9857-897F6F6C3B76}" destId="{6B5DD0EC-B87D-4C9B-9CAD-D8CC2E845970}" srcOrd="0" destOrd="0" presId="urn:microsoft.com/office/officeart/2005/8/layout/vList2"/>
    <dgm:cxn modelId="{D1BCFF53-503A-4F7A-8E76-47B77D83CDCC}" type="presParOf" srcId="{76D5BCC5-5711-4D16-9857-897F6F6C3B76}" destId="{DFF128EC-E5CE-40D9-9AE5-812BABE41CA4}" srcOrd="1" destOrd="0" presId="urn:microsoft.com/office/officeart/2005/8/layout/vList2"/>
    <dgm:cxn modelId="{BBC774DE-4636-4116-83A3-AC5BB00A8E29}" type="presParOf" srcId="{76D5BCC5-5711-4D16-9857-897F6F6C3B76}" destId="{3E9B448B-F380-43D1-BE11-72192F08058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1ABFC-63C3-4A08-B0F1-8E52E73AAA5C}">
      <dsp:nvSpPr>
        <dsp:cNvPr id="0" name=""/>
        <dsp:cNvSpPr/>
      </dsp:nvSpPr>
      <dsp:spPr>
        <a:xfrm>
          <a:off x="0" y="2996756"/>
          <a:ext cx="6620255" cy="19661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The Professional Way:</a:t>
          </a:r>
          <a:r>
            <a:rPr lang="en-US" sz="2200" b="0" i="0" kern="1200" baseline="0" dirty="0"/>
            <a:t> Writing the logic once, and passing the variables from the outside: python train_model.py --</a:t>
          </a:r>
          <a:r>
            <a:rPr lang="en-US" sz="2200" b="0" i="0" kern="1200" baseline="0" dirty="0" err="1"/>
            <a:t>lr</a:t>
          </a:r>
          <a:r>
            <a:rPr lang="en-US" sz="2200" b="0" i="0" kern="1200" baseline="0" dirty="0"/>
            <a:t> 0.05 --epochs 100.</a:t>
          </a:r>
          <a:endParaRPr lang="en-US" sz="2200" kern="1200" dirty="0"/>
        </a:p>
      </dsp:txBody>
      <dsp:txXfrm>
        <a:off x="0" y="2996756"/>
        <a:ext cx="6620255" cy="1966196"/>
      </dsp:txXfrm>
    </dsp:sp>
    <dsp:sp modelId="{2B3EA38A-C945-40A5-A871-AD6A553A8219}">
      <dsp:nvSpPr>
        <dsp:cNvPr id="0" name=""/>
        <dsp:cNvSpPr/>
      </dsp:nvSpPr>
      <dsp:spPr>
        <a:xfrm rot="10800000">
          <a:off x="0" y="2238"/>
          <a:ext cx="6620255" cy="3024010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The Amateur Way:</a:t>
          </a:r>
          <a:r>
            <a:rPr lang="en-US" sz="2200" b="0" i="0" kern="1200" baseline="0"/>
            <a:t> Opening the script, finding line 12, changing learning_rate = 0.01 to 0.05, saving the file, and hitting run. If you want to run 10 experiments, you have to edit the code 10 times. This is dangerous and impossible to automate.</a:t>
          </a:r>
          <a:endParaRPr lang="en-US" sz="2200" kern="1200"/>
        </a:p>
      </dsp:txBody>
      <dsp:txXfrm rot="10800000">
        <a:off x="0" y="2238"/>
        <a:ext cx="6620255" cy="19649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DD0EC-B87D-4C9B-9CAD-D8CC2E845970}">
      <dsp:nvSpPr>
        <dsp:cNvPr id="0" name=""/>
        <dsp:cNvSpPr/>
      </dsp:nvSpPr>
      <dsp:spPr>
        <a:xfrm>
          <a:off x="0" y="223717"/>
          <a:ext cx="6163056" cy="244208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What it does:</a:t>
          </a:r>
          <a:r>
            <a:rPr lang="en-US" sz="2200" b="0" i="0" kern="1200" baseline="0"/>
            <a:t> It intercepts the words you type in the terminal after the script name and safely converts them into Python variables your code can use.</a:t>
          </a:r>
          <a:endParaRPr lang="en-US" sz="2200" kern="1200"/>
        </a:p>
      </dsp:txBody>
      <dsp:txXfrm>
        <a:off x="119213" y="342930"/>
        <a:ext cx="5924630" cy="2203656"/>
      </dsp:txXfrm>
    </dsp:sp>
    <dsp:sp modelId="{3E9B448B-F380-43D1-BE11-72192F08058A}">
      <dsp:nvSpPr>
        <dsp:cNvPr id="0" name=""/>
        <dsp:cNvSpPr/>
      </dsp:nvSpPr>
      <dsp:spPr>
        <a:xfrm>
          <a:off x="0" y="2729160"/>
          <a:ext cx="6163056" cy="244208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The Magic Help Menu:</a:t>
          </a:r>
          <a:r>
            <a:rPr lang="en-US" sz="2200" b="0" i="0" kern="1200" baseline="0" dirty="0"/>
            <a:t> The best feature of </a:t>
          </a:r>
          <a:r>
            <a:rPr lang="en-US" sz="2200" b="0" i="0" kern="1200" baseline="0" dirty="0" err="1"/>
            <a:t>argparse</a:t>
          </a:r>
          <a:r>
            <a:rPr lang="en-US" sz="2200" b="0" i="0" kern="1200" baseline="0" dirty="0"/>
            <a:t> is that if you type python script.py --help, it automatically reads your code and generates a professional, formatted instruction manual for your tool. You get world-class documentation with zero extra effort.</a:t>
          </a:r>
          <a:endParaRPr lang="en-US" sz="2200" kern="1200" dirty="0"/>
        </a:p>
      </dsp:txBody>
      <dsp:txXfrm>
        <a:off x="119213" y="2848373"/>
        <a:ext cx="5924630" cy="2203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34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5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3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8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7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9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2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9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0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8EF674-1792-9783-49B5-CE8AEA3C42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5487" b="415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2EE74-8E3F-99DE-93EC-05CD54918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8"/>
            <a:ext cx="8865617" cy="1463114"/>
          </a:xfrm>
        </p:spPr>
        <p:txBody>
          <a:bodyPr anchor="t">
            <a:normAutofit fontScale="90000"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3695E3-28F1-0F6C-1A4B-B62B7A3652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70" y="2841172"/>
            <a:ext cx="9594959" cy="33653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Module 3, we transformed how our code looks. We used Linters and Auto-Formatters (like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Black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) to ensure our scripts meet the industrial PEP 8 standard and look like they were written by a senior engineer.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We are going to change how we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interact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with our code. We will stop "hardcoding" variables inside our scripts and instead build a professional Command-Line Interface (CLI) using Python’s built-in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argparse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library.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research and production, you will often need to run scripts on massive datasets (like a folder of thermal images or medical scans). A server or an automated pipeline cannot open your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file to manually change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input_folder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 =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dataset_A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input_folder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 =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dataset_B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. By building a CLI, you allow machines and other developers to pass instructions directly from the terminal, enabling true automation.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70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0ADF3-38F1-70F7-6F4C-2D741680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The Hardcoding Trap</a:t>
            </a:r>
            <a:br>
              <a:rPr lang="en-US" dirty="0"/>
            </a:b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4532399-ECA7-DF4D-FCEC-81219913C5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406696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0178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E6C1F5-5C05-6608-6E99-A0263EDB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352544" cy="2148840"/>
          </a:xfrm>
        </p:spPr>
        <p:txBody>
          <a:bodyPr>
            <a:normAutofit/>
          </a:bodyPr>
          <a:lstStyle/>
          <a:p>
            <a:r>
              <a:rPr lang="en-US"/>
              <a:t>Enter argparse</a:t>
            </a:r>
            <a:endParaRPr lang="en-US" dirty="0"/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8A20EAF-6DBA-31AA-9460-D2F27BB3EB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907869"/>
              </p:ext>
            </p:extLst>
          </p:nvPr>
        </p:nvGraphicFramePr>
        <p:xfrm>
          <a:off x="5504688" y="978408"/>
          <a:ext cx="6163056" cy="5394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7" name="Picture 5" descr="Using Python Argparse To Develop A ...">
            <a:extLst>
              <a:ext uri="{FF2B5EF4-FFF2-40B4-BE49-F238E27FC236}">
                <a16:creationId xmlns:a16="http://schemas.microsoft.com/office/drawing/2014/main" id="{5143432E-FB17-40E9-5B39-FF6A51120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22" y="2082188"/>
            <a:ext cx="4924539" cy="453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92030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Unicode MS</vt:lpstr>
      <vt:lpstr>Bierstadt</vt:lpstr>
      <vt:lpstr>GestaltVTI</vt:lpstr>
      <vt:lpstr>Welcome &amp; Module Induction</vt:lpstr>
      <vt:lpstr>The Hardcoding Trap </vt:lpstr>
      <vt:lpstr>Enter argparse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2026-04-22T06:58:51Z</dcterms:created>
  <dcterms:modified xsi:type="dcterms:W3CDTF">2026-04-22T07:06:04Z</dcterms:modified>
</cp:coreProperties>
</file>