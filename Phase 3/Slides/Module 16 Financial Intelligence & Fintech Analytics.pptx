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D7DE74-D3F3-4E24-B878-0CB27EFC713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A83A28-BD5A-4EEB-A431-3C946389325F}">
      <dgm:prSet/>
      <dgm:spPr/>
      <dgm:t>
        <a:bodyPr/>
        <a:lstStyle/>
        <a:p>
          <a:r>
            <a:rPr lang="en-US" b="1"/>
            <a:t>Ubiquity</a:t>
          </a:r>
          <a:r>
            <a:rPr lang="en-US"/>
            <a:t>: Analyzing the massive adoption of services like EasyPaisa and JazzCash.</a:t>
          </a:r>
        </a:p>
      </dgm:t>
    </dgm:pt>
    <dgm:pt modelId="{BB668075-BA84-4519-8F77-80E4574C717B}" type="parTrans" cxnId="{C4113397-3863-4C1A-8BC8-8FB3F49CCA5C}">
      <dgm:prSet/>
      <dgm:spPr/>
      <dgm:t>
        <a:bodyPr/>
        <a:lstStyle/>
        <a:p>
          <a:endParaRPr lang="en-US"/>
        </a:p>
      </dgm:t>
    </dgm:pt>
    <dgm:pt modelId="{67B5853B-D6C6-4B0C-838F-0370B17523BD}" type="sibTrans" cxnId="{C4113397-3863-4C1A-8BC8-8FB3F49CCA5C}">
      <dgm:prSet/>
      <dgm:spPr/>
      <dgm:t>
        <a:bodyPr/>
        <a:lstStyle/>
        <a:p>
          <a:endParaRPr lang="en-US"/>
        </a:p>
      </dgm:t>
    </dgm:pt>
    <dgm:pt modelId="{51CB46CB-6D47-4496-80FE-69D9866006A5}">
      <dgm:prSet/>
      <dgm:spPr/>
      <dgm:t>
        <a:bodyPr/>
        <a:lstStyle/>
        <a:p>
          <a:r>
            <a:rPr lang="en-US" b="1"/>
            <a:t>Pattern Recognition</a:t>
          </a:r>
          <a:r>
            <a:rPr lang="en-US"/>
            <a:t>: Identifying usage trends (e.g., bill payments vs. P2P transfers) across different age groups.</a:t>
          </a:r>
        </a:p>
      </dgm:t>
    </dgm:pt>
    <dgm:pt modelId="{1BBD6187-67DF-45B8-9311-008EF8E8666D}" type="parTrans" cxnId="{A77EDDA0-0B34-4506-82DA-F72BF6C15CE3}">
      <dgm:prSet/>
      <dgm:spPr/>
      <dgm:t>
        <a:bodyPr/>
        <a:lstStyle/>
        <a:p>
          <a:endParaRPr lang="en-US"/>
        </a:p>
      </dgm:t>
    </dgm:pt>
    <dgm:pt modelId="{29EEF8E3-A68E-45E2-B3BB-69E59592F06A}" type="sibTrans" cxnId="{A77EDDA0-0B34-4506-82DA-F72BF6C15CE3}">
      <dgm:prSet/>
      <dgm:spPr/>
      <dgm:t>
        <a:bodyPr/>
        <a:lstStyle/>
        <a:p>
          <a:endParaRPr lang="en-US"/>
        </a:p>
      </dgm:t>
    </dgm:pt>
    <dgm:pt modelId="{32A9AB49-D8B1-43BE-B556-23FC60A68442}">
      <dgm:prSet/>
      <dgm:spPr/>
      <dgm:t>
        <a:bodyPr/>
        <a:lstStyle/>
        <a:p>
          <a:r>
            <a:rPr lang="en-US" b="1"/>
            <a:t>Fraud Detection</a:t>
          </a:r>
          <a:r>
            <a:rPr lang="en-US"/>
            <a:t>: Using anomaly detection to spot suspicious transaction spikes or "Social Engineering" scams in real-time.</a:t>
          </a:r>
        </a:p>
      </dgm:t>
    </dgm:pt>
    <dgm:pt modelId="{C9D835BD-75CB-4416-8500-9EF4A497120A}" type="parTrans" cxnId="{A1E49658-BFFA-4922-9C82-C414A9E4C386}">
      <dgm:prSet/>
      <dgm:spPr/>
      <dgm:t>
        <a:bodyPr/>
        <a:lstStyle/>
        <a:p>
          <a:endParaRPr lang="en-US"/>
        </a:p>
      </dgm:t>
    </dgm:pt>
    <dgm:pt modelId="{8957B89A-B56E-42F3-9AE5-87A7E3EC0076}" type="sibTrans" cxnId="{A1E49658-BFFA-4922-9C82-C414A9E4C386}">
      <dgm:prSet/>
      <dgm:spPr/>
      <dgm:t>
        <a:bodyPr/>
        <a:lstStyle/>
        <a:p>
          <a:endParaRPr lang="en-US"/>
        </a:p>
      </dgm:t>
    </dgm:pt>
    <dgm:pt modelId="{A853D303-E7C5-4737-9975-817F9E808D75}" type="pres">
      <dgm:prSet presAssocID="{E3D7DE74-D3F3-4E24-B878-0CB27EFC7139}" presName="root" presStyleCnt="0">
        <dgm:presLayoutVars>
          <dgm:dir/>
          <dgm:resizeHandles val="exact"/>
        </dgm:presLayoutVars>
      </dgm:prSet>
      <dgm:spPr/>
    </dgm:pt>
    <dgm:pt modelId="{7B00C24C-6712-424F-8B2F-7A0552AA7162}" type="pres">
      <dgm:prSet presAssocID="{5EA83A28-BD5A-4EEB-A431-3C946389325F}" presName="compNode" presStyleCnt="0"/>
      <dgm:spPr/>
    </dgm:pt>
    <dgm:pt modelId="{CF563759-717F-4517-A069-379A7AA042A6}" type="pres">
      <dgm:prSet presAssocID="{5EA83A28-BD5A-4EEB-A431-3C946389325F}" presName="bgRect" presStyleLbl="bgShp" presStyleIdx="0" presStyleCnt="3"/>
      <dgm:spPr/>
    </dgm:pt>
    <dgm:pt modelId="{C3A12443-2733-4A38-B02F-9DDA36F06C9F}" type="pres">
      <dgm:prSet presAssocID="{5EA83A28-BD5A-4EEB-A431-3C946389325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574BE925-DAFF-49C5-8405-3FA514E12AD5}" type="pres">
      <dgm:prSet presAssocID="{5EA83A28-BD5A-4EEB-A431-3C946389325F}" presName="spaceRect" presStyleCnt="0"/>
      <dgm:spPr/>
    </dgm:pt>
    <dgm:pt modelId="{B9FFA0BC-5A79-4901-BED6-9E28C4BBD7BB}" type="pres">
      <dgm:prSet presAssocID="{5EA83A28-BD5A-4EEB-A431-3C946389325F}" presName="parTx" presStyleLbl="revTx" presStyleIdx="0" presStyleCnt="3">
        <dgm:presLayoutVars>
          <dgm:chMax val="0"/>
          <dgm:chPref val="0"/>
        </dgm:presLayoutVars>
      </dgm:prSet>
      <dgm:spPr/>
    </dgm:pt>
    <dgm:pt modelId="{7AED3EC8-88C0-4EA4-BC57-F9DAACB7E537}" type="pres">
      <dgm:prSet presAssocID="{67B5853B-D6C6-4B0C-838F-0370B17523BD}" presName="sibTrans" presStyleCnt="0"/>
      <dgm:spPr/>
    </dgm:pt>
    <dgm:pt modelId="{DFF52822-AC00-4E0A-84EA-3C88B4069F02}" type="pres">
      <dgm:prSet presAssocID="{51CB46CB-6D47-4496-80FE-69D9866006A5}" presName="compNode" presStyleCnt="0"/>
      <dgm:spPr/>
    </dgm:pt>
    <dgm:pt modelId="{3F51196C-10AD-45BA-A402-80CE8738717E}" type="pres">
      <dgm:prSet presAssocID="{51CB46CB-6D47-4496-80FE-69D9866006A5}" presName="bgRect" presStyleLbl="bgShp" presStyleIdx="1" presStyleCnt="3"/>
      <dgm:spPr/>
    </dgm:pt>
    <dgm:pt modelId="{37D3C5E9-4B27-44AF-97E7-403DEBA5E9E7}" type="pres">
      <dgm:prSet presAssocID="{51CB46CB-6D47-4496-80FE-69D9866006A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7BD0A395-6658-4744-9ABD-318219603CB2}" type="pres">
      <dgm:prSet presAssocID="{51CB46CB-6D47-4496-80FE-69D9866006A5}" presName="spaceRect" presStyleCnt="0"/>
      <dgm:spPr/>
    </dgm:pt>
    <dgm:pt modelId="{EBDEE642-DE19-4E8D-9FF3-645A9E9A5C6B}" type="pres">
      <dgm:prSet presAssocID="{51CB46CB-6D47-4496-80FE-69D9866006A5}" presName="parTx" presStyleLbl="revTx" presStyleIdx="1" presStyleCnt="3">
        <dgm:presLayoutVars>
          <dgm:chMax val="0"/>
          <dgm:chPref val="0"/>
        </dgm:presLayoutVars>
      </dgm:prSet>
      <dgm:spPr/>
    </dgm:pt>
    <dgm:pt modelId="{EC16DBE5-5DC7-49F2-B98F-57B4A606F5C9}" type="pres">
      <dgm:prSet presAssocID="{29EEF8E3-A68E-45E2-B3BB-69E59592F06A}" presName="sibTrans" presStyleCnt="0"/>
      <dgm:spPr/>
    </dgm:pt>
    <dgm:pt modelId="{E8599622-19EA-4DF2-A4FE-C2AEFA9067FA}" type="pres">
      <dgm:prSet presAssocID="{32A9AB49-D8B1-43BE-B556-23FC60A68442}" presName="compNode" presStyleCnt="0"/>
      <dgm:spPr/>
    </dgm:pt>
    <dgm:pt modelId="{EE0AAAF8-BBE2-4310-B850-2957AD92073B}" type="pres">
      <dgm:prSet presAssocID="{32A9AB49-D8B1-43BE-B556-23FC60A68442}" presName="bgRect" presStyleLbl="bgShp" presStyleIdx="2" presStyleCnt="3"/>
      <dgm:spPr/>
    </dgm:pt>
    <dgm:pt modelId="{BAC43CD5-3617-46C9-BB61-10065D456EEB}" type="pres">
      <dgm:prSet presAssocID="{32A9AB49-D8B1-43BE-B556-23FC60A6844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269C695-9C43-44C0-8902-BCF831A3C6B0}" type="pres">
      <dgm:prSet presAssocID="{32A9AB49-D8B1-43BE-B556-23FC60A68442}" presName="spaceRect" presStyleCnt="0"/>
      <dgm:spPr/>
    </dgm:pt>
    <dgm:pt modelId="{AAA3F495-8473-42A5-A304-9DF55599C4D0}" type="pres">
      <dgm:prSet presAssocID="{32A9AB49-D8B1-43BE-B556-23FC60A6844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9F32A3E-AAC6-4F10-B81A-AFCBECC893F3}" type="presOf" srcId="{5EA83A28-BD5A-4EEB-A431-3C946389325F}" destId="{B9FFA0BC-5A79-4901-BED6-9E28C4BBD7BB}" srcOrd="0" destOrd="0" presId="urn:microsoft.com/office/officeart/2018/2/layout/IconVerticalSolidList"/>
    <dgm:cxn modelId="{A1E49658-BFFA-4922-9C82-C414A9E4C386}" srcId="{E3D7DE74-D3F3-4E24-B878-0CB27EFC7139}" destId="{32A9AB49-D8B1-43BE-B556-23FC60A68442}" srcOrd="2" destOrd="0" parTransId="{C9D835BD-75CB-4416-8500-9EF4A497120A}" sibTransId="{8957B89A-B56E-42F3-9AE5-87A7E3EC0076}"/>
    <dgm:cxn modelId="{C4113397-3863-4C1A-8BC8-8FB3F49CCA5C}" srcId="{E3D7DE74-D3F3-4E24-B878-0CB27EFC7139}" destId="{5EA83A28-BD5A-4EEB-A431-3C946389325F}" srcOrd="0" destOrd="0" parTransId="{BB668075-BA84-4519-8F77-80E4574C717B}" sibTransId="{67B5853B-D6C6-4B0C-838F-0370B17523BD}"/>
    <dgm:cxn modelId="{A77EDDA0-0B34-4506-82DA-F72BF6C15CE3}" srcId="{E3D7DE74-D3F3-4E24-B878-0CB27EFC7139}" destId="{51CB46CB-6D47-4496-80FE-69D9866006A5}" srcOrd="1" destOrd="0" parTransId="{1BBD6187-67DF-45B8-9311-008EF8E8666D}" sibTransId="{29EEF8E3-A68E-45E2-B3BB-69E59592F06A}"/>
    <dgm:cxn modelId="{C44306D1-E89C-4382-A789-179398BE3328}" type="presOf" srcId="{32A9AB49-D8B1-43BE-B556-23FC60A68442}" destId="{AAA3F495-8473-42A5-A304-9DF55599C4D0}" srcOrd="0" destOrd="0" presId="urn:microsoft.com/office/officeart/2018/2/layout/IconVerticalSolidList"/>
    <dgm:cxn modelId="{EB9129D5-F716-4513-B9CE-79632AF26490}" type="presOf" srcId="{51CB46CB-6D47-4496-80FE-69D9866006A5}" destId="{EBDEE642-DE19-4E8D-9FF3-645A9E9A5C6B}" srcOrd="0" destOrd="0" presId="urn:microsoft.com/office/officeart/2018/2/layout/IconVerticalSolidList"/>
    <dgm:cxn modelId="{1A761AFE-3797-4B14-8FF4-7C6FE41AC49F}" type="presOf" srcId="{E3D7DE74-D3F3-4E24-B878-0CB27EFC7139}" destId="{A853D303-E7C5-4737-9975-817F9E808D75}" srcOrd="0" destOrd="0" presId="urn:microsoft.com/office/officeart/2018/2/layout/IconVerticalSolidList"/>
    <dgm:cxn modelId="{AD41CA99-CB90-4550-8149-B77C694FD99D}" type="presParOf" srcId="{A853D303-E7C5-4737-9975-817F9E808D75}" destId="{7B00C24C-6712-424F-8B2F-7A0552AA7162}" srcOrd="0" destOrd="0" presId="urn:microsoft.com/office/officeart/2018/2/layout/IconVerticalSolidList"/>
    <dgm:cxn modelId="{13EA3BB8-5FB4-45D4-A614-1738AC55026D}" type="presParOf" srcId="{7B00C24C-6712-424F-8B2F-7A0552AA7162}" destId="{CF563759-717F-4517-A069-379A7AA042A6}" srcOrd="0" destOrd="0" presId="urn:microsoft.com/office/officeart/2018/2/layout/IconVerticalSolidList"/>
    <dgm:cxn modelId="{60E2CF22-522F-4E49-BB3E-C9DC434FD23A}" type="presParOf" srcId="{7B00C24C-6712-424F-8B2F-7A0552AA7162}" destId="{C3A12443-2733-4A38-B02F-9DDA36F06C9F}" srcOrd="1" destOrd="0" presId="urn:microsoft.com/office/officeart/2018/2/layout/IconVerticalSolidList"/>
    <dgm:cxn modelId="{B5443B96-FAB7-40A6-B679-0B3A9046F9B5}" type="presParOf" srcId="{7B00C24C-6712-424F-8B2F-7A0552AA7162}" destId="{574BE925-DAFF-49C5-8405-3FA514E12AD5}" srcOrd="2" destOrd="0" presId="urn:microsoft.com/office/officeart/2018/2/layout/IconVerticalSolidList"/>
    <dgm:cxn modelId="{ABA0B0C8-C137-4781-BE08-D48AD931B300}" type="presParOf" srcId="{7B00C24C-6712-424F-8B2F-7A0552AA7162}" destId="{B9FFA0BC-5A79-4901-BED6-9E28C4BBD7BB}" srcOrd="3" destOrd="0" presId="urn:microsoft.com/office/officeart/2018/2/layout/IconVerticalSolidList"/>
    <dgm:cxn modelId="{CC2673E4-4C5D-4E3D-A4CE-3E2A43187BAE}" type="presParOf" srcId="{A853D303-E7C5-4737-9975-817F9E808D75}" destId="{7AED3EC8-88C0-4EA4-BC57-F9DAACB7E537}" srcOrd="1" destOrd="0" presId="urn:microsoft.com/office/officeart/2018/2/layout/IconVerticalSolidList"/>
    <dgm:cxn modelId="{4477BC52-464E-4BED-82BF-01248BCBE017}" type="presParOf" srcId="{A853D303-E7C5-4737-9975-817F9E808D75}" destId="{DFF52822-AC00-4E0A-84EA-3C88B4069F02}" srcOrd="2" destOrd="0" presId="urn:microsoft.com/office/officeart/2018/2/layout/IconVerticalSolidList"/>
    <dgm:cxn modelId="{B8686ACE-9D19-4491-AA3F-D430EEFA04DD}" type="presParOf" srcId="{DFF52822-AC00-4E0A-84EA-3C88B4069F02}" destId="{3F51196C-10AD-45BA-A402-80CE8738717E}" srcOrd="0" destOrd="0" presId="urn:microsoft.com/office/officeart/2018/2/layout/IconVerticalSolidList"/>
    <dgm:cxn modelId="{496AEB7D-DBD1-4B8F-A390-99CBDA222C11}" type="presParOf" srcId="{DFF52822-AC00-4E0A-84EA-3C88B4069F02}" destId="{37D3C5E9-4B27-44AF-97E7-403DEBA5E9E7}" srcOrd="1" destOrd="0" presId="urn:microsoft.com/office/officeart/2018/2/layout/IconVerticalSolidList"/>
    <dgm:cxn modelId="{A4DF449F-1FD5-4922-BC84-6745B3B29F0C}" type="presParOf" srcId="{DFF52822-AC00-4E0A-84EA-3C88B4069F02}" destId="{7BD0A395-6658-4744-9ABD-318219603CB2}" srcOrd="2" destOrd="0" presId="urn:microsoft.com/office/officeart/2018/2/layout/IconVerticalSolidList"/>
    <dgm:cxn modelId="{8EBE45C5-F097-4753-8346-CA6595881D8A}" type="presParOf" srcId="{DFF52822-AC00-4E0A-84EA-3C88B4069F02}" destId="{EBDEE642-DE19-4E8D-9FF3-645A9E9A5C6B}" srcOrd="3" destOrd="0" presId="urn:microsoft.com/office/officeart/2018/2/layout/IconVerticalSolidList"/>
    <dgm:cxn modelId="{838C757F-55BA-4AE6-BA24-BA3644015660}" type="presParOf" srcId="{A853D303-E7C5-4737-9975-817F9E808D75}" destId="{EC16DBE5-5DC7-49F2-B98F-57B4A606F5C9}" srcOrd="3" destOrd="0" presId="urn:microsoft.com/office/officeart/2018/2/layout/IconVerticalSolidList"/>
    <dgm:cxn modelId="{715C05DF-98BA-41FF-A99B-1574F41B54E7}" type="presParOf" srcId="{A853D303-E7C5-4737-9975-817F9E808D75}" destId="{E8599622-19EA-4DF2-A4FE-C2AEFA9067FA}" srcOrd="4" destOrd="0" presId="urn:microsoft.com/office/officeart/2018/2/layout/IconVerticalSolidList"/>
    <dgm:cxn modelId="{2FD32A9C-573F-440E-9554-AA46744470A9}" type="presParOf" srcId="{E8599622-19EA-4DF2-A4FE-C2AEFA9067FA}" destId="{EE0AAAF8-BBE2-4310-B850-2957AD92073B}" srcOrd="0" destOrd="0" presId="urn:microsoft.com/office/officeart/2018/2/layout/IconVerticalSolidList"/>
    <dgm:cxn modelId="{B60BE8CB-991F-4FD9-98A3-F4EF32E0602D}" type="presParOf" srcId="{E8599622-19EA-4DF2-A4FE-C2AEFA9067FA}" destId="{BAC43CD5-3617-46C9-BB61-10065D456EEB}" srcOrd="1" destOrd="0" presId="urn:microsoft.com/office/officeart/2018/2/layout/IconVerticalSolidList"/>
    <dgm:cxn modelId="{360ABBFE-B538-4FAC-AB2D-3AB160A80B3C}" type="presParOf" srcId="{E8599622-19EA-4DF2-A4FE-C2AEFA9067FA}" destId="{C269C695-9C43-44C0-8902-BCF831A3C6B0}" srcOrd="2" destOrd="0" presId="urn:microsoft.com/office/officeart/2018/2/layout/IconVerticalSolidList"/>
    <dgm:cxn modelId="{2BBE1FBC-3143-41EB-ACC3-C0093D086059}" type="presParOf" srcId="{E8599622-19EA-4DF2-A4FE-C2AEFA9067FA}" destId="{AAA3F495-8473-42A5-A304-9DF55599C4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563759-717F-4517-A069-379A7AA042A6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A12443-2733-4A38-B02F-9DDA36F06C9F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FA0BC-5A79-4901-BED6-9E28C4BBD7BB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Ubiquity</a:t>
          </a:r>
          <a:r>
            <a:rPr lang="en-US" sz="2300" kern="1200"/>
            <a:t>: Analyzing the massive adoption of services like EasyPaisa and JazzCash.</a:t>
          </a:r>
        </a:p>
      </dsp:txBody>
      <dsp:txXfrm>
        <a:off x="1909124" y="706"/>
        <a:ext cx="5040315" cy="1652921"/>
      </dsp:txXfrm>
    </dsp:sp>
    <dsp:sp modelId="{3F51196C-10AD-45BA-A402-80CE8738717E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3C5E9-4B27-44AF-97E7-403DEBA5E9E7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EE642-DE19-4E8D-9FF3-645A9E9A5C6B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Pattern Recognition</a:t>
          </a:r>
          <a:r>
            <a:rPr lang="en-US" sz="2300" kern="1200"/>
            <a:t>: Identifying usage trends (e.g., bill payments vs. P2P transfers) across different age groups.</a:t>
          </a:r>
        </a:p>
      </dsp:txBody>
      <dsp:txXfrm>
        <a:off x="1909124" y="2066858"/>
        <a:ext cx="5040315" cy="1652921"/>
      </dsp:txXfrm>
    </dsp:sp>
    <dsp:sp modelId="{EE0AAAF8-BBE2-4310-B850-2957AD92073B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C43CD5-3617-46C9-BB61-10065D456EEB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3F495-8473-42A5-A304-9DF55599C4D0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Fraud Detection</a:t>
          </a:r>
          <a:r>
            <a:rPr lang="en-US" sz="2300" kern="1200"/>
            <a:t>: Using anomaly detection to spot suspicious transaction spikes or "Social Engineering" scams in real-time.</a:t>
          </a:r>
        </a:p>
      </dsp:txBody>
      <dsp:txXfrm>
        <a:off x="1909124" y="4133010"/>
        <a:ext cx="5040315" cy="165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4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2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2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5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4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3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8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8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2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1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56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7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odes on papers">
            <a:extLst>
              <a:ext uri="{FF2B5EF4-FFF2-40B4-BE49-F238E27FC236}">
                <a16:creationId xmlns:a16="http://schemas.microsoft.com/office/drawing/2014/main" id="{90A864B1-C339-3E84-D2C4-3CC8CD7DDF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3608" b="12122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8181B0-420E-58ED-1732-909BBB08F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rgbClr val="FFFFFF"/>
                </a:solidFill>
              </a:rPr>
              <a:t>Remittance Flows – The Economic Lifeblood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F99A98-CED0-AD99-D09A-3E91E92779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01923" y="3793937"/>
            <a:ext cx="7588155" cy="25633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The Global Link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Analyzing the billions of dollars flowing from overseas workers back into the local economy.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Impact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Correlating remittance peaks (e.g., before Eid) with local inflation and retail growth.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Forecasting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Predicting future currency inflows to help local businesses plan inventory and expansion.</a:t>
            </a:r>
          </a:p>
        </p:txBody>
      </p:sp>
    </p:spTree>
    <p:extLst>
      <p:ext uri="{BB962C8B-B14F-4D97-AF65-F5344CB8AC3E}">
        <p14:creationId xmlns:p14="http://schemas.microsoft.com/office/powerpoint/2010/main" val="706560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36AA9-E740-2B8E-663F-6DD6D759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Microfinance &amp; Alternative Credit Scoring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C51C79-2C69-7332-7693-6E13F42118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212848"/>
            <a:ext cx="6035041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Gap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Small business owners in rural areas often lack formal bank statements or credit histories.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Data-Driven Trust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Using alternative data (utility bill consistency, mobile phone usage, supplier references) to build "Credit-worthiness" models.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Financial Inclusion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How data science enables interest-free or micro-loans for the "unbanked" population.</a:t>
            </a:r>
          </a:p>
        </p:txBody>
      </p:sp>
      <p:pic>
        <p:nvPicPr>
          <p:cNvPr id="13" name="Picture 12" descr="Desk with productivity items">
            <a:extLst>
              <a:ext uri="{FF2B5EF4-FFF2-40B4-BE49-F238E27FC236}">
                <a16:creationId xmlns:a16="http://schemas.microsoft.com/office/drawing/2014/main" id="{6B246C9D-8950-3EBA-C8D6-A4E9F249C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40" r="18790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7" name="AutoShape 3" descr="Alternative Credit Scoring: A Tool for Broadening Financial Inclusion">
            <a:extLst>
              <a:ext uri="{FF2B5EF4-FFF2-40B4-BE49-F238E27FC236}">
                <a16:creationId xmlns:a16="http://schemas.microsoft.com/office/drawing/2014/main" id="{9D869871-FCF8-642F-11D0-A14796196D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4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6E93A9-EA6C-64E8-17BE-57B835CF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 sz="4400" dirty="0"/>
              <a:t>Islamic Finance – The Logic of Profit-Sharing</a:t>
            </a:r>
          </a:p>
        </p:txBody>
      </p:sp>
      <p:pic>
        <p:nvPicPr>
          <p:cNvPr id="3075" name="Picture 3" descr="Figure No-1. Key Principles and Guidelines of Islamic finance | Download  Scientific Diagram">
            <a:extLst>
              <a:ext uri="{FF2B5EF4-FFF2-40B4-BE49-F238E27FC236}">
                <a16:creationId xmlns:a16="http://schemas.microsoft.com/office/drawing/2014/main" id="{EFA1AABE-D78B-41A6-DC8F-5E51592B2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679" y="3222171"/>
            <a:ext cx="3876640" cy="233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1769797-25C5-7E7A-5878-C1E35D6F94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63886" y="2441273"/>
            <a:ext cx="6517930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Shariah-Compliance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Moving from Interest (Riba) to Profit-Loss Sharing (Mudarabah/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Musharakah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Structuring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How to build systems that track project performance and distribute profits proportionally rather than using fixed percentages.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Transparency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Using data to ensure equitable distribution of risk and reward between the financier and the entrepreneur.</a:t>
            </a:r>
          </a:p>
        </p:txBody>
      </p:sp>
    </p:spTree>
    <p:extLst>
      <p:ext uri="{BB962C8B-B14F-4D97-AF65-F5344CB8AC3E}">
        <p14:creationId xmlns:p14="http://schemas.microsoft.com/office/powerpoint/2010/main" val="120011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410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87884-82F8-3329-A626-01B97F18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Mobile Wallet Analytics (The Fintech Frontier)</a:t>
            </a:r>
          </a:p>
        </p:txBody>
      </p:sp>
      <p:graphicFrame>
        <p:nvGraphicFramePr>
          <p:cNvPr id="4105" name="Content Placeholder 2">
            <a:extLst>
              <a:ext uri="{FF2B5EF4-FFF2-40B4-BE49-F238E27FC236}">
                <a16:creationId xmlns:a16="http://schemas.microsoft.com/office/drawing/2014/main" id="{3F683A72-2A88-7940-ED5B-F1707FC01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20361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81501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253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VanillaVTI</vt:lpstr>
      <vt:lpstr>Remittance Flows – The Economic Lifeblood</vt:lpstr>
      <vt:lpstr>Microfinance &amp; Alternative Credit Scoring</vt:lpstr>
      <vt:lpstr>Islamic Finance – The Logic of Profit-Sharing</vt:lpstr>
      <vt:lpstr>Mobile Wallet Analytics (The Fintech Frontier)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2026-04-28T09:53:00Z</dcterms:created>
  <dcterms:modified xsi:type="dcterms:W3CDTF">2026-04-28T10:00:58Z</dcterms:modified>
</cp:coreProperties>
</file>