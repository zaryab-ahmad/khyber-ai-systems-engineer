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3" d="100"/>
          <a:sy n="53" d="100"/>
        </p:scale>
        <p:origin x="280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FA736-0922-3D81-080C-7869565FCC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3143F-25CA-4985-3997-A419E0DDBA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67F18-6237-0081-1081-D33190C6C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DF828-8456-4FAC-8990-2311B3D8AD4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F3EDA-7494-32D9-920C-1530E3860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4E442-1A1C-6107-AE31-BDC5E4BC4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670CB-762A-417A-8152-F673E1EC7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527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B9511-A22C-1B7B-5590-0D8EACF2E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7C66B-5C81-8F70-40BA-278720EC0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D9965-539A-1E37-30FA-42CD84420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DF828-8456-4FAC-8990-2311B3D8AD4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67CFC-F2D4-1A7C-7A3F-24EAEA348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B28B6-7C9D-DF8D-9BEC-BAF3FC1B6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670CB-762A-417A-8152-F673E1EC7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323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C94FD-712D-C24D-223E-59413846E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B863AF-9A18-A337-CC2E-CEC38CF66E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C5CA3-7834-D334-7618-73E56F602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DF828-8456-4FAC-8990-2311B3D8AD4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7EBE4-C6BA-141F-DE65-4937FADE8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BC58E-7786-73FA-CDC3-CC2DBEDCB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670CB-762A-417A-8152-F673E1EC7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318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ED1D6-0845-935E-8EAC-902336D8A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84EAA-35E1-4615-66D3-5C46F9F6E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2EC474-A88E-89B1-5483-2E3612C72E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FDFCDC-B94E-B377-7BD3-17088045E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DF828-8456-4FAC-8990-2311B3D8AD4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99BBF-994E-1087-0B02-4CFF75BCB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39DC6E-72E9-6575-EB47-34C780BF7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670CB-762A-417A-8152-F673E1EC7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241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D0EB2-B7C2-B503-D2F3-98A885458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D3B0F-0E3A-07D2-FF89-03C15962C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FA311C-2E9A-BF82-0028-60E5EBFAF0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6D65EA-22AE-1FE6-E9E8-17F7A1ED9E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CF49F4-234E-BCB4-1755-4205D48608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644F3A-C62A-3254-054A-746D47FE1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DF828-8456-4FAC-8990-2311B3D8AD4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C9B45A-6E56-1C2D-4B11-D3E071AE1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8E9C86-0DF9-1017-4434-E7B92DA1B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670CB-762A-417A-8152-F673E1EC7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794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C0E8D-F604-ACAE-E541-C85329CD1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4B5D06-73B6-74E2-2598-99E547769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DF828-8456-4FAC-8990-2311B3D8AD4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F9EEA-1DB3-1953-42DE-49F72969D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06617F-E8E5-5314-C65F-9DCAA82E7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670CB-762A-417A-8152-F673E1EC7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032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FF7823-8FE8-2391-3709-951A7F354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DF828-8456-4FAC-8990-2311B3D8AD4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A6C42C-9616-AFD8-D8D0-E0C09C38B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EFBD8-AD3D-81C2-E4D8-82E0A8540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670CB-762A-417A-8152-F673E1EC7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073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FEBCA-0A2C-D914-16AF-173E88413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F8953-4E7F-62A1-A3CF-BE20E8514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4311BD-B50A-DA34-9CF4-36B53CDA43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3A16F-8C24-43C3-B232-E11DF413F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DF828-8456-4FAC-8990-2311B3D8AD4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344882-5580-6B70-FF90-0BC712B6F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AABB54-CDF7-8FF1-9D5D-4E145548E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670CB-762A-417A-8152-F673E1EC7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243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AAF37-9B53-2CE1-243B-3B8F70072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2519E2-4A2C-AF37-5372-CC5275562A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2862A6-A064-9BDD-52F2-1C8348C4C1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3C222-E287-4E1C-F767-F7E09D4CA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DF828-8456-4FAC-8990-2311B3D8AD4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2952D5-5A3A-B13D-D8F6-4E6BBB993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A1981E-1614-3E27-4B27-1BF37A70C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670CB-762A-417A-8152-F673E1EC7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813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91174-D134-8247-421E-73E61FE5C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03E3D-F052-0A3B-35BB-7A75CF2D9B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6304B-79CA-F230-5A0F-9FE376625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DF828-8456-4FAC-8990-2311B3D8AD4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8FAAC-FC57-8471-0534-CABAA6B71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3FAC0-755B-E84F-29D2-8C362940E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670CB-762A-417A-8152-F673E1EC7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405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6BA16B-CE2D-3AE6-3FFA-C56E80158D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36F813-159B-14FA-194C-A365610F72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49759-A4C4-B978-9BB1-BDBD6A071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DF828-8456-4FAC-8990-2311B3D8AD4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230D6-5233-C137-10D7-6673F9A17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FEB0F-FFF3-433E-CBB8-F04F07AC2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670CB-762A-417A-8152-F673E1EC7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814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365373-05DD-0B79-D90B-AB3D2F7BF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11B79-2F76-A835-C1B3-9687E48C2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746DD-309B-F09F-7183-E3903031E2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7DF828-8456-4FAC-8990-2311B3D8AD4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A4769-F248-3E68-828B-65CC72B670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B2367-A014-49D3-A9DD-ED857ADF31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2670CB-762A-417A-8152-F673E1EC7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563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482489"/>
            <a:ext cx="304800" cy="429768"/>
            <a:chOff x="215328" y="-46937"/>
            <a:chExt cx="304800" cy="2773841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BE0D975-7725-493F-8862-ED40C46BE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683F0D96-8CD4-4CDE-B0CC-6577972606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24C51D7-954A-4143-B39C-4752FA3B6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B491EF17-1635-4AEB-AC11-07BA2A119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2F202BA-4686-4BC5-8CA5-60010A0FC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753C14B0-1161-49D1-9AAC-B4BAD7436F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C8E96422-DF7F-4DB7-9786-EABEBF8BC6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122BEDE5-8C12-4BDC-B514-AF5EB431E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313" y="338510"/>
            <a:ext cx="5330898" cy="2745412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3067CA7D-E1E4-657E-F49A-0DAD871959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9111" y="338510"/>
            <a:ext cx="5330898" cy="2678776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CDE5A83-CACD-CE05-0B7A-8F2566773A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6" y="4018137"/>
            <a:ext cx="4651076" cy="2129586"/>
          </a:xfrm>
          <a:noFill/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l"/>
            <a:r>
              <a:rPr lang="en-US" sz="4100" b="1" dirty="0">
                <a:solidFill>
                  <a:schemeClr val="bg1"/>
                </a:solidFill>
              </a:rPr>
              <a:t>Binning &amp; Discretization (From Scalars to Groups)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7BD0B6F-3446-E51C-D6A7-B5EE2F5B4E5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486080" y="3468967"/>
            <a:ext cx="5994666" cy="267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28575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The Concept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: Reducing the "noise" of continuous numbers by grouping them into meaningful bins.</a:t>
            </a:r>
          </a:p>
          <a:p>
            <a:pPr marL="28575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Why it works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: Sometimes the exact value (e.g., Age 22 vs 23) is less important than the category (e.g., Student vs Professional).</a:t>
            </a:r>
          </a:p>
          <a:p>
            <a:pPr marL="28575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Types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:</a:t>
            </a:r>
          </a:p>
          <a:p>
            <a:pPr marL="742950" lvl="1" indent="-228600" algn="l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Equal Width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: Bins of equal size.</a:t>
            </a:r>
          </a:p>
          <a:p>
            <a:pPr marL="742950" lvl="1" indent="-228600" algn="l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Equal Frequency (Quantiles)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: Bins with the same number of data points.</a:t>
            </a:r>
          </a:p>
          <a:p>
            <a:pPr marL="28575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88964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" name="Rectangle 2077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0" name="Rectangle 2079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86" name="Group 2085">
            <a:extLst>
              <a:ext uri="{FF2B5EF4-FFF2-40B4-BE49-F238E27FC236}">
                <a16:creationId xmlns:a16="http://schemas.microsoft.com/office/drawing/2014/main" id="{913B067F-3154-4968-A886-DF93A787E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072" name="Oval 2071">
              <a:extLst>
                <a:ext uri="{FF2B5EF4-FFF2-40B4-BE49-F238E27FC236}">
                  <a16:creationId xmlns:a16="http://schemas.microsoft.com/office/drawing/2014/main" id="{97583D6C-C05B-47AB-8540-B2700B82A4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8" name="Oval 2087">
              <a:extLst>
                <a:ext uri="{FF2B5EF4-FFF2-40B4-BE49-F238E27FC236}">
                  <a16:creationId xmlns:a16="http://schemas.microsoft.com/office/drawing/2014/main" id="{6501AD91-D973-4968-95E4-4C26CFDF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4" name="Oval 2073">
              <a:extLst>
                <a:ext uri="{FF2B5EF4-FFF2-40B4-BE49-F238E27FC236}">
                  <a16:creationId xmlns:a16="http://schemas.microsoft.com/office/drawing/2014/main" id="{5C165989-F5FE-4BB6-9817-E7828CB1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5" name="Oval 2074">
              <a:extLst>
                <a:ext uri="{FF2B5EF4-FFF2-40B4-BE49-F238E27FC236}">
                  <a16:creationId xmlns:a16="http://schemas.microsoft.com/office/drawing/2014/main" id="{6B0649CC-B912-4E82-BEA0-DA75ECB19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76" name="Oval 2075">
              <a:extLst>
                <a:ext uri="{FF2B5EF4-FFF2-40B4-BE49-F238E27FC236}">
                  <a16:creationId xmlns:a16="http://schemas.microsoft.com/office/drawing/2014/main" id="{6BA08C17-C9A5-4FA8-ABC4-44FB3B869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7" name="Oval 2076">
              <a:extLst>
                <a:ext uri="{FF2B5EF4-FFF2-40B4-BE49-F238E27FC236}">
                  <a16:creationId xmlns:a16="http://schemas.microsoft.com/office/drawing/2014/main" id="{70DEAC6C-553C-437E-BC17-D4495233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79" name="Rectangle 2078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81" name="Group 2080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082" name="Straight Connector 2081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3" name="Straight Connector 2082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4" name="Straight Connector 2083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5" name="Straight Connector 2084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87" name="Rectangle 2086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89" name="Group 2088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2090" name="Straight Connector 2089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Straight Connector 2090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2" name="Straight Connector 2091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3" name="Straight Connector 2092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116CA8A-A49E-B214-200F-85BC44489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4018137"/>
            <a:ext cx="5071221" cy="2129586"/>
          </a:xfrm>
          <a:noFill/>
        </p:spPr>
        <p:txBody>
          <a:bodyPr anchor="t">
            <a:normAutofit/>
          </a:bodyPr>
          <a:lstStyle/>
          <a:p>
            <a:r>
              <a:rPr lang="en-US" sz="4100" b="1">
                <a:solidFill>
                  <a:schemeClr val="bg1"/>
                </a:solidFill>
              </a:rPr>
              <a:t>Encoding Categorical Data (Talking to the Machine)</a:t>
            </a:r>
          </a:p>
        </p:txBody>
      </p:sp>
      <p:pic>
        <p:nvPicPr>
          <p:cNvPr id="2051" name="Picture 3" descr="Effective Methods of Categorical Data Encoding for Artificial Intelligence  Algorithms">
            <a:extLst>
              <a:ext uri="{FF2B5EF4-FFF2-40B4-BE49-F238E27FC236}">
                <a16:creationId xmlns:a16="http://schemas.microsoft.com/office/drawing/2014/main" id="{3F219046-905A-E13C-24D1-D3561983FF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50933" y="617779"/>
            <a:ext cx="10203916" cy="326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95" name="Group 2094">
            <a:extLst>
              <a:ext uri="{FF2B5EF4-FFF2-40B4-BE49-F238E27FC236}">
                <a16:creationId xmlns:a16="http://schemas.microsoft.com/office/drawing/2014/main" id="{1F4E1649-4D1F-4A91-AF97-A254BFDD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2096" name="Straight Connector 2095">
              <a:extLst>
                <a:ext uri="{FF2B5EF4-FFF2-40B4-BE49-F238E27FC236}">
                  <a16:creationId xmlns:a16="http://schemas.microsoft.com/office/drawing/2014/main" id="{FE483602-62F9-474D-9C9B-5EE4CD76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7" name="Straight Connector 2096">
              <a:extLst>
                <a:ext uri="{FF2B5EF4-FFF2-40B4-BE49-F238E27FC236}">
                  <a16:creationId xmlns:a16="http://schemas.microsoft.com/office/drawing/2014/main" id="{DD7D1AC0-A6C7-40E3-9841-F34AC831A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8" name="Straight Connector 2097">
              <a:extLst>
                <a:ext uri="{FF2B5EF4-FFF2-40B4-BE49-F238E27FC236}">
                  <a16:creationId xmlns:a16="http://schemas.microsoft.com/office/drawing/2014/main" id="{F951C4DD-7427-497D-9DE3-9D731D3F4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9" name="Straight Connector 2098">
              <a:extLst>
                <a:ext uri="{FF2B5EF4-FFF2-40B4-BE49-F238E27FC236}">
                  <a16:creationId xmlns:a16="http://schemas.microsoft.com/office/drawing/2014/main" id="{0EE18298-0BF5-4D7A-921A-2F4186E8D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01" name="Oval 2100">
            <a:extLst>
              <a:ext uri="{FF2B5EF4-FFF2-40B4-BE49-F238E27FC236}">
                <a16:creationId xmlns:a16="http://schemas.microsoft.com/office/drawing/2014/main" id="{773AEA78-C03B-40B7-9D11-DC022119D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600000">
            <a:off x="10150845" y="4270841"/>
            <a:ext cx="1897885" cy="1897885"/>
          </a:xfrm>
          <a:prstGeom prst="ellipse">
            <a:avLst/>
          </a:prstGeom>
          <a:gradFill>
            <a:gsLst>
              <a:gs pos="0">
                <a:schemeClr val="tx2">
                  <a:lumMod val="75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4828370-96E7-422F-A5E8-193551D732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25304" y="4018143"/>
            <a:ext cx="5549111" cy="2129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Problem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Algorithms only understand math, not words like "Peshawar" or "Medical."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Label Encoding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Assigning a unique integer to each category (0, 1, 2...). Best for "Ordinal" data where order matters (Small, Medium, Large).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One-Hot Encoding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Creating a new binary column (0 or 1) for every unique category. Best for "Nominal" data where no order exists (City names).</a:t>
            </a:r>
          </a:p>
        </p:txBody>
      </p:sp>
    </p:spTree>
    <p:extLst>
      <p:ext uri="{BB962C8B-B14F-4D97-AF65-F5344CB8AC3E}">
        <p14:creationId xmlns:p14="http://schemas.microsoft.com/office/powerpoint/2010/main" val="2165825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Rectangle 3079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2" name="Rectangle 3081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84" name="Group 3083">
            <a:extLst>
              <a:ext uri="{FF2B5EF4-FFF2-40B4-BE49-F238E27FC236}">
                <a16:creationId xmlns:a16="http://schemas.microsoft.com/office/drawing/2014/main" id="{913B067F-3154-4968-A886-DF93A787E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3085" name="Oval 3084">
              <a:extLst>
                <a:ext uri="{FF2B5EF4-FFF2-40B4-BE49-F238E27FC236}">
                  <a16:creationId xmlns:a16="http://schemas.microsoft.com/office/drawing/2014/main" id="{97583D6C-C05B-47AB-8540-B2700B82A4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6" name="Oval 3085">
              <a:extLst>
                <a:ext uri="{FF2B5EF4-FFF2-40B4-BE49-F238E27FC236}">
                  <a16:creationId xmlns:a16="http://schemas.microsoft.com/office/drawing/2014/main" id="{6501AD91-D973-4968-95E4-4C26CFDF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7" name="Oval 3086">
              <a:extLst>
                <a:ext uri="{FF2B5EF4-FFF2-40B4-BE49-F238E27FC236}">
                  <a16:creationId xmlns:a16="http://schemas.microsoft.com/office/drawing/2014/main" id="{5C165989-F5FE-4BB6-9817-E7828CB1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8" name="Oval 3087">
              <a:extLst>
                <a:ext uri="{FF2B5EF4-FFF2-40B4-BE49-F238E27FC236}">
                  <a16:creationId xmlns:a16="http://schemas.microsoft.com/office/drawing/2014/main" id="{6B0649CC-B912-4E82-BEA0-DA75ECB19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89" name="Oval 3088">
              <a:extLst>
                <a:ext uri="{FF2B5EF4-FFF2-40B4-BE49-F238E27FC236}">
                  <a16:creationId xmlns:a16="http://schemas.microsoft.com/office/drawing/2014/main" id="{6BA08C17-C9A5-4FA8-ABC4-44FB3B869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0" name="Oval 3089">
              <a:extLst>
                <a:ext uri="{FF2B5EF4-FFF2-40B4-BE49-F238E27FC236}">
                  <a16:creationId xmlns:a16="http://schemas.microsoft.com/office/drawing/2014/main" id="{70DEAC6C-553C-437E-BC17-D4495233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92" name="Rectangle 3091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94" name="Group 3093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095" name="Straight Connector 3094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6" name="Straight Connector 3095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7" name="Straight Connector 3096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8" name="Straight Connector 3097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00" name="Rectangle 3099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02" name="Group 3101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03" name="Straight Connector 3102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4" name="Straight Connector 3103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5" name="Straight Connector 3104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6" name="Straight Connector 3105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3F43D01-ACA7-360F-ED8E-128FE048D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28" y="4018721"/>
            <a:ext cx="4954617" cy="2129586"/>
          </a:xfrm>
          <a:noFill/>
        </p:spPr>
        <p:txBody>
          <a:bodyPr anchor="t"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Feature Extraction (Synthesizing New Insights)</a:t>
            </a:r>
          </a:p>
        </p:txBody>
      </p:sp>
      <p:pic>
        <p:nvPicPr>
          <p:cNvPr id="3075" name="Picture 3" descr="Understanding Feature Extraction in Machine Learning">
            <a:extLst>
              <a:ext uri="{FF2B5EF4-FFF2-40B4-BE49-F238E27FC236}">
                <a16:creationId xmlns:a16="http://schemas.microsoft.com/office/drawing/2014/main" id="{690F3DBD-E4BC-AC18-D3D5-D994BF4A4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36912" y="617779"/>
            <a:ext cx="7031958" cy="326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108" name="Group 3107">
            <a:extLst>
              <a:ext uri="{FF2B5EF4-FFF2-40B4-BE49-F238E27FC236}">
                <a16:creationId xmlns:a16="http://schemas.microsoft.com/office/drawing/2014/main" id="{1F4E1649-4D1F-4A91-AF97-A254BFDD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3109" name="Straight Connector 3108">
              <a:extLst>
                <a:ext uri="{FF2B5EF4-FFF2-40B4-BE49-F238E27FC236}">
                  <a16:creationId xmlns:a16="http://schemas.microsoft.com/office/drawing/2014/main" id="{FE483602-62F9-474D-9C9B-5EE4CD76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0" name="Straight Connector 3109">
              <a:extLst>
                <a:ext uri="{FF2B5EF4-FFF2-40B4-BE49-F238E27FC236}">
                  <a16:creationId xmlns:a16="http://schemas.microsoft.com/office/drawing/2014/main" id="{DD7D1AC0-A6C7-40E3-9841-F34AC831A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1" name="Straight Connector 3110">
              <a:extLst>
                <a:ext uri="{FF2B5EF4-FFF2-40B4-BE49-F238E27FC236}">
                  <a16:creationId xmlns:a16="http://schemas.microsoft.com/office/drawing/2014/main" id="{F951C4DD-7427-497D-9DE3-9D731D3F4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2" name="Straight Connector 3111">
              <a:extLst>
                <a:ext uri="{FF2B5EF4-FFF2-40B4-BE49-F238E27FC236}">
                  <a16:creationId xmlns:a16="http://schemas.microsoft.com/office/drawing/2014/main" id="{0EE18298-0BF5-4D7A-921A-2F4186E8D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14" name="Oval 3113">
            <a:extLst>
              <a:ext uri="{FF2B5EF4-FFF2-40B4-BE49-F238E27FC236}">
                <a16:creationId xmlns:a16="http://schemas.microsoft.com/office/drawing/2014/main" id="{773AEA78-C03B-40B7-9D11-DC022119D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600000">
            <a:off x="10150845" y="4270841"/>
            <a:ext cx="1897885" cy="1897885"/>
          </a:xfrm>
          <a:prstGeom prst="ellipse">
            <a:avLst/>
          </a:prstGeom>
          <a:gradFill>
            <a:gsLst>
              <a:gs pos="0">
                <a:schemeClr val="tx2">
                  <a:lumMod val="75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85FA5A-58E7-B875-D05F-3D1DC88CF9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06164" y="4018143"/>
            <a:ext cx="6068252" cy="2440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Definition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Creating new variables from existing ones to expose hidden patterns.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Date/Time Extraction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Breaking a "Timestamp" into 'Hour of Day', 'Day of Week', or 'Is Weekend'.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Mathematical Extraction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Creating a 'Price per Square Foot' column from 'Total Price' and 'Area'.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Domain Specific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In medical imaging, extracting the 'Aspect Ratio' of a detected cell.</a:t>
            </a:r>
          </a:p>
        </p:txBody>
      </p:sp>
    </p:spTree>
    <p:extLst>
      <p:ext uri="{BB962C8B-B14F-4D97-AF65-F5344CB8AC3E}">
        <p14:creationId xmlns:p14="http://schemas.microsoft.com/office/powerpoint/2010/main" val="342328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4" name="Rectangle 4103">
            <a:extLst>
              <a:ext uri="{FF2B5EF4-FFF2-40B4-BE49-F238E27FC236}">
                <a16:creationId xmlns:a16="http://schemas.microsoft.com/office/drawing/2014/main" id="{55006F82-50D2-401C-BE85-FFEA1C196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6" name="Rectangle 4105">
            <a:extLst>
              <a:ext uri="{FF2B5EF4-FFF2-40B4-BE49-F238E27FC236}">
                <a16:creationId xmlns:a16="http://schemas.microsoft.com/office/drawing/2014/main" id="{32034F32-09B4-47B4-B550-1F1CE3D53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08" name="Group 4107">
            <a:extLst>
              <a:ext uri="{FF2B5EF4-FFF2-40B4-BE49-F238E27FC236}">
                <a16:creationId xmlns:a16="http://schemas.microsoft.com/office/drawing/2014/main" id="{DE281959-4C2A-43BA-8C83-11E748D31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4109" name="Oval 4108">
              <a:extLst>
                <a:ext uri="{FF2B5EF4-FFF2-40B4-BE49-F238E27FC236}">
                  <a16:creationId xmlns:a16="http://schemas.microsoft.com/office/drawing/2014/main" id="{085BD03E-6111-486E-A44E-13DE7D69D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0" name="Oval 4109">
              <a:extLst>
                <a:ext uri="{FF2B5EF4-FFF2-40B4-BE49-F238E27FC236}">
                  <a16:creationId xmlns:a16="http://schemas.microsoft.com/office/drawing/2014/main" id="{1AEAC14A-07C6-4D53-B462-9F09A96B7E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1" name="Oval 4110">
              <a:extLst>
                <a:ext uri="{FF2B5EF4-FFF2-40B4-BE49-F238E27FC236}">
                  <a16:creationId xmlns:a16="http://schemas.microsoft.com/office/drawing/2014/main" id="{4EE382AD-4EFB-4F1D-87D8-BBAFF1A14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2" name="Oval 4111">
              <a:extLst>
                <a:ext uri="{FF2B5EF4-FFF2-40B4-BE49-F238E27FC236}">
                  <a16:creationId xmlns:a16="http://schemas.microsoft.com/office/drawing/2014/main" id="{7F9C3030-DD76-46ED-8C3D-5E6B155D7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13" name="Oval 4112">
              <a:extLst>
                <a:ext uri="{FF2B5EF4-FFF2-40B4-BE49-F238E27FC236}">
                  <a16:creationId xmlns:a16="http://schemas.microsoft.com/office/drawing/2014/main" id="{3774AC63-66CE-4E5C-9DAF-71E4E0C042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4" name="Oval 4113">
              <a:extLst>
                <a:ext uri="{FF2B5EF4-FFF2-40B4-BE49-F238E27FC236}">
                  <a16:creationId xmlns:a16="http://schemas.microsoft.com/office/drawing/2014/main" id="{374276B0-1AE1-4BAA-A117-B597012605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B703373-45D1-5253-8A46-D27C1B2A3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244" y="759441"/>
            <a:ext cx="5867716" cy="1573872"/>
          </a:xfrm>
          <a:noFill/>
        </p:spPr>
        <p:txBody>
          <a:bodyPr anchor="b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Handling Skewed Data (The Log Transform)</a:t>
            </a:r>
          </a:p>
        </p:txBody>
      </p:sp>
      <p:sp>
        <p:nvSpPr>
          <p:cNvPr id="4116" name="Rectangle 4115">
            <a:extLst>
              <a:ext uri="{FF2B5EF4-FFF2-40B4-BE49-F238E27FC236}">
                <a16:creationId xmlns:a16="http://schemas.microsoft.com/office/drawing/2014/main" id="{4FCECCE4-3046-4A76-B4C0-767A6251C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18" name="Group 4117">
            <a:extLst>
              <a:ext uri="{FF2B5EF4-FFF2-40B4-BE49-F238E27FC236}">
                <a16:creationId xmlns:a16="http://schemas.microsoft.com/office/drawing/2014/main" id="{D6F309B0-04E5-4883-9605-1364452C6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4119" name="Straight Connector 4118">
              <a:extLst>
                <a:ext uri="{FF2B5EF4-FFF2-40B4-BE49-F238E27FC236}">
                  <a16:creationId xmlns:a16="http://schemas.microsoft.com/office/drawing/2014/main" id="{E11AE0B5-579B-4455-9159-4E4F0A8CCE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0" name="Straight Connector 4119">
              <a:extLst>
                <a:ext uri="{FF2B5EF4-FFF2-40B4-BE49-F238E27FC236}">
                  <a16:creationId xmlns:a16="http://schemas.microsoft.com/office/drawing/2014/main" id="{7D011DD2-D339-42A2-B916-5E9494D4A4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1" name="Straight Connector 4120">
              <a:extLst>
                <a:ext uri="{FF2B5EF4-FFF2-40B4-BE49-F238E27FC236}">
                  <a16:creationId xmlns:a16="http://schemas.microsoft.com/office/drawing/2014/main" id="{BE43332E-2051-4B76-BC37-83CA62919D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2" name="Straight Connector 4121">
              <a:extLst>
                <a:ext uri="{FF2B5EF4-FFF2-40B4-BE49-F238E27FC236}">
                  <a16:creationId xmlns:a16="http://schemas.microsoft.com/office/drawing/2014/main" id="{6B80359C-87A2-4B25-838D-8F833616F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24" name="Rectangle 4123">
            <a:extLst>
              <a:ext uri="{FF2B5EF4-FFF2-40B4-BE49-F238E27FC236}">
                <a16:creationId xmlns:a16="http://schemas.microsoft.com/office/drawing/2014/main" id="{096F20E2-F42F-4B71-8BC5-478533FE1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26" name="Group 4125">
            <a:extLst>
              <a:ext uri="{FF2B5EF4-FFF2-40B4-BE49-F238E27FC236}">
                <a16:creationId xmlns:a16="http://schemas.microsoft.com/office/drawing/2014/main" id="{34039184-A11C-46AE-854D-8B2294436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127" name="Straight Connector 4126">
              <a:extLst>
                <a:ext uri="{FF2B5EF4-FFF2-40B4-BE49-F238E27FC236}">
                  <a16:creationId xmlns:a16="http://schemas.microsoft.com/office/drawing/2014/main" id="{3D2F1956-BECA-4651-82AD-00D7D7F59D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8" name="Straight Connector 4127">
              <a:extLst>
                <a:ext uri="{FF2B5EF4-FFF2-40B4-BE49-F238E27FC236}">
                  <a16:creationId xmlns:a16="http://schemas.microsoft.com/office/drawing/2014/main" id="{A3F1C39C-42B5-430D-84F0-7018DD01CE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9" name="Straight Connector 4128">
              <a:extLst>
                <a:ext uri="{FF2B5EF4-FFF2-40B4-BE49-F238E27FC236}">
                  <a16:creationId xmlns:a16="http://schemas.microsoft.com/office/drawing/2014/main" id="{BA7D71D2-799A-4C6D-AD0E-D7BCF15E9F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0" name="Straight Connector 4129">
              <a:extLst>
                <a:ext uri="{FF2B5EF4-FFF2-40B4-BE49-F238E27FC236}">
                  <a16:creationId xmlns:a16="http://schemas.microsoft.com/office/drawing/2014/main" id="{5C9B72C0-DA11-4A2F-BADC-5BD946CFD0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099" name="Picture 3" descr="Dealing with Skewed Data Easy Techniques for Better Models | by Tamanna |  Medium">
            <a:extLst>
              <a:ext uri="{FF2B5EF4-FFF2-40B4-BE49-F238E27FC236}">
                <a16:creationId xmlns:a16="http://schemas.microsoft.com/office/drawing/2014/main" id="{435D8036-1E97-0BB7-E2EE-D315997B6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913"/>
          <a:stretch>
            <a:fillRect/>
          </a:stretch>
        </p:blipFill>
        <p:spPr bwMode="auto">
          <a:xfrm>
            <a:off x="695408" y="706170"/>
            <a:ext cx="4024499" cy="5431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132" name="Group 4131">
            <a:extLst>
              <a:ext uri="{FF2B5EF4-FFF2-40B4-BE49-F238E27FC236}">
                <a16:creationId xmlns:a16="http://schemas.microsoft.com/office/drawing/2014/main" id="{2219C598-7B69-490E-97B6-4E4DC4964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562055" y="850149"/>
            <a:ext cx="304800" cy="429768"/>
            <a:chOff x="215328" y="-46937"/>
            <a:chExt cx="304800" cy="2773841"/>
          </a:xfrm>
        </p:grpSpPr>
        <p:cxnSp>
          <p:nvCxnSpPr>
            <p:cNvPr id="4133" name="Straight Connector 4132">
              <a:extLst>
                <a:ext uri="{FF2B5EF4-FFF2-40B4-BE49-F238E27FC236}">
                  <a16:creationId xmlns:a16="http://schemas.microsoft.com/office/drawing/2014/main" id="{EF504F69-53C8-4088-9C6A-56FFDA3318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4" name="Straight Connector 4133">
              <a:extLst>
                <a:ext uri="{FF2B5EF4-FFF2-40B4-BE49-F238E27FC236}">
                  <a16:creationId xmlns:a16="http://schemas.microsoft.com/office/drawing/2014/main" id="{F5EDE870-C63A-4D06-A144-9652B7D895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5" name="Straight Connector 4134">
              <a:extLst>
                <a:ext uri="{FF2B5EF4-FFF2-40B4-BE49-F238E27FC236}">
                  <a16:creationId xmlns:a16="http://schemas.microsoft.com/office/drawing/2014/main" id="{4CB714C2-8F44-4A42-BA66-2516AFA81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6" name="Straight Connector 4135">
              <a:extLst>
                <a:ext uri="{FF2B5EF4-FFF2-40B4-BE49-F238E27FC236}">
                  <a16:creationId xmlns:a16="http://schemas.microsoft.com/office/drawing/2014/main" id="{B844F522-4E10-42B1-840D-5959A9639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AEF5D4B8-5176-7F07-EB2E-9448B7EC90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58846" y="2564439"/>
            <a:ext cx="5867720" cy="3693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The "Bunching" Problem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 Real-world data (like wealth or rainfall) is often skewed, with most values bunched on the left and a few extreme values on the right.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Log Transformation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 Applying log(x) "pulls in" the extreme outliers and spreads out the bunched values.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The Result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 A distribution that looks "Normal" (Bell Curve), which is a requirement for many statistical models.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79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341</Words>
  <Application>Microsoft Office PowerPoint</Application>
  <PresentationFormat>Widescreen</PresentationFormat>
  <Paragraphs>19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Google Sans Text</vt:lpstr>
      <vt:lpstr>Office Theme</vt:lpstr>
      <vt:lpstr>Binning &amp; Discretization (From Scalars to Groups)</vt:lpstr>
      <vt:lpstr>Encoding Categorical Data (Talking to the Machine)</vt:lpstr>
      <vt:lpstr>Feature Extraction (Synthesizing New Insights)</vt:lpstr>
      <vt:lpstr>Handling Skewed Data (The Log Transform)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5</cp:revision>
  <dcterms:created xsi:type="dcterms:W3CDTF">2026-04-27T11:16:37Z</dcterms:created>
  <dcterms:modified xsi:type="dcterms:W3CDTF">2026-04-27T11:30:44Z</dcterms:modified>
</cp:coreProperties>
</file>