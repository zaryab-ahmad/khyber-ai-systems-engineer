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7" d="100"/>
          <a:sy n="57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8921F3-705D-4D0B-964E-F04B5C59DA8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E9C739E-A15C-43B4-8FAB-1CC9B32EBAF2}">
      <dgm:prSet/>
      <dgm:spPr/>
      <dgm:t>
        <a:bodyPr/>
        <a:lstStyle/>
        <a:p>
          <a:r>
            <a:rPr lang="en-US" b="1" i="0" baseline="0"/>
            <a:t>The Indus Highway</a:t>
          </a:r>
          <a:r>
            <a:rPr lang="en-US" b="0" i="0" baseline="0"/>
            <a:t>: A major corridor where small efficiency gains lead to massive savings.</a:t>
          </a:r>
          <a:endParaRPr lang="en-US"/>
        </a:p>
      </dgm:t>
    </dgm:pt>
    <dgm:pt modelId="{D5708AB1-1635-4219-898E-13FF3F21EC43}" type="parTrans" cxnId="{A7312A66-005F-4901-B3B5-7778239A30CF}">
      <dgm:prSet/>
      <dgm:spPr/>
      <dgm:t>
        <a:bodyPr/>
        <a:lstStyle/>
        <a:p>
          <a:endParaRPr lang="en-US"/>
        </a:p>
      </dgm:t>
    </dgm:pt>
    <dgm:pt modelId="{6BD0BDCA-2263-400D-86D8-01D5D9693996}" type="sibTrans" cxnId="{A7312A66-005F-4901-B3B5-7778239A30CF}">
      <dgm:prSet/>
      <dgm:spPr/>
      <dgm:t>
        <a:bodyPr/>
        <a:lstStyle/>
        <a:p>
          <a:endParaRPr lang="en-US"/>
        </a:p>
      </dgm:t>
    </dgm:pt>
    <dgm:pt modelId="{96DF6868-6DE4-4539-9C78-FE5299FD12CB}">
      <dgm:prSet/>
      <dgm:spPr/>
      <dgm:t>
        <a:bodyPr/>
        <a:lstStyle/>
        <a:p>
          <a:r>
            <a:rPr lang="en-US" b="1" i="0" baseline="0"/>
            <a:t>Fuel Consumption Modeling</a:t>
          </a:r>
          <a:r>
            <a:rPr lang="en-US" b="0" i="0" baseline="0"/>
            <a:t>: Fuel usage is a function of load, speed, and road gradient.</a:t>
          </a:r>
          <a:endParaRPr lang="en-US"/>
        </a:p>
      </dgm:t>
    </dgm:pt>
    <dgm:pt modelId="{5D3350A0-D48E-448A-B824-F395FE4496DB}" type="parTrans" cxnId="{B498D0B0-17F2-4590-BF32-08F973693A8E}">
      <dgm:prSet/>
      <dgm:spPr/>
      <dgm:t>
        <a:bodyPr/>
        <a:lstStyle/>
        <a:p>
          <a:endParaRPr lang="en-US"/>
        </a:p>
      </dgm:t>
    </dgm:pt>
    <dgm:pt modelId="{F493403E-3FD4-4419-AC29-97FFF36173C0}" type="sibTrans" cxnId="{B498D0B0-17F2-4590-BF32-08F973693A8E}">
      <dgm:prSet/>
      <dgm:spPr/>
      <dgm:t>
        <a:bodyPr/>
        <a:lstStyle/>
        <a:p>
          <a:endParaRPr lang="en-US"/>
        </a:p>
      </dgm:t>
    </dgm:pt>
    <dgm:pt modelId="{5145BDF0-B96E-44C9-ADCF-699FCF45B611}">
      <dgm:prSet/>
      <dgm:spPr/>
      <dgm:t>
        <a:bodyPr/>
        <a:lstStyle/>
        <a:p>
          <a:r>
            <a:rPr lang="en-US" b="1" i="0" baseline="0"/>
            <a:t>The Efficiency Formula</a:t>
          </a:r>
          <a:r>
            <a:rPr lang="en-US" b="0" i="0" baseline="0"/>
            <a:t>: We calculate the "Cost per Ton-Mile" to benchmark different transport providers.</a:t>
          </a:r>
          <a:endParaRPr lang="en-US"/>
        </a:p>
      </dgm:t>
    </dgm:pt>
    <dgm:pt modelId="{C0C8BFD5-2C1B-43F6-B7D7-03F1F65D28B4}" type="parTrans" cxnId="{97C75C83-BA7B-4824-B3C7-4C4A183B0DAC}">
      <dgm:prSet/>
      <dgm:spPr/>
      <dgm:t>
        <a:bodyPr/>
        <a:lstStyle/>
        <a:p>
          <a:endParaRPr lang="en-US"/>
        </a:p>
      </dgm:t>
    </dgm:pt>
    <dgm:pt modelId="{A2F7603F-E492-49AF-9022-2FBDE923422C}" type="sibTrans" cxnId="{97C75C83-BA7B-4824-B3C7-4C4A183B0DAC}">
      <dgm:prSet/>
      <dgm:spPr/>
      <dgm:t>
        <a:bodyPr/>
        <a:lstStyle/>
        <a:p>
          <a:endParaRPr lang="en-US"/>
        </a:p>
      </dgm:t>
    </dgm:pt>
    <dgm:pt modelId="{32E6A620-1DE9-43B6-8EA0-6725F384C657}" type="pres">
      <dgm:prSet presAssocID="{D98921F3-705D-4D0B-964E-F04B5C59DA8D}" presName="root" presStyleCnt="0">
        <dgm:presLayoutVars>
          <dgm:dir/>
          <dgm:resizeHandles val="exact"/>
        </dgm:presLayoutVars>
      </dgm:prSet>
      <dgm:spPr/>
    </dgm:pt>
    <dgm:pt modelId="{FDA2B2FE-CB43-47A0-AEBB-888DBD27C5CC}" type="pres">
      <dgm:prSet presAssocID="{9E9C739E-A15C-43B4-8FAB-1CC9B32EBAF2}" presName="compNode" presStyleCnt="0"/>
      <dgm:spPr/>
    </dgm:pt>
    <dgm:pt modelId="{23B8613B-B587-4D4B-99E6-2E4E60414682}" type="pres">
      <dgm:prSet presAssocID="{9E9C739E-A15C-43B4-8FAB-1CC9B32EBAF2}" presName="bgRect" presStyleLbl="bgShp" presStyleIdx="0" presStyleCnt="3"/>
      <dgm:spPr/>
    </dgm:pt>
    <dgm:pt modelId="{C2F7A7B7-B1B0-45D8-9F58-6400796C23AA}" type="pres">
      <dgm:prSet presAssocID="{9E9C739E-A15C-43B4-8FAB-1CC9B32EBAF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way scene"/>
        </a:ext>
      </dgm:extLst>
    </dgm:pt>
    <dgm:pt modelId="{C3120A59-E2DC-4C6B-8B6B-0C6B90E1D615}" type="pres">
      <dgm:prSet presAssocID="{9E9C739E-A15C-43B4-8FAB-1CC9B32EBAF2}" presName="spaceRect" presStyleCnt="0"/>
      <dgm:spPr/>
    </dgm:pt>
    <dgm:pt modelId="{815C464D-3B97-42B4-A529-F5425C1786CB}" type="pres">
      <dgm:prSet presAssocID="{9E9C739E-A15C-43B4-8FAB-1CC9B32EBAF2}" presName="parTx" presStyleLbl="revTx" presStyleIdx="0" presStyleCnt="3">
        <dgm:presLayoutVars>
          <dgm:chMax val="0"/>
          <dgm:chPref val="0"/>
        </dgm:presLayoutVars>
      </dgm:prSet>
      <dgm:spPr/>
    </dgm:pt>
    <dgm:pt modelId="{09560398-5328-467B-9FBE-B7FE2C136BB5}" type="pres">
      <dgm:prSet presAssocID="{6BD0BDCA-2263-400D-86D8-01D5D9693996}" presName="sibTrans" presStyleCnt="0"/>
      <dgm:spPr/>
    </dgm:pt>
    <dgm:pt modelId="{4FA5EB80-DAF7-43DE-98D5-EF87C77B9C4E}" type="pres">
      <dgm:prSet presAssocID="{96DF6868-6DE4-4539-9C78-FE5299FD12CB}" presName="compNode" presStyleCnt="0"/>
      <dgm:spPr/>
    </dgm:pt>
    <dgm:pt modelId="{FD184C50-175B-4EC7-8148-46E8CB7CA5D2}" type="pres">
      <dgm:prSet presAssocID="{96DF6868-6DE4-4539-9C78-FE5299FD12CB}" presName="bgRect" presStyleLbl="bgShp" presStyleIdx="1" presStyleCnt="3"/>
      <dgm:spPr/>
    </dgm:pt>
    <dgm:pt modelId="{423BCFAD-8892-441D-BB43-1EC03D8CE8EF}" type="pres">
      <dgm:prSet presAssocID="{96DF6868-6DE4-4539-9C78-FE5299FD12C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CBECE1AB-8C26-4442-9643-9A0F91C39F68}" type="pres">
      <dgm:prSet presAssocID="{96DF6868-6DE4-4539-9C78-FE5299FD12CB}" presName="spaceRect" presStyleCnt="0"/>
      <dgm:spPr/>
    </dgm:pt>
    <dgm:pt modelId="{CE2B8925-5EF2-4630-9768-231955556AE8}" type="pres">
      <dgm:prSet presAssocID="{96DF6868-6DE4-4539-9C78-FE5299FD12CB}" presName="parTx" presStyleLbl="revTx" presStyleIdx="1" presStyleCnt="3">
        <dgm:presLayoutVars>
          <dgm:chMax val="0"/>
          <dgm:chPref val="0"/>
        </dgm:presLayoutVars>
      </dgm:prSet>
      <dgm:spPr/>
    </dgm:pt>
    <dgm:pt modelId="{CB27B446-DD75-475C-8B7C-461E7A728D3F}" type="pres">
      <dgm:prSet presAssocID="{F493403E-3FD4-4419-AC29-97FFF36173C0}" presName="sibTrans" presStyleCnt="0"/>
      <dgm:spPr/>
    </dgm:pt>
    <dgm:pt modelId="{20A9038E-81CC-462F-B402-733E91CE826C}" type="pres">
      <dgm:prSet presAssocID="{5145BDF0-B96E-44C9-ADCF-699FCF45B611}" presName="compNode" presStyleCnt="0"/>
      <dgm:spPr/>
    </dgm:pt>
    <dgm:pt modelId="{005F664C-265F-4E60-9C46-F6C461C3AEBD}" type="pres">
      <dgm:prSet presAssocID="{5145BDF0-B96E-44C9-ADCF-699FCF45B611}" presName="bgRect" presStyleLbl="bgShp" presStyleIdx="2" presStyleCnt="3"/>
      <dgm:spPr/>
    </dgm:pt>
    <dgm:pt modelId="{5A12F11C-D8C5-4D3F-9527-1004E0356DEF}" type="pres">
      <dgm:prSet presAssocID="{5145BDF0-B96E-44C9-ADCF-699FCF45B61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p truck"/>
        </a:ext>
      </dgm:extLst>
    </dgm:pt>
    <dgm:pt modelId="{3BCB5A8A-F2A8-4FBE-A915-7561902181A3}" type="pres">
      <dgm:prSet presAssocID="{5145BDF0-B96E-44C9-ADCF-699FCF45B611}" presName="spaceRect" presStyleCnt="0"/>
      <dgm:spPr/>
    </dgm:pt>
    <dgm:pt modelId="{1FED247F-5F34-4276-8BEB-C864E2D683C1}" type="pres">
      <dgm:prSet presAssocID="{5145BDF0-B96E-44C9-ADCF-699FCF45B61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2E56823-3484-46A4-A5E7-E7EDD024E75D}" type="presOf" srcId="{D98921F3-705D-4D0B-964E-F04B5C59DA8D}" destId="{32E6A620-1DE9-43B6-8EA0-6725F384C657}" srcOrd="0" destOrd="0" presId="urn:microsoft.com/office/officeart/2018/2/layout/IconVerticalSolidList"/>
    <dgm:cxn modelId="{07DC4C2D-9D73-4CF7-B4B9-BE27B8B04DC3}" type="presOf" srcId="{96DF6868-6DE4-4539-9C78-FE5299FD12CB}" destId="{CE2B8925-5EF2-4630-9768-231955556AE8}" srcOrd="0" destOrd="0" presId="urn:microsoft.com/office/officeart/2018/2/layout/IconVerticalSolidList"/>
    <dgm:cxn modelId="{A7312A66-005F-4901-B3B5-7778239A30CF}" srcId="{D98921F3-705D-4D0B-964E-F04B5C59DA8D}" destId="{9E9C739E-A15C-43B4-8FAB-1CC9B32EBAF2}" srcOrd="0" destOrd="0" parTransId="{D5708AB1-1635-4219-898E-13FF3F21EC43}" sibTransId="{6BD0BDCA-2263-400D-86D8-01D5D9693996}"/>
    <dgm:cxn modelId="{15C66450-0C81-4EB9-A056-DCE54F769EB1}" type="presOf" srcId="{9E9C739E-A15C-43B4-8FAB-1CC9B32EBAF2}" destId="{815C464D-3B97-42B4-A529-F5425C1786CB}" srcOrd="0" destOrd="0" presId="urn:microsoft.com/office/officeart/2018/2/layout/IconVerticalSolidList"/>
    <dgm:cxn modelId="{97C75C83-BA7B-4824-B3C7-4C4A183B0DAC}" srcId="{D98921F3-705D-4D0B-964E-F04B5C59DA8D}" destId="{5145BDF0-B96E-44C9-ADCF-699FCF45B611}" srcOrd="2" destOrd="0" parTransId="{C0C8BFD5-2C1B-43F6-B7D7-03F1F65D28B4}" sibTransId="{A2F7603F-E492-49AF-9022-2FBDE923422C}"/>
    <dgm:cxn modelId="{B498D0B0-17F2-4590-BF32-08F973693A8E}" srcId="{D98921F3-705D-4D0B-964E-F04B5C59DA8D}" destId="{96DF6868-6DE4-4539-9C78-FE5299FD12CB}" srcOrd="1" destOrd="0" parTransId="{5D3350A0-D48E-448A-B824-F395FE4496DB}" sibTransId="{F493403E-3FD4-4419-AC29-97FFF36173C0}"/>
    <dgm:cxn modelId="{FC76BBC1-34D8-4AED-A75D-19932164A957}" type="presOf" srcId="{5145BDF0-B96E-44C9-ADCF-699FCF45B611}" destId="{1FED247F-5F34-4276-8BEB-C864E2D683C1}" srcOrd="0" destOrd="0" presId="urn:microsoft.com/office/officeart/2018/2/layout/IconVerticalSolidList"/>
    <dgm:cxn modelId="{68AFDCBF-9AC4-4B41-A7C5-DA00DFD83940}" type="presParOf" srcId="{32E6A620-1DE9-43B6-8EA0-6725F384C657}" destId="{FDA2B2FE-CB43-47A0-AEBB-888DBD27C5CC}" srcOrd="0" destOrd="0" presId="urn:microsoft.com/office/officeart/2018/2/layout/IconVerticalSolidList"/>
    <dgm:cxn modelId="{80BC582E-BDAF-4FFC-9326-D0F3EA436F90}" type="presParOf" srcId="{FDA2B2FE-CB43-47A0-AEBB-888DBD27C5CC}" destId="{23B8613B-B587-4D4B-99E6-2E4E60414682}" srcOrd="0" destOrd="0" presId="urn:microsoft.com/office/officeart/2018/2/layout/IconVerticalSolidList"/>
    <dgm:cxn modelId="{4E61A537-69BC-41B3-9A92-C7B0ED185EC7}" type="presParOf" srcId="{FDA2B2FE-CB43-47A0-AEBB-888DBD27C5CC}" destId="{C2F7A7B7-B1B0-45D8-9F58-6400796C23AA}" srcOrd="1" destOrd="0" presId="urn:microsoft.com/office/officeart/2018/2/layout/IconVerticalSolidList"/>
    <dgm:cxn modelId="{BAE718F8-968F-404C-A105-AA98730BA070}" type="presParOf" srcId="{FDA2B2FE-CB43-47A0-AEBB-888DBD27C5CC}" destId="{C3120A59-E2DC-4C6B-8B6B-0C6B90E1D615}" srcOrd="2" destOrd="0" presId="urn:microsoft.com/office/officeart/2018/2/layout/IconVerticalSolidList"/>
    <dgm:cxn modelId="{B4344C37-DA8D-40C4-976A-46474C3F04E2}" type="presParOf" srcId="{FDA2B2FE-CB43-47A0-AEBB-888DBD27C5CC}" destId="{815C464D-3B97-42B4-A529-F5425C1786CB}" srcOrd="3" destOrd="0" presId="urn:microsoft.com/office/officeart/2018/2/layout/IconVerticalSolidList"/>
    <dgm:cxn modelId="{F084E385-8CA7-4521-B121-86094D957E08}" type="presParOf" srcId="{32E6A620-1DE9-43B6-8EA0-6725F384C657}" destId="{09560398-5328-467B-9FBE-B7FE2C136BB5}" srcOrd="1" destOrd="0" presId="urn:microsoft.com/office/officeart/2018/2/layout/IconVerticalSolidList"/>
    <dgm:cxn modelId="{889284E6-F9BE-4913-9F13-26BE6ACAB68F}" type="presParOf" srcId="{32E6A620-1DE9-43B6-8EA0-6725F384C657}" destId="{4FA5EB80-DAF7-43DE-98D5-EF87C77B9C4E}" srcOrd="2" destOrd="0" presId="urn:microsoft.com/office/officeart/2018/2/layout/IconVerticalSolidList"/>
    <dgm:cxn modelId="{716A0CAB-238F-456A-9808-CF3CCFB2A512}" type="presParOf" srcId="{4FA5EB80-DAF7-43DE-98D5-EF87C77B9C4E}" destId="{FD184C50-175B-4EC7-8148-46E8CB7CA5D2}" srcOrd="0" destOrd="0" presId="urn:microsoft.com/office/officeart/2018/2/layout/IconVerticalSolidList"/>
    <dgm:cxn modelId="{5A882224-D436-47CA-BC9F-6FF60410E6BB}" type="presParOf" srcId="{4FA5EB80-DAF7-43DE-98D5-EF87C77B9C4E}" destId="{423BCFAD-8892-441D-BB43-1EC03D8CE8EF}" srcOrd="1" destOrd="0" presId="urn:microsoft.com/office/officeart/2018/2/layout/IconVerticalSolidList"/>
    <dgm:cxn modelId="{39024D2F-549B-452E-9043-8A99CF43AFF0}" type="presParOf" srcId="{4FA5EB80-DAF7-43DE-98D5-EF87C77B9C4E}" destId="{CBECE1AB-8C26-4442-9643-9A0F91C39F68}" srcOrd="2" destOrd="0" presId="urn:microsoft.com/office/officeart/2018/2/layout/IconVerticalSolidList"/>
    <dgm:cxn modelId="{F5270D71-65C7-4D8A-B885-E4642AB77579}" type="presParOf" srcId="{4FA5EB80-DAF7-43DE-98D5-EF87C77B9C4E}" destId="{CE2B8925-5EF2-4630-9768-231955556AE8}" srcOrd="3" destOrd="0" presId="urn:microsoft.com/office/officeart/2018/2/layout/IconVerticalSolidList"/>
    <dgm:cxn modelId="{27435E8F-38C3-4682-8297-9C8AE942F8C3}" type="presParOf" srcId="{32E6A620-1DE9-43B6-8EA0-6725F384C657}" destId="{CB27B446-DD75-475C-8B7C-461E7A728D3F}" srcOrd="3" destOrd="0" presId="urn:microsoft.com/office/officeart/2018/2/layout/IconVerticalSolidList"/>
    <dgm:cxn modelId="{34FE6DF8-80F6-4D69-958B-B699768043F1}" type="presParOf" srcId="{32E6A620-1DE9-43B6-8EA0-6725F384C657}" destId="{20A9038E-81CC-462F-B402-733E91CE826C}" srcOrd="4" destOrd="0" presId="urn:microsoft.com/office/officeart/2018/2/layout/IconVerticalSolidList"/>
    <dgm:cxn modelId="{ACF42236-984A-4C77-AB37-0C42F5250C2A}" type="presParOf" srcId="{20A9038E-81CC-462F-B402-733E91CE826C}" destId="{005F664C-265F-4E60-9C46-F6C461C3AEBD}" srcOrd="0" destOrd="0" presId="urn:microsoft.com/office/officeart/2018/2/layout/IconVerticalSolidList"/>
    <dgm:cxn modelId="{3C4A788A-3C85-4EC0-BA3A-E9FD861E3ACC}" type="presParOf" srcId="{20A9038E-81CC-462F-B402-733E91CE826C}" destId="{5A12F11C-D8C5-4D3F-9527-1004E0356DEF}" srcOrd="1" destOrd="0" presId="urn:microsoft.com/office/officeart/2018/2/layout/IconVerticalSolidList"/>
    <dgm:cxn modelId="{BB9A3DFE-AF68-4618-B3C0-31A47CCF6676}" type="presParOf" srcId="{20A9038E-81CC-462F-B402-733E91CE826C}" destId="{3BCB5A8A-F2A8-4FBE-A915-7561902181A3}" srcOrd="2" destOrd="0" presId="urn:microsoft.com/office/officeart/2018/2/layout/IconVerticalSolidList"/>
    <dgm:cxn modelId="{0C26F2BB-C377-42E7-9896-7223E288C4B9}" type="presParOf" srcId="{20A9038E-81CC-462F-B402-733E91CE826C}" destId="{1FED247F-5F34-4276-8BEB-C864E2D683C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B8613B-B587-4D4B-99E6-2E4E60414682}">
      <dsp:nvSpPr>
        <dsp:cNvPr id="0" name=""/>
        <dsp:cNvSpPr/>
      </dsp:nvSpPr>
      <dsp:spPr>
        <a:xfrm>
          <a:off x="0" y="703"/>
          <a:ext cx="6373813" cy="16451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F7A7B7-B1B0-45D8-9F58-6400796C23AA}">
      <dsp:nvSpPr>
        <dsp:cNvPr id="0" name=""/>
        <dsp:cNvSpPr/>
      </dsp:nvSpPr>
      <dsp:spPr>
        <a:xfrm>
          <a:off x="497659" y="370863"/>
          <a:ext cx="904835" cy="9048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C464D-3B97-42B4-A529-F5425C1786CB}">
      <dsp:nvSpPr>
        <dsp:cNvPr id="0" name=""/>
        <dsp:cNvSpPr/>
      </dsp:nvSpPr>
      <dsp:spPr>
        <a:xfrm>
          <a:off x="1900154" y="703"/>
          <a:ext cx="4473659" cy="164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12" tIns="174112" rIns="174112" bIns="17411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The Indus Highway</a:t>
          </a:r>
          <a:r>
            <a:rPr lang="en-US" sz="2300" b="0" i="0" kern="1200" baseline="0"/>
            <a:t>: A major corridor where small efficiency gains lead to massive savings.</a:t>
          </a:r>
          <a:endParaRPr lang="en-US" sz="2300" kern="1200"/>
        </a:p>
      </dsp:txBody>
      <dsp:txXfrm>
        <a:off x="1900154" y="703"/>
        <a:ext cx="4473659" cy="1645155"/>
      </dsp:txXfrm>
    </dsp:sp>
    <dsp:sp modelId="{FD184C50-175B-4EC7-8148-46E8CB7CA5D2}">
      <dsp:nvSpPr>
        <dsp:cNvPr id="0" name=""/>
        <dsp:cNvSpPr/>
      </dsp:nvSpPr>
      <dsp:spPr>
        <a:xfrm>
          <a:off x="0" y="2057147"/>
          <a:ext cx="6373813" cy="16451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3BCFAD-8892-441D-BB43-1EC03D8CE8EF}">
      <dsp:nvSpPr>
        <dsp:cNvPr id="0" name=""/>
        <dsp:cNvSpPr/>
      </dsp:nvSpPr>
      <dsp:spPr>
        <a:xfrm>
          <a:off x="497659" y="2427307"/>
          <a:ext cx="904835" cy="9048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B8925-5EF2-4630-9768-231955556AE8}">
      <dsp:nvSpPr>
        <dsp:cNvPr id="0" name=""/>
        <dsp:cNvSpPr/>
      </dsp:nvSpPr>
      <dsp:spPr>
        <a:xfrm>
          <a:off x="1900154" y="2057147"/>
          <a:ext cx="4473659" cy="164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12" tIns="174112" rIns="174112" bIns="17411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Fuel Consumption Modeling</a:t>
          </a:r>
          <a:r>
            <a:rPr lang="en-US" sz="2300" b="0" i="0" kern="1200" baseline="0"/>
            <a:t>: Fuel usage is a function of load, speed, and road gradient.</a:t>
          </a:r>
          <a:endParaRPr lang="en-US" sz="2300" kern="1200"/>
        </a:p>
      </dsp:txBody>
      <dsp:txXfrm>
        <a:off x="1900154" y="2057147"/>
        <a:ext cx="4473659" cy="1645155"/>
      </dsp:txXfrm>
    </dsp:sp>
    <dsp:sp modelId="{005F664C-265F-4E60-9C46-F6C461C3AEBD}">
      <dsp:nvSpPr>
        <dsp:cNvPr id="0" name=""/>
        <dsp:cNvSpPr/>
      </dsp:nvSpPr>
      <dsp:spPr>
        <a:xfrm>
          <a:off x="0" y="4113591"/>
          <a:ext cx="6373813" cy="16451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12F11C-D8C5-4D3F-9527-1004E0356DEF}">
      <dsp:nvSpPr>
        <dsp:cNvPr id="0" name=""/>
        <dsp:cNvSpPr/>
      </dsp:nvSpPr>
      <dsp:spPr>
        <a:xfrm>
          <a:off x="497659" y="4483751"/>
          <a:ext cx="904835" cy="9048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ED247F-5F34-4276-8BEB-C864E2D683C1}">
      <dsp:nvSpPr>
        <dsp:cNvPr id="0" name=""/>
        <dsp:cNvSpPr/>
      </dsp:nvSpPr>
      <dsp:spPr>
        <a:xfrm>
          <a:off x="1900154" y="4113591"/>
          <a:ext cx="4473659" cy="164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12" tIns="174112" rIns="174112" bIns="17411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The Efficiency Formula</a:t>
          </a:r>
          <a:r>
            <a:rPr lang="en-US" sz="2300" b="0" i="0" kern="1200" baseline="0"/>
            <a:t>: We calculate the "Cost per Ton-Mile" to benchmark different transport providers.</a:t>
          </a:r>
          <a:endParaRPr lang="en-US" sz="2300" kern="1200"/>
        </a:p>
      </dsp:txBody>
      <dsp:txXfrm>
        <a:off x="1900154" y="4113591"/>
        <a:ext cx="4473659" cy="16451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Tuesday, April 28,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3289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Tuesday, April 28,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02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Tuesday, April 28,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1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Tuesday, April 28,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7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Tuesday, April 28,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34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Tuesday, April 28,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342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Tuesday, April 28,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24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Tuesday, April 28,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2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Tuesday, April 28,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10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Tuesday, April 28,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51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Tuesday, April 28,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3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Tuesday, April 28,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897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B4153C-17D5-14BF-B303-FD58EB6B3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851" y="881299"/>
            <a:ext cx="5545136" cy="1585347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1" dirty="0"/>
              <a:t>Cross-Border Flow &amp; Torkham Analytics</a:t>
            </a:r>
            <a:endParaRPr lang="en-US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A136F5-A02F-769D-2142-FA185402DCE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50863" y="3001711"/>
            <a:ext cx="6151020" cy="29521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The Gateway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: Torkham is a critical artery for trade. Analyzing "Turnaround Time" (TAT) for trucks helps identify bureaucratic or physical bottlenecks.</a:t>
            </a:r>
          </a:p>
          <a:p>
            <a:pPr marL="285750" marR="0" lvl="0" indent="-28575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Geospatial Challenges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: Mountainous terrain (like the Khyber Pass) introduces non-linear variables. A 10km stretch in the plains is not equivalent to 10km of steep, winding elevation in terms of fuel or time</a:t>
            </a:r>
          </a:p>
          <a:p>
            <a:pPr marL="285750" lvl="0" indent="-28575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Real-Time Tracking</a:t>
            </a:r>
            <a:r>
              <a:rPr lang="en-US" sz="1800" dirty="0"/>
              <a:t>: Using GPS and RFID data to visualize the supply chain pipeline and predict delays before they cascade.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>
                  <a:alpha val="6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3F9E3E9-894C-F0CB-F31B-E7C3E29C1E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54" r="9467" b="1"/>
          <a:stretch>
            <a:fillRect/>
          </a:stretch>
        </p:blipFill>
        <p:spPr>
          <a:xfrm>
            <a:off x="7281746" y="10"/>
            <a:ext cx="4910255" cy="6857990"/>
          </a:xfrm>
          <a:custGeom>
            <a:avLst/>
            <a:gdLst/>
            <a:ahLst/>
            <a:cxnLst/>
            <a:rect l="l" t="t" r="r" b="b"/>
            <a:pathLst>
              <a:path w="7448551" h="6858000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08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D9310D-DAEE-C043-4BA5-A279E158A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783" y="765175"/>
            <a:ext cx="5013595" cy="1275891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Demand Forecasting (</a:t>
            </a:r>
            <a:r>
              <a:rPr lang="en-US" sz="3400" dirty="0" err="1"/>
              <a:t>Karkhano</a:t>
            </a:r>
            <a:r>
              <a:rPr lang="en-US" sz="3400" dirty="0"/>
              <a:t> Inventory)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B2D1349B-C49F-8BC5-FB76-3502C27DA0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63" y="2678400"/>
            <a:ext cx="5690840" cy="34144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Retail Pulse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Shops 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Karkhano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Market deal with diverse, high-velocity inventory. Overstocking wastes capital; understocking loses sales.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Time-Series Components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Is a specific electronic brand growing in popularity?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Seasonality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Do sales spike during wedding seasons or before religious holidays?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Objective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Moving from "Intuition" to "Data-Driven Procurement."</a:t>
            </a:r>
          </a:p>
        </p:txBody>
      </p:sp>
      <p:pic>
        <p:nvPicPr>
          <p:cNvPr id="16" name="Picture 15" descr="Abstract blurred background of department store">
            <a:extLst>
              <a:ext uri="{FF2B5EF4-FFF2-40B4-BE49-F238E27FC236}">
                <a16:creationId xmlns:a16="http://schemas.microsoft.com/office/drawing/2014/main" id="{00ADAEA6-FB26-5CC9-9FFE-CC0CCDFA98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57" r="18769" b="-1"/>
          <a:stretch>
            <a:fillRect/>
          </a:stretch>
        </p:blipFill>
        <p:spPr>
          <a:xfrm>
            <a:off x="6501161" y="10"/>
            <a:ext cx="5690840" cy="6857990"/>
          </a:xfrm>
          <a:custGeom>
            <a:avLst/>
            <a:gdLst/>
            <a:ahLst/>
            <a:cxnLst/>
            <a:rect l="l" t="t" r="r" b="b"/>
            <a:pathLst>
              <a:path w="7641102" h="6858000">
                <a:moveTo>
                  <a:pt x="0" y="0"/>
                </a:moveTo>
                <a:lnTo>
                  <a:pt x="7641102" y="0"/>
                </a:lnTo>
                <a:lnTo>
                  <a:pt x="764110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FF3A87B-2255-45E0-A551-C11FAF932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8" y="5773729"/>
            <a:ext cx="7641102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86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632D7-711D-B6B4-ACF9-79404E6B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3565525" cy="5543549"/>
          </a:xfrm>
        </p:spPr>
        <p:txBody>
          <a:bodyPr wrap="square" anchor="ctr">
            <a:normAutofit/>
          </a:bodyPr>
          <a:lstStyle/>
          <a:p>
            <a:r>
              <a:rPr lang="en-US" sz="4400"/>
              <a:t>Transport Efficiency &amp; Fleet Management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9899A3-416E-4DB5-846D-023526052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4C9C0ED-4148-4C5E-3D2E-D49A7B2563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187805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9263503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216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Avenir Next LT Pro</vt:lpstr>
      <vt:lpstr>3DFloatVTI</vt:lpstr>
      <vt:lpstr>Cross-Border Flow &amp; Torkham Analytics</vt:lpstr>
      <vt:lpstr>Demand Forecasting (Karkhano Inventory)</vt:lpstr>
      <vt:lpstr>Transport Efficiency &amp; Fleet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2026-04-28T10:47:28Z</dcterms:created>
  <dcterms:modified xsi:type="dcterms:W3CDTF">2026-04-28T10:51:36Z</dcterms:modified>
</cp:coreProperties>
</file>