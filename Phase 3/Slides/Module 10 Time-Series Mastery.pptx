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445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41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17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635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200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142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31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436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735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269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058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240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2" name="Rectangle 1031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B492C6-E57A-CAE0-5145-F8CE0A8B16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70458" y="0"/>
            <a:ext cx="3324281" cy="2694640"/>
          </a:xfrm>
        </p:spPr>
        <p:txBody>
          <a:bodyPr anchor="b">
            <a:normAutofit/>
          </a:bodyPr>
          <a:lstStyle/>
          <a:p>
            <a:r>
              <a:rPr lang="en-US" sz="4400" dirty="0"/>
              <a:t>The Dimension of Time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92FE961-CC0C-15FA-5397-EFCD2DDA154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399165" y="2873040"/>
            <a:ext cx="3161459" cy="305204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Definition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A sequence of data points indexed in successive order, usually with a fixed frequency (daily, monthly, yearly). 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Temporal Engine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In Python, we move from standard indices to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DatetimeIndex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, which allows us to treat time as a first-class mathematical object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 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Context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Analyzing rainfall in Swat or price fluctuations in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Karkhano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Market requires looking at trends over years, not just isolated points.</a:t>
            </a:r>
          </a:p>
        </p:txBody>
      </p:sp>
      <p:pic>
        <p:nvPicPr>
          <p:cNvPr id="1027" name="Picture 3" descr="Python DateTime Guide: Working with Date and Time in Python (With Examples)  | Codecademy">
            <a:extLst>
              <a:ext uri="{FF2B5EF4-FFF2-40B4-BE49-F238E27FC236}">
                <a16:creationId xmlns:a16="http://schemas.microsoft.com/office/drawing/2014/main" id="{72D11367-14EA-9DEF-8EF8-5014D762C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7261" y="1817914"/>
            <a:ext cx="6153071" cy="4107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4" name="Straight Connector 1033">
            <a:extLst>
              <a:ext uri="{FF2B5EF4-FFF2-40B4-BE49-F238E27FC236}">
                <a16:creationId xmlns:a16="http://schemas.microsoft.com/office/drawing/2014/main" id="{F7491F31-6557-2984-60B7-24907747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82959" y="662940"/>
            <a:ext cx="0" cy="553212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0054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C8B45-AD63-6B0B-003E-403E13C44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>
            <a:normAutofit/>
          </a:bodyPr>
          <a:lstStyle/>
          <a:p>
            <a:r>
              <a:rPr lang="en-US" dirty="0"/>
              <a:t>Resampling – Changing the Lens</a:t>
            </a:r>
          </a:p>
        </p:txBody>
      </p:sp>
      <p:cxnSp>
        <p:nvCxnSpPr>
          <p:cNvPr id="2058" name="Straight Connector 2057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1" name="Picture 3" descr="Denying Evolution Resampling: An Improved Method for Feature Selection on  Imbalanced Data">
            <a:extLst>
              <a:ext uri="{FF2B5EF4-FFF2-40B4-BE49-F238E27FC236}">
                <a16:creationId xmlns:a16="http://schemas.microsoft.com/office/drawing/2014/main" id="{F8A5171B-3B36-D25D-E78B-2617F9160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7185" y="3024755"/>
            <a:ext cx="6072188" cy="2132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1574655-6463-CE6B-5A05-FC6594CBDB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00900" y="1849121"/>
            <a:ext cx="4191001" cy="413962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Downsampling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Aggregating high-frequency data into lower frequency (e.g., Daily → Monthly) to find the "Big Picture".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Upsampling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Increasing frequency (e.g., Quarterly → Monthly) and "filling in" the gaps using interpolation.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Purpose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Removing daily "noise" to reveal underlying quarterly or annual trends. </a:t>
            </a:r>
          </a:p>
        </p:txBody>
      </p:sp>
      <p:cxnSp>
        <p:nvCxnSpPr>
          <p:cNvPr id="2060" name="Straight Connector 2059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366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EF6C5D-7A05-A50E-9D9B-579BF59CE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>
            <a:normAutofit/>
          </a:bodyPr>
          <a:lstStyle/>
          <a:p>
            <a:r>
              <a:rPr lang="en-US" dirty="0"/>
              <a:t>Lag Analysis – The Memory of Data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 descr="Compass">
            <a:extLst>
              <a:ext uri="{FF2B5EF4-FFF2-40B4-BE49-F238E27FC236}">
                <a16:creationId xmlns:a16="http://schemas.microsoft.com/office/drawing/2014/main" id="{6B7AC4B0-F087-955A-FA0E-DCF771B68A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66381" y="1869439"/>
            <a:ext cx="4139625" cy="4139625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F1A62E70-7D84-AD14-CDD8-3FF9DEAB51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00900" y="1849121"/>
            <a:ext cx="4191001" cy="413962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Concept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Using past values to explain current ones.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Mechanical Necessity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Many regional phenomena have a delay. For example, heavy rain in March (Lag) affects the crop yield in June.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Autocorrelation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Measuring how a variable is correlated with a delayed version of itself.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8564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4" name="Rectangle 4103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1089A7-EF4A-D0B3-F10D-AE24CCF54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>
            <a:normAutofit/>
          </a:bodyPr>
          <a:lstStyle/>
          <a:p>
            <a:r>
              <a:rPr lang="en-US" dirty="0"/>
              <a:t>Stationarity vs. Trends</a:t>
            </a:r>
          </a:p>
        </p:txBody>
      </p:sp>
      <p:cxnSp>
        <p:nvCxnSpPr>
          <p:cNvPr id="4106" name="Straight Connector 4105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9" name="Picture 3" descr="Time series data characteristics. 3 as-old-as-the-hills characteristics… |  by The Nam | Medium">
            <a:extLst>
              <a:ext uri="{FF2B5EF4-FFF2-40B4-BE49-F238E27FC236}">
                <a16:creationId xmlns:a16="http://schemas.microsoft.com/office/drawing/2014/main" id="{C42A3410-EFC6-E79B-B35F-322BD6912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55409" y="1869439"/>
            <a:ext cx="4561570" cy="413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AEE6496-3B20-20E3-96B4-78E139B616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00900" y="1849121"/>
            <a:ext cx="4191001" cy="413962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Trends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A long-term increase or decrease in the data.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Stationarity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A property where the mean and variance do not change over time. Most statistical models require data to be "Stationary" to make valid predictions.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Detrending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The process of removing a trend (e.g., through "Differencing") to make the data stationary.</a:t>
            </a:r>
          </a:p>
        </p:txBody>
      </p:sp>
      <p:cxnSp>
        <p:nvCxnSpPr>
          <p:cNvPr id="4108" name="Straight Connector 4107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495055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275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Arial Unicode MS</vt:lpstr>
      <vt:lpstr>Calisto MT</vt:lpstr>
      <vt:lpstr>Univers Condensed</vt:lpstr>
      <vt:lpstr>ChronicleVTI</vt:lpstr>
      <vt:lpstr>The Dimension of Time</vt:lpstr>
      <vt:lpstr>Resampling – Changing the Lens</vt:lpstr>
      <vt:lpstr>Lag Analysis – The Memory of Data</vt:lpstr>
      <vt:lpstr>Stationarity vs. Trends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3</cp:revision>
  <dcterms:created xsi:type="dcterms:W3CDTF">2026-04-28T07:35:07Z</dcterms:created>
  <dcterms:modified xsi:type="dcterms:W3CDTF">2026-04-28T07:43:54Z</dcterms:modified>
</cp:coreProperties>
</file>