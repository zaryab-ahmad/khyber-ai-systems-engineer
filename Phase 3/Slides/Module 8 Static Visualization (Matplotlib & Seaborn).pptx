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9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8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8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6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9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4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8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6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2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7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7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FE890-5013-F822-39ED-341E8EE5D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399"/>
            <a:ext cx="5239272" cy="162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The Object-Oriented (OO) Paradigm</a:t>
            </a:r>
          </a:p>
        </p:txBody>
      </p: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AC77754-C691-BD1B-A198-6EFF17481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3247450"/>
            <a:ext cx="5138688" cy="291560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8286F8A-5029-FE75-F79F-9263A105C0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46176" y="914399"/>
            <a:ext cx="5138688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Concept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Moving beyond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plt.plot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() (Functional) to the fig, ax structure (Object-Oriented).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"Canvas" Analogy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Figure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is the physical canvas or window.</a:t>
            </a:r>
          </a:p>
          <a:p>
            <a:pPr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Axes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are the individual charts or "subplots" sitting on that canvas.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Why it matters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This approach provides granular control over every pixel, label, and tick mark, which is essential for multi-panel professional reports.</a:t>
            </a:r>
          </a:p>
        </p:txBody>
      </p:sp>
    </p:spTree>
    <p:extLst>
      <p:ext uri="{BB962C8B-B14F-4D97-AF65-F5344CB8AC3E}">
        <p14:creationId xmlns:p14="http://schemas.microsoft.com/office/powerpoint/2010/main" val="334264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6B1C0-6E87-26E4-3B66-8229D02D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Statistical Storytelling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Storytelling with Data Project | Towards Data Science">
            <a:extLst>
              <a:ext uri="{FF2B5EF4-FFF2-40B4-BE49-F238E27FC236}">
                <a16:creationId xmlns:a16="http://schemas.microsoft.com/office/drawing/2014/main" id="{5171278A-31FD-D02D-45CB-0264965A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3048873"/>
            <a:ext cx="6072188" cy="29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F9EF45D-E75B-47A1-7457-49DDFA6C37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Beyond Bar Charts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Simple averages often hide the truth.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Box-plots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Visualizing the "Five-Number Summary" (Min, Q1, Median, Q3, Max) and detecting outliers.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Violin-plots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Combining box-plots with a density curve to show the "shape" and "frequency" of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Joint-plots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Seeing the relationship between two variables and their individual distributions at the same time.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21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18C6A-BCFB-4EAF-E009-DE9B9703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FacetGrids</a:t>
            </a:r>
            <a:r>
              <a:rPr lang="en-US" dirty="0"/>
              <a:t> (Small Multiples)</a:t>
            </a:r>
            <a:endParaRPr lang="en-US"/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CE4CE94-5210-41B6-00DB-943EAE2A03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231136"/>
            <a:ext cx="6001512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Dimensionality Problem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How do you show a trend across 10 different cities or 5 different years in one view?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FacetGrids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Breaking a single dataset into a grid of multiple small charts based on a category.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allows for immediate visual comparison across subsets of data without cluttering a single chart.</a:t>
            </a:r>
          </a:p>
        </p:txBody>
      </p:sp>
      <p:pic>
        <p:nvPicPr>
          <p:cNvPr id="3075" name="Picture 3" descr="Building structured multi-plot grids — seaborn 0.13.2 documentation">
            <a:extLst>
              <a:ext uri="{FF2B5EF4-FFF2-40B4-BE49-F238E27FC236}">
                <a16:creationId xmlns:a16="http://schemas.microsoft.com/office/drawing/2014/main" id="{FFF274AB-FE9B-76E5-931F-07ED8D148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74560" y="2435092"/>
            <a:ext cx="4202057" cy="371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4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0745A-B765-8127-5224-91D909057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Color Theory &amp; Ethics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olor Psychology in Data: The Role of Color in Data Visualization">
            <a:extLst>
              <a:ext uri="{FF2B5EF4-FFF2-40B4-BE49-F238E27FC236}">
                <a16:creationId xmlns:a16="http://schemas.microsoft.com/office/drawing/2014/main" id="{D4D4CBF7-DC38-730A-CD92-C29D1FDF8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836345"/>
            <a:ext cx="6072188" cy="317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2FDA-DB47-E2B2-E344-F89DCFF43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b="1"/>
              <a:t>The Narrative of Color</a:t>
            </a:r>
            <a:r>
              <a:rPr lang="en-US" sz="1900"/>
              <a:t>: Colors should highlight data, not distract from it.</a:t>
            </a:r>
          </a:p>
          <a:p>
            <a:pPr>
              <a:lnSpc>
                <a:spcPct val="100000"/>
              </a:lnSpc>
            </a:pPr>
            <a:r>
              <a:rPr lang="en-US" sz="1900" b="1"/>
              <a:t>Professional Palettes</a:t>
            </a:r>
            <a:r>
              <a:rPr lang="en-US" sz="1900"/>
              <a:t>: Moving away from "Default" colors to "Sequential" (for levels), "Diverging" (for positive/negative), and "Qualitative" (for categories).</a:t>
            </a:r>
          </a:p>
          <a:p>
            <a:pPr>
              <a:lnSpc>
                <a:spcPct val="100000"/>
              </a:lnSpc>
            </a:pPr>
            <a:r>
              <a:rPr lang="en-US" sz="1900" b="1"/>
              <a:t>Accessibility</a:t>
            </a:r>
            <a:r>
              <a:rPr lang="en-US" sz="1900"/>
              <a:t>: Ensuring charts are </a:t>
            </a:r>
            <a:r>
              <a:rPr lang="en-US" sz="1900" b="1"/>
              <a:t>Colorblind-friendly</a:t>
            </a:r>
            <a:r>
              <a:rPr lang="en-US" sz="1900"/>
              <a:t> (using palettes like '</a:t>
            </a:r>
            <a:r>
              <a:rPr lang="en-US" sz="1900" err="1"/>
              <a:t>viridis</a:t>
            </a:r>
            <a:r>
              <a:rPr lang="en-US" sz="1900"/>
              <a:t>' or 'colorblind') to ensure information is accessible to all stakeholders.</a:t>
            </a: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26768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299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The Object-Oriented (OO) Paradigm</vt:lpstr>
      <vt:lpstr>Statistical Storytelling</vt:lpstr>
      <vt:lpstr>FacetGrids (Small Multiples)</vt:lpstr>
      <vt:lpstr>Color Theory &amp; 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2026-04-28T06:57:43Z</dcterms:created>
  <dcterms:modified xsi:type="dcterms:W3CDTF">2026-04-28T07:05:08Z</dcterms:modified>
</cp:coreProperties>
</file>