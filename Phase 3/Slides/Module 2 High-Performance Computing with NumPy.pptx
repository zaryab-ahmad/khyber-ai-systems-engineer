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5" d="100"/>
          <a:sy n="55" d="100"/>
        </p:scale>
        <p:origin x="200" y="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77394-0A20-4CF6-9066-CFC2C1C9D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149" y="389840"/>
            <a:ext cx="8281987" cy="2954655"/>
          </a:xfrm>
        </p:spPr>
        <p:txBody>
          <a:bodyPr anchor="t" anchorCtr="0">
            <a:normAutofit/>
          </a:bodyPr>
          <a:lstStyle>
            <a:lvl1pPr algn="l">
              <a:lnSpc>
                <a:spcPct val="100000"/>
              </a:lnSpc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10971F-8922-4B23-9C80-0643D7E350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149" y="3536951"/>
            <a:ext cx="8281989" cy="255587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A7947-E287-4738-8C82-07CE4F01EF03}" type="datetime2">
              <a:rPr lang="en-US" smtClean="0"/>
              <a:t>Monday, April 27,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2184FF4-7029-4ED7-813A-192E60608764}"/>
              </a:ext>
            </a:extLst>
          </p:cNvPr>
          <p:cNvSpPr>
            <a:spLocks noChangeAspect="1"/>
          </p:cNvSpPr>
          <p:nvPr/>
        </p:nvSpPr>
        <p:spPr>
          <a:xfrm rot="2700000">
            <a:off x="612445" y="48188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AA7AB09-557C-41AD-9113-FF9F68FA1035}"/>
              </a:ext>
            </a:extLst>
          </p:cNvPr>
          <p:cNvSpPr/>
          <p:nvPr/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F99ECAA-1F11-4937-BBA6-51935AB44C9D}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9DE9FAB-6BBA-4CFE-B67D-77B47F01ECA4}"/>
              </a:ext>
            </a:extLst>
          </p:cNvPr>
          <p:cNvGrpSpPr/>
          <p:nvPr/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905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BDBC526-6DCD-4FF6-8395-D8C22E46E527}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1600" cy="13320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2113199"/>
            <a:ext cx="11090274" cy="3979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8C025-CD7A-4966-867E-81CF82B15267}" type="datetime2">
              <a:rPr lang="en-US" smtClean="0"/>
              <a:t>Monday, April 27,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543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4644CBB8-40B8-42F8-9172-07A476341DDA}"/>
              </a:ext>
            </a:extLst>
          </p:cNvPr>
          <p:cNvGrpSpPr/>
          <p:nvPr/>
        </p:nvGrpSpPr>
        <p:grpSpPr>
          <a:xfrm>
            <a:off x="356481" y="879007"/>
            <a:ext cx="734257" cy="760506"/>
            <a:chOff x="5243759" y="1363788"/>
            <a:chExt cx="734257" cy="760506"/>
          </a:xfrm>
        </p:grpSpPr>
        <p:sp>
          <p:nvSpPr>
            <p:cNvPr id="49" name="Freeform 5">
              <a:extLst>
                <a:ext uri="{FF2B5EF4-FFF2-40B4-BE49-F238E27FC236}">
                  <a16:creationId xmlns:a16="http://schemas.microsoft.com/office/drawing/2014/main" id="{35CE073E-302A-4AA7-98C7-8667DDDCFA18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0" name="Freeform 6">
              <a:extLst>
                <a:ext uri="{FF2B5EF4-FFF2-40B4-BE49-F238E27FC236}">
                  <a16:creationId xmlns:a16="http://schemas.microsoft.com/office/drawing/2014/main" id="{4FD1AE2F-DD70-4E93-B905-E052A23F0B1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Freeform 8">
              <a:extLst>
                <a:ext uri="{FF2B5EF4-FFF2-40B4-BE49-F238E27FC236}">
                  <a16:creationId xmlns:a16="http://schemas.microsoft.com/office/drawing/2014/main" id="{E8D529E5-8838-47F0-98A4-2D46F11E499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5DA2564-D3DB-48AD-83F0-6CC6B5743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563" y="474345"/>
            <a:ext cx="11077574" cy="2954655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en-US" sz="64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03DDF-462A-45CE-931B-010AB4F73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09929-0719-4517-94D6-FDF7F99E70F6}" type="datetime2">
              <a:rPr lang="en-US" smtClean="0"/>
              <a:t>Monday, April 27,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10702-2ACF-4768-9E91-8CB87B895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FA722-391E-4FCF-8E15-0D7E2EC02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EA752-36DA-440B-8747-0EB2914080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271" y="3629772"/>
            <a:ext cx="11074866" cy="2678953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0BCC02B0-8581-4752-B7BC-3CE1EF17B9F7}"/>
              </a:ext>
            </a:extLst>
          </p:cNvPr>
          <p:cNvSpPr>
            <a:spLocks noChangeAspect="1"/>
          </p:cNvSpPr>
          <p:nvPr/>
        </p:nvSpPr>
        <p:spPr>
          <a:xfrm rot="18900000">
            <a:off x="11209132" y="4448189"/>
            <a:ext cx="999200" cy="1262947"/>
          </a:xfrm>
          <a:custGeom>
            <a:avLst/>
            <a:gdLst>
              <a:gd name="connsiteX0" fmla="*/ 540000 w 999200"/>
              <a:gd name="connsiteY0" fmla="*/ 0 h 1262947"/>
              <a:gd name="connsiteX1" fmla="*/ 999200 w 999200"/>
              <a:gd name="connsiteY1" fmla="*/ 815317 h 1262947"/>
              <a:gd name="connsiteX2" fmla="*/ 552185 w 999200"/>
              <a:gd name="connsiteY2" fmla="*/ 1262333 h 1262947"/>
              <a:gd name="connsiteX3" fmla="*/ 540000 w 999200"/>
              <a:gd name="connsiteY3" fmla="*/ 1262947 h 1262947"/>
              <a:gd name="connsiteX4" fmla="*/ 0 w 999200"/>
              <a:gd name="connsiteY4" fmla="*/ 992947 h 1262947"/>
              <a:gd name="connsiteX5" fmla="*/ 10971 w 999200"/>
              <a:gd name="connsiteY5" fmla="*/ 938533 h 1262947"/>
              <a:gd name="connsiteX6" fmla="*/ 15626 w 999200"/>
              <a:gd name="connsiteY6" fmla="*/ 931034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99200" h="1262947">
                <a:moveTo>
                  <a:pt x="540000" y="0"/>
                </a:moveTo>
                <a:lnTo>
                  <a:pt x="999200" y="815317"/>
                </a:lnTo>
                <a:lnTo>
                  <a:pt x="552185" y="1262333"/>
                </a:lnTo>
                <a:lnTo>
                  <a:pt x="540000" y="1262947"/>
                </a:ln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10200000" scaled="0"/>
          </a:gradFill>
          <a:ln>
            <a:noFill/>
          </a:ln>
          <a:effectLst>
            <a:innerShdw blurRad="254000" dist="101600" dir="42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EA0FF4DB-8180-4D26-AEAE-7ECDB670F71D}"/>
              </a:ext>
            </a:extLst>
          </p:cNvPr>
          <p:cNvSpPr/>
          <p:nvPr/>
        </p:nvSpPr>
        <p:spPr>
          <a:xfrm rot="2700000">
            <a:off x="11686937" y="4853516"/>
            <a:ext cx="540000" cy="978284"/>
          </a:xfrm>
          <a:custGeom>
            <a:avLst/>
            <a:gdLst>
              <a:gd name="connsiteX0" fmla="*/ 113288 w 540000"/>
              <a:gd name="connsiteY0" fmla="*/ 0 h 978284"/>
              <a:gd name="connsiteX1" fmla="*/ 539386 w 540000"/>
              <a:gd name="connsiteY1" fmla="*/ 426099 h 978284"/>
              <a:gd name="connsiteX2" fmla="*/ 540000 w 540000"/>
              <a:gd name="connsiteY2" fmla="*/ 438284 h 978284"/>
              <a:gd name="connsiteX3" fmla="*/ 270000 w 540000"/>
              <a:gd name="connsiteY3" fmla="*/ 978284 h 978284"/>
              <a:gd name="connsiteX4" fmla="*/ 0 w 540000"/>
              <a:gd name="connsiteY4" fmla="*/ 438284 h 978284"/>
              <a:gd name="connsiteX5" fmla="*/ 79081 w 540000"/>
              <a:gd name="connsiteY5" fmla="*/ 56446 h 978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000" h="978284">
                <a:moveTo>
                  <a:pt x="113288" y="0"/>
                </a:moveTo>
                <a:lnTo>
                  <a:pt x="539386" y="426099"/>
                </a:lnTo>
                <a:lnTo>
                  <a:pt x="540000" y="438284"/>
                </a:lnTo>
                <a:cubicBezTo>
                  <a:pt x="540000" y="736518"/>
                  <a:pt x="419117" y="978284"/>
                  <a:pt x="270000" y="978284"/>
                </a:cubicBezTo>
                <a:cubicBezTo>
                  <a:pt x="120883" y="978284"/>
                  <a:pt x="0" y="736518"/>
                  <a:pt x="0" y="438284"/>
                </a:cubicBezTo>
                <a:cubicBezTo>
                  <a:pt x="0" y="289167"/>
                  <a:pt x="30220" y="154167"/>
                  <a:pt x="79081" y="56446"/>
                </a:cubicBezTo>
                <a:close/>
              </a:path>
            </a:pathLst>
          </a:cu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076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94729CA3-91C4-4A89-9448-A2F0E409177A}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68347B7-45FA-4A01-924D-DC385B720B3E}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4" cy="1332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2" y="2097175"/>
            <a:ext cx="5435600" cy="3995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62910-87AA-4E67-992D-8D4822FD8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5538" y="2097175"/>
            <a:ext cx="5435600" cy="3995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95673-5512-4AAA-9AEB-E00C61EC65D5}" type="datetime2">
              <a:rPr lang="en-US" smtClean="0"/>
              <a:t>Monday, April 27,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719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D65A50E-2F73-4426-8586-9731AFA2D2E0}"/>
              </a:ext>
            </a:extLst>
          </p:cNvPr>
          <p:cNvSpPr>
            <a:spLocks noChangeAspect="1"/>
          </p:cNvSpPr>
          <p:nvPr/>
        </p:nvSpPr>
        <p:spPr>
          <a:xfrm>
            <a:off x="11091612" y="5893466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89C080-4102-49AE-BDA9-59A4A67E2486}"/>
              </a:ext>
            </a:extLst>
          </p:cNvPr>
          <p:cNvSpPr/>
          <p:nvPr/>
        </p:nvSpPr>
        <p:spPr>
          <a:xfrm>
            <a:off x="11451612" y="5827878"/>
            <a:ext cx="379049" cy="360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E62014-F04C-495A-964E-6B888D49C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3320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2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DF027-E633-44EE-ACA0-C205930AA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4" y="1881275"/>
            <a:ext cx="5437186" cy="535354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A4F363-FEEF-4CD2-A18E-17AE8D485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3" y="2577270"/>
            <a:ext cx="5429114" cy="3515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E50F8C-4D64-40FD-AE8C-6A1F3C2A84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2024" y="1881275"/>
            <a:ext cx="5436392" cy="535354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sz="1400" b="0" cap="all" spc="200" baseline="0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AC943E-DB2B-40E0-907F-8EA1404791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2023" y="2577270"/>
            <a:ext cx="5436391" cy="3515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CDCD5B-3F26-4AFA-8BD4-E5D8DD2AF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138FA-2E87-4873-8BBA-13E447C9A99A}" type="datetime2">
              <a:rPr lang="en-US" smtClean="0"/>
              <a:t>Monday, April 27, 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10D1EE-83A0-4FB5-9B25-8A73DE891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031C35-2E5B-491D-85ED-DB42A4FE1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075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2053C-0E9C-4159-B7C9-6AB743439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149" y="550799"/>
            <a:ext cx="8283313" cy="5542025"/>
          </a:xfrm>
        </p:spPr>
        <p:txBody>
          <a:bodyPr vert="horz" wrap="square" lIns="0" tIns="0" rIns="0" bIns="0" rtlCol="0" anchor="ctr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F51F65-E111-4656-83BE-CFCDE2DD6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BB40A-97BD-4BFB-B639-0BFF95FDE8B7}" type="datetime2">
              <a:rPr lang="en-US" smtClean="0"/>
              <a:t>Monday, April 27,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FF82CB-2D17-4918-821E-485475CF2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66589D-A056-4817-AE15-39D87FE13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E489F067-39E1-4757-BC11-6169A343F2E1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410727" y="3958416"/>
            <a:ext cx="3536330" cy="1853969"/>
          </a:xfrm>
          <a:custGeom>
            <a:avLst/>
            <a:gdLst>
              <a:gd name="connsiteX0" fmla="*/ 3536330 w 3536330"/>
              <a:gd name="connsiteY0" fmla="*/ 1853969 h 1853969"/>
              <a:gd name="connsiteX1" fmla="*/ 1682362 w 3536330"/>
              <a:gd name="connsiteY1" fmla="*/ 0 h 1853969"/>
              <a:gd name="connsiteX2" fmla="*/ 52157 w 3536330"/>
              <a:gd name="connsiteY2" fmla="*/ 970257 h 1853969"/>
              <a:gd name="connsiteX3" fmla="*/ 0 w 3536330"/>
              <a:gd name="connsiteY3" fmla="*/ 1078528 h 1853969"/>
              <a:gd name="connsiteX4" fmla="*/ 757215 w 3536330"/>
              <a:gd name="connsiteY4" fmla="*/ 1835743 h 1853969"/>
              <a:gd name="connsiteX5" fmla="*/ 774211 w 3536330"/>
              <a:gd name="connsiteY5" fmla="*/ 1667149 h 1853969"/>
              <a:gd name="connsiteX6" fmla="*/ 1682362 w 3536330"/>
              <a:gd name="connsiteY6" fmla="*/ 926985 h 1853969"/>
              <a:gd name="connsiteX7" fmla="*/ 2609345 w 3536330"/>
              <a:gd name="connsiteY7" fmla="*/ 1853969 h 1853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36330" h="1853969">
                <a:moveTo>
                  <a:pt x="3536330" y="1853969"/>
                </a:moveTo>
                <a:cubicBezTo>
                  <a:pt x="3536330" y="830051"/>
                  <a:pt x="2706280" y="0"/>
                  <a:pt x="1682362" y="0"/>
                </a:cubicBezTo>
                <a:cubicBezTo>
                  <a:pt x="978418" y="0"/>
                  <a:pt x="366107" y="392328"/>
                  <a:pt x="52157" y="970257"/>
                </a:cubicBezTo>
                <a:lnTo>
                  <a:pt x="0" y="1078528"/>
                </a:lnTo>
                <a:lnTo>
                  <a:pt x="757215" y="1835743"/>
                </a:lnTo>
                <a:lnTo>
                  <a:pt x="774211" y="1667149"/>
                </a:lnTo>
                <a:cubicBezTo>
                  <a:pt x="860649" y="1244739"/>
                  <a:pt x="1234397" y="926985"/>
                  <a:pt x="1682362" y="926985"/>
                </a:cubicBezTo>
                <a:cubicBezTo>
                  <a:pt x="2194320" y="926985"/>
                  <a:pt x="2609345" y="1342010"/>
                  <a:pt x="2609345" y="1853969"/>
                </a:cubicBezTo>
                <a:close/>
              </a:path>
            </a:pathLst>
          </a:custGeom>
          <a:gradFill flip="none" rotWithShape="1">
            <a:gsLst>
              <a:gs pos="97000">
                <a:schemeClr val="bg2"/>
              </a:gs>
              <a:gs pos="31000">
                <a:schemeClr val="bg2">
                  <a:lumMod val="90000"/>
                  <a:lumOff val="10000"/>
                </a:schemeClr>
              </a:gs>
            </a:gsLst>
            <a:lin ang="15000000" scaled="0"/>
            <a:tileRect/>
          </a:gradFill>
          <a:ln>
            <a:noFill/>
          </a:ln>
          <a:effectLst>
            <a:innerShdw blurRad="355600" dist="101600" dir="16200000">
              <a:schemeClr val="accent1">
                <a:lumMod val="60000"/>
                <a:lumOff val="40000"/>
                <a:alpha val="8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DD231011-607F-42F1-B2D9-2BA8E91CC6AF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481151" y="3649708"/>
            <a:ext cx="3478701" cy="2164843"/>
          </a:xfrm>
          <a:custGeom>
            <a:avLst/>
            <a:gdLst>
              <a:gd name="connsiteX0" fmla="*/ 3478701 w 3478701"/>
              <a:gd name="connsiteY0" fmla="*/ 2164843 h 2164843"/>
              <a:gd name="connsiteX1" fmla="*/ 1624733 w 3478701"/>
              <a:gd name="connsiteY1" fmla="*/ 0 h 2164843"/>
              <a:gd name="connsiteX2" fmla="*/ 87393 w 3478701"/>
              <a:gd name="connsiteY2" fmla="*/ 954459 h 2164843"/>
              <a:gd name="connsiteX3" fmla="*/ 0 w 3478701"/>
              <a:gd name="connsiteY3" fmla="*/ 1122434 h 2164843"/>
              <a:gd name="connsiteX4" fmla="*/ 736015 w 3478701"/>
              <a:gd name="connsiteY4" fmla="*/ 1858449 h 2164843"/>
              <a:gd name="connsiteX5" fmla="*/ 739424 w 3478701"/>
              <a:gd name="connsiteY5" fmla="*/ 1842964 h 2164843"/>
              <a:gd name="connsiteX6" fmla="*/ 1624733 w 3478701"/>
              <a:gd name="connsiteY6" fmla="*/ 1082422 h 2164843"/>
              <a:gd name="connsiteX7" fmla="*/ 2551716 w 3478701"/>
              <a:gd name="connsiteY7" fmla="*/ 2164843 h 2164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78701" h="2164843">
                <a:moveTo>
                  <a:pt x="3478701" y="2164843"/>
                </a:moveTo>
                <a:cubicBezTo>
                  <a:pt x="3478701" y="969234"/>
                  <a:pt x="2648651" y="0"/>
                  <a:pt x="1624733" y="0"/>
                </a:cubicBezTo>
                <a:cubicBezTo>
                  <a:pt x="984784" y="0"/>
                  <a:pt x="420564" y="378607"/>
                  <a:pt x="87393" y="954459"/>
                </a:cubicBezTo>
                <a:lnTo>
                  <a:pt x="0" y="1122434"/>
                </a:lnTo>
                <a:lnTo>
                  <a:pt x="736015" y="1858449"/>
                </a:lnTo>
                <a:lnTo>
                  <a:pt x="739424" y="1842964"/>
                </a:lnTo>
                <a:cubicBezTo>
                  <a:pt x="856791" y="1402344"/>
                  <a:pt x="1208766" y="1082422"/>
                  <a:pt x="1624733" y="1082422"/>
                </a:cubicBezTo>
                <a:cubicBezTo>
                  <a:pt x="2136692" y="1082422"/>
                  <a:pt x="2551716" y="1567038"/>
                  <a:pt x="2551716" y="2164843"/>
                </a:cubicBezTo>
                <a:close/>
              </a:path>
            </a:pathLst>
          </a:custGeom>
          <a:solidFill>
            <a:schemeClr val="bg2">
              <a:lumMod val="50000"/>
              <a:lumOff val="50000"/>
              <a:alpha val="40000"/>
            </a:schemeClr>
          </a:solidFill>
          <a:ln>
            <a:noFill/>
          </a:ln>
          <a:effectLst>
            <a:softEdge rad="381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C472EFA-56B5-4A41-8D4B-E9F37727F34D}"/>
              </a:ext>
            </a:extLst>
          </p:cNvPr>
          <p:cNvSpPr/>
          <p:nvPr/>
        </p:nvSpPr>
        <p:spPr>
          <a:xfrm rot="13500000" flipV="1">
            <a:off x="1512277" y="2840042"/>
            <a:ext cx="214196" cy="933178"/>
          </a:xfrm>
          <a:prstGeom prst="ellipse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3781B6C-21AD-489D-A3CB-522BB2AC543F}"/>
              </a:ext>
            </a:extLst>
          </p:cNvPr>
          <p:cNvSpPr>
            <a:spLocks noChangeAspect="1"/>
          </p:cNvSpPr>
          <p:nvPr/>
        </p:nvSpPr>
        <p:spPr>
          <a:xfrm>
            <a:off x="1780661" y="385236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1AD5B80-530E-44CD-8D4A-2796FB214CBF}"/>
              </a:ext>
            </a:extLst>
          </p:cNvPr>
          <p:cNvGrpSpPr/>
          <p:nvPr/>
        </p:nvGrpSpPr>
        <p:grpSpPr>
          <a:xfrm>
            <a:off x="623181" y="1514007"/>
            <a:ext cx="734257" cy="760506"/>
            <a:chOff x="5243759" y="1363788"/>
            <a:chExt cx="734257" cy="760506"/>
          </a:xfrm>
        </p:grpSpPr>
        <p:sp>
          <p:nvSpPr>
            <p:cNvPr id="52" name="Freeform 5">
              <a:extLst>
                <a:ext uri="{FF2B5EF4-FFF2-40B4-BE49-F238E27FC236}">
                  <a16:creationId xmlns:a16="http://schemas.microsoft.com/office/drawing/2014/main" id="{2F746AA8-9050-4515-9B17-BC850368529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Freeform 6">
              <a:extLst>
                <a:ext uri="{FF2B5EF4-FFF2-40B4-BE49-F238E27FC236}">
                  <a16:creationId xmlns:a16="http://schemas.microsoft.com/office/drawing/2014/main" id="{23EC1AC3-1698-46D5-80B7-F22F15E1A5E4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4" name="Freeform 8">
              <a:extLst>
                <a:ext uri="{FF2B5EF4-FFF2-40B4-BE49-F238E27FC236}">
                  <a16:creationId xmlns:a16="http://schemas.microsoft.com/office/drawing/2014/main" id="{73766156-553C-46EB-93FA-4F37CC0FF5CF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02498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9E0E3-ECF6-4CFE-8698-AEFEBCECC3C0}" type="datetime2">
              <a:rPr lang="en-US" smtClean="0"/>
              <a:t>Monday, April 27, 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017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78B0BE9-88B0-4883-9BA9-CD594C400EC1}"/>
              </a:ext>
            </a:extLst>
          </p:cNvPr>
          <p:cNvGrpSpPr/>
          <p:nvPr/>
        </p:nvGrpSpPr>
        <p:grpSpPr>
          <a:xfrm>
            <a:off x="4949631" y="5111861"/>
            <a:ext cx="1262947" cy="1335600"/>
            <a:chOff x="2678417" y="2427951"/>
            <a:chExt cx="1262947" cy="13356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59DCBF3-7AFA-4CD1-A918-BC6DDE674E6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2769891" y="2336477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6964A02-96E1-4654-9187-DDDE7409F75B}"/>
                </a:ext>
              </a:extLst>
            </p:cNvPr>
            <p:cNvSpPr/>
            <p:nvPr/>
          </p:nvSpPr>
          <p:spPr>
            <a:xfrm rot="8100000">
              <a:off x="2784291" y="26835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F3FF76C-A012-4CDA-8AE7-E94139557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5" cy="984885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A4C80-DC38-4641-924F-90D6078CF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5775" y="1750060"/>
            <a:ext cx="7345362" cy="4342765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C42771-D3A7-4072-85DC-B7C5E530E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50060"/>
            <a:ext cx="3565525" cy="434276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47AB1-6EB5-4E2C-B4A7-42DC643E9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462FC-960E-4740-921F-B36862979F21}" type="datetime2">
              <a:rPr lang="en-US" smtClean="0"/>
              <a:t>Monday, April 27,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A9D15F-B6ED-46E1-9840-0B625880E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EB023-7A5E-4087-B75E-A38A80EE5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869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F98F1FBA-F8BB-42CF-8B3E-D19AAFEE96C1}"/>
              </a:ext>
            </a:extLst>
          </p:cNvPr>
          <p:cNvGrpSpPr/>
          <p:nvPr/>
        </p:nvGrpSpPr>
        <p:grpSpPr>
          <a:xfrm>
            <a:off x="334964" y="5115518"/>
            <a:ext cx="734257" cy="760506"/>
            <a:chOff x="5243759" y="1363788"/>
            <a:chExt cx="734257" cy="760506"/>
          </a:xfrm>
        </p:grpSpPr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60EE09DD-C3DB-4266-BCC3-A765CFFBF37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5F301FE0-96DC-4EFB-BBEE-AED762C337C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3BEAD276-8850-4C0C-9777-8537000D522A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5EE0A0-B07E-479B-9684-4BD09FA43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75409"/>
            <a:ext cx="4500562" cy="984885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2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1893A9-3462-4F51-83AE-5D2F124B98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67324" y="575409"/>
            <a:ext cx="6373813" cy="573331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A9240C-79C0-4A88-A476-725DE1B9C2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76195"/>
            <a:ext cx="4500562" cy="4532530"/>
          </a:xfrm>
        </p:spPr>
        <p:txBody>
          <a:bodyPr anchor="t" anchorCtr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D2D6F-49E8-4217-A908-2D9E43583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BC9E2-CB44-4C05-9BB5-496C18A241E0}" type="datetime2">
              <a:rPr lang="en-US" smtClean="0"/>
              <a:t>Monday, April 27,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1C4440-6B8D-4A24-A807-8B1302A3D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CFE189-E20B-4108-B290-244424336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352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79361-B9A1-48F2-9473-23DE30E2D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03906"/>
            <a:ext cx="11090275" cy="1333057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986779-C2F3-447D-85F7-F6B0E2C97D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61572-1A59-4E3B-BA65-3329E9468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EBD84-71F4-4271-8C46-0D47C0A9B12E}" type="datetime2">
              <a:rPr lang="en-US" smtClean="0"/>
              <a:t>Monday, April 27,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F84F1-99FE-4F0B-9E76-F581C2C1B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2D769-16B1-43C4-BF14-317553351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368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56583A-514F-4632-820D-E7EE236A46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73CBBB-7DDC-4437-8C7D-22A1C35202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69EBF-DA20-4024-8006-B158D571E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E0CE1-F450-4107-B2CB-17B18F8A3F4A}" type="datetime2">
              <a:rPr lang="en-US" smtClean="0"/>
              <a:t>Monday, April 27,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AC8B9-14B5-4DF1-994D-AB47DB3BA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76582-5F9B-4F5E-AAD5-D608CB68E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380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028302-E866-455D-8898-53623027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0"/>
            <a:ext cx="11090275" cy="13330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4E72B-F0CF-4BC4-B509-A1C4508BE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2113862"/>
            <a:ext cx="11091600" cy="3978963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CE49D-C22F-4540-AC09-E421D2A2E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9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246CB39B-5F4C-4A7E-9BE3-AAFD45576D16}" type="datetime2">
              <a:rPr lang="en-US" smtClean="0"/>
              <a:t>Monday, April 27,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5C3BE-317E-49E8-82B5-C8A7EC9C8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9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r>
              <a:rPr lang="en-US"/>
              <a:t>Sample Footer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74E12-6C16-431F-B2CE-E4B15916B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9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DBA1B0FB-D917-4C8C-928F-313BD683BF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08418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18" r:id="rId6"/>
    <p:sldLayoutId id="2147483714" r:id="rId7"/>
    <p:sldLayoutId id="2147483715" r:id="rId8"/>
    <p:sldLayoutId id="2147483716" r:id="rId9"/>
    <p:sldLayoutId id="2147483717" r:id="rId10"/>
    <p:sldLayoutId id="2147483719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48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spcAft>
          <a:spcPts val="800"/>
        </a:spcAft>
        <a:buFont typeface="Arial" panose="020B0604020202020204" pitchFamily="34" charset="0"/>
        <a:buChar char="•"/>
        <a:defRPr sz="20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2" name="Rectangle 1031">
            <a:extLst>
              <a:ext uri="{FF2B5EF4-FFF2-40B4-BE49-F238E27FC236}">
                <a16:creationId xmlns:a16="http://schemas.microsoft.com/office/drawing/2014/main" id="{1DB043B4-68C6-45B9-82AC-A5800EADB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4" name="Oval 1033">
            <a:extLst>
              <a:ext uri="{FF2B5EF4-FFF2-40B4-BE49-F238E27FC236}">
                <a16:creationId xmlns:a16="http://schemas.microsoft.com/office/drawing/2014/main" id="{28A00A08-E4E6-4184-B484-E0E034072A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1171" y="1388266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1036" name="Group 1035">
            <a:extLst>
              <a:ext uri="{FF2B5EF4-FFF2-40B4-BE49-F238E27FC236}">
                <a16:creationId xmlns:a16="http://schemas.microsoft.com/office/drawing/2014/main" id="{0780E404-3121-4F33-AF2D-65F659A977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7675" y="288981"/>
            <a:ext cx="1262947" cy="1335600"/>
            <a:chOff x="2678417" y="2427951"/>
            <a:chExt cx="1262947" cy="1335600"/>
          </a:xfrm>
        </p:grpSpPr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2339341D-8322-49F1-91DA-6D115CCAE7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2769891" y="2336477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38" name="Oval 1037">
              <a:extLst>
                <a:ext uri="{FF2B5EF4-FFF2-40B4-BE49-F238E27FC236}">
                  <a16:creationId xmlns:a16="http://schemas.microsoft.com/office/drawing/2014/main" id="{7EB9DB0E-3B0E-411A-9274-448D565CA4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>
              <a:off x="2784291" y="26835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B59A7FC-0D3C-6549-46D1-AFE708443A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1139581"/>
            <a:ext cx="5077050" cy="2289419"/>
          </a:xfrm>
        </p:spPr>
        <p:txBody>
          <a:bodyPr anchor="b">
            <a:normAutofit/>
          </a:bodyPr>
          <a:lstStyle/>
          <a:p>
            <a:r>
              <a:rPr lang="en-US" sz="4800" dirty="0"/>
              <a:t>The End of the for Loop</a:t>
            </a:r>
          </a:p>
        </p:txBody>
      </p:sp>
      <p:grpSp>
        <p:nvGrpSpPr>
          <p:cNvPr id="1040" name="Group 1039">
            <a:extLst>
              <a:ext uri="{FF2B5EF4-FFF2-40B4-BE49-F238E27FC236}">
                <a16:creationId xmlns:a16="http://schemas.microsoft.com/office/drawing/2014/main" id="{4B158E9A-DBF4-4AA7-B6B7-8C8EB2FBDD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125249" y="5435090"/>
            <a:ext cx="762805" cy="734873"/>
            <a:chOff x="7950336" y="1300590"/>
            <a:chExt cx="762805" cy="734873"/>
          </a:xfrm>
        </p:grpSpPr>
        <p:sp>
          <p:nvSpPr>
            <p:cNvPr id="1041" name="Freeform 5">
              <a:extLst>
                <a:ext uri="{FF2B5EF4-FFF2-40B4-BE49-F238E27FC236}">
                  <a16:creationId xmlns:a16="http://schemas.microsoft.com/office/drawing/2014/main" id="{6150ACFD-AEC6-42A3-A5A7-E7AD6B13E0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3600000">
              <a:off x="8220298" y="1428832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60000"/>
                  </a:schemeClr>
                </a:gs>
                <a:gs pos="100000">
                  <a:schemeClr val="accent1">
                    <a:lumMod val="60000"/>
                    <a:lumOff val="40000"/>
                    <a:alpha val="6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42" name="Freeform 6">
              <a:extLst>
                <a:ext uri="{FF2B5EF4-FFF2-40B4-BE49-F238E27FC236}">
                  <a16:creationId xmlns:a16="http://schemas.microsoft.com/office/drawing/2014/main" id="{DB4D1217-FEB1-4D2A-80F4-C227B66D72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3600000">
              <a:off x="8066503" y="1339815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60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43" name="Freeform 8">
              <a:extLst>
                <a:ext uri="{FF2B5EF4-FFF2-40B4-BE49-F238E27FC236}">
                  <a16:creationId xmlns:a16="http://schemas.microsoft.com/office/drawing/2014/main" id="{0BCA7138-22BA-4785-8B3D-9D45213E85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3600000">
              <a:off x="8217173" y="1608753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60000"/>
                  </a:schemeClr>
                </a:gs>
                <a:gs pos="100000">
                  <a:schemeClr val="accent1">
                    <a:lumMod val="60000"/>
                    <a:lumOff val="40000"/>
                    <a:alpha val="6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508000">
                <a:schemeClr val="bg2"/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4" name="Rectangle 1">
            <a:extLst>
              <a:ext uri="{FF2B5EF4-FFF2-40B4-BE49-F238E27FC236}">
                <a16:creationId xmlns:a16="http://schemas.microsoft.com/office/drawing/2014/main" id="{081E6A49-3EE4-4F5D-3A6A-B6FA2548B68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41330" y="4545281"/>
            <a:ext cx="9802870" cy="168052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marL="285750" marR="0" lvl="0" indent="-28575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>
                    <a:alpha val="60000"/>
                  </a:schemeClr>
                </a:solidFill>
                <a:effectLst/>
                <a:latin typeface="Arial" panose="020B0604020202020204" pitchFamily="34" charset="0"/>
              </a:rPr>
              <a:t>The Problem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>
                    <a:alpha val="60000"/>
                  </a:schemeClr>
                </a:solidFill>
                <a:effectLst/>
                <a:latin typeface="Arial" panose="020B0604020202020204" pitchFamily="34" charset="0"/>
              </a:rPr>
              <a:t>: Standard Python loops are slow because they process one item at a time (Scalar operations).</a:t>
            </a:r>
          </a:p>
          <a:p>
            <a:pPr marL="285750" marR="0" lvl="0" indent="-28575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>
                    <a:alpha val="60000"/>
                  </a:schemeClr>
                </a:solidFill>
                <a:effectLst/>
                <a:latin typeface="Arial" panose="020B0604020202020204" pitchFamily="34" charset="0"/>
              </a:rPr>
              <a:t>The Solution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>
                    <a:alpha val="60000"/>
                  </a:schemeClr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>
                    <a:alpha val="60000"/>
                  </a:schemeClr>
                </a:solidFill>
                <a:effectLst/>
                <a:latin typeface="Arial" panose="020B0604020202020204" pitchFamily="34" charset="0"/>
              </a:rPr>
              <a:t>Vectorization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>
                    <a:alpha val="60000"/>
                  </a:schemeClr>
                </a:solidFill>
                <a:effectLst/>
                <a:latin typeface="Arial" panose="020B0604020202020204" pitchFamily="34" charset="0"/>
              </a:rPr>
              <a:t> allows you to perform math on entire datasets simultaneously.</a:t>
            </a:r>
          </a:p>
          <a:p>
            <a:pPr marL="285750" marR="0" lvl="0" indent="-28575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>
                    <a:alpha val="60000"/>
                  </a:schemeClr>
                </a:solidFill>
                <a:effectLst/>
                <a:latin typeface="Arial" panose="020B0604020202020204" pitchFamily="34" charset="0"/>
              </a:rPr>
              <a:t>Speed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>
                    <a:alpha val="60000"/>
                  </a:schemeClr>
                </a:solidFill>
                <a:effectLst/>
                <a:latin typeface="Arial" panose="020B0604020202020204" pitchFamily="34" charset="0"/>
              </a:rPr>
              <a:t>: NumPy operations are often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>
                    <a:alpha val="60000"/>
                  </a:schemeClr>
                </a:solidFill>
                <a:effectLst/>
                <a:latin typeface="Arial" panose="020B0604020202020204" pitchFamily="34" charset="0"/>
              </a:rPr>
              <a:t>100x faster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>
                    <a:alpha val="60000"/>
                  </a:schemeClr>
                </a:solidFill>
                <a:effectLst/>
                <a:latin typeface="Arial" panose="020B0604020202020204" pitchFamily="34" charset="0"/>
              </a:rPr>
              <a:t> than standard Python lists because they are implemented in C.</a:t>
            </a:r>
          </a:p>
        </p:txBody>
      </p:sp>
      <p:pic>
        <p:nvPicPr>
          <p:cNvPr id="1027" name="Picture 3" descr="The Need for Speed: vector vs for loop | by ganeshreddypuli | Medium">
            <a:extLst>
              <a:ext uri="{FF2B5EF4-FFF2-40B4-BE49-F238E27FC236}">
                <a16:creationId xmlns:a16="http://schemas.microsoft.com/office/drawing/2014/main" id="{E2ED3183-12D5-120A-91BE-6A97BE3F17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77127" y="1156279"/>
            <a:ext cx="5543723" cy="2647127"/>
          </a:xfrm>
          <a:custGeom>
            <a:avLst/>
            <a:gdLst/>
            <a:ahLst/>
            <a:cxnLst/>
            <a:rect l="l" t="t" r="r" b="b"/>
            <a:pathLst>
              <a:path w="7345363" h="5761037">
                <a:moveTo>
                  <a:pt x="0" y="0"/>
                </a:moveTo>
                <a:lnTo>
                  <a:pt x="7345363" y="0"/>
                </a:lnTo>
                <a:lnTo>
                  <a:pt x="7345363" y="5761037"/>
                </a:lnTo>
                <a:lnTo>
                  <a:pt x="0" y="576103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61769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6" name="Rectangle 2055">
            <a:extLst>
              <a:ext uri="{FF2B5EF4-FFF2-40B4-BE49-F238E27FC236}">
                <a16:creationId xmlns:a16="http://schemas.microsoft.com/office/drawing/2014/main" id="{A5931BE0-4B93-4D6C-878E-ACC59D6B4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022236-489F-B49E-AD70-508650828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80363"/>
            <a:ext cx="6379210" cy="1333057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400" dirty="0"/>
              <a:t>Broadcasting – Math Between Different Shapes</a:t>
            </a:r>
          </a:p>
        </p:txBody>
      </p:sp>
      <p:sp>
        <p:nvSpPr>
          <p:cNvPr id="2058" name="Oval 2057">
            <a:extLst>
              <a:ext uri="{FF2B5EF4-FFF2-40B4-BE49-F238E27FC236}">
                <a16:creationId xmlns:a16="http://schemas.microsoft.com/office/drawing/2014/main" id="{6B425BBD-042F-4CF8-A9EE-42CC14D25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60575" y="5492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2051" name="Picture 3" descr="NumPy Broadcasting Explained: The Complete Guide for Beginners and Data  Enthusiasts | by Rohan Mistry | Medium">
            <a:extLst>
              <a:ext uri="{FF2B5EF4-FFF2-40B4-BE49-F238E27FC236}">
                <a16:creationId xmlns:a16="http://schemas.microsoft.com/office/drawing/2014/main" id="{DA843144-BCD6-CCFE-8C7D-09C1956EDC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1921"/>
          <a:stretch>
            <a:fillRect/>
          </a:stretch>
        </p:blipFill>
        <p:spPr bwMode="auto">
          <a:xfrm>
            <a:off x="550863" y="2530474"/>
            <a:ext cx="5773738" cy="3779838"/>
          </a:xfrm>
          <a:custGeom>
            <a:avLst/>
            <a:gdLst/>
            <a:ahLst/>
            <a:cxnLst/>
            <a:rect l="l" t="t" r="r" b="b"/>
            <a:pathLst>
              <a:path w="5773738" h="3779838">
                <a:moveTo>
                  <a:pt x="0" y="0"/>
                </a:moveTo>
                <a:lnTo>
                  <a:pt x="5773738" y="0"/>
                </a:lnTo>
                <a:lnTo>
                  <a:pt x="5773738" y="3779838"/>
                </a:lnTo>
                <a:lnTo>
                  <a:pt x="0" y="3779838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60" name="Group 2059">
            <a:extLst>
              <a:ext uri="{FF2B5EF4-FFF2-40B4-BE49-F238E27FC236}">
                <a16:creationId xmlns:a16="http://schemas.microsoft.com/office/drawing/2014/main" id="{F8ED97E8-4320-4F9F-8AB2-2EC6D9FC9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80191" y="1665774"/>
            <a:ext cx="1262947" cy="1335600"/>
            <a:chOff x="2678417" y="2427951"/>
            <a:chExt cx="1262947" cy="1335600"/>
          </a:xfrm>
        </p:grpSpPr>
        <p:sp>
          <p:nvSpPr>
            <p:cNvPr id="2061" name="Freeform: Shape 2060">
              <a:extLst>
                <a:ext uri="{FF2B5EF4-FFF2-40B4-BE49-F238E27FC236}">
                  <a16:creationId xmlns:a16="http://schemas.microsoft.com/office/drawing/2014/main" id="{DDAE1E3F-711D-4F2E-AF4B-0A3CF77C5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2769891" y="2336477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62" name="Oval 2061">
              <a:extLst>
                <a:ext uri="{FF2B5EF4-FFF2-40B4-BE49-F238E27FC236}">
                  <a16:creationId xmlns:a16="http://schemas.microsoft.com/office/drawing/2014/main" id="{717A35D9-9F09-4A9F-AD47-CF2115100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>
              <a:off x="2784291" y="26835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4" name="Rectangle 1">
            <a:extLst>
              <a:ext uri="{FF2B5EF4-FFF2-40B4-BE49-F238E27FC236}">
                <a16:creationId xmlns:a16="http://schemas.microsoft.com/office/drawing/2014/main" id="{6796E919-0D62-B0DA-9411-223B7439CAB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140575" y="1520824"/>
            <a:ext cx="4500562" cy="377983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Definition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The ability to perform operations between arrays of different shapes (e.g., adding a single number to an entire matrix).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Mechanical Necessity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This allows for memory-efficient computation by "stretching" smaller arrays to match larger ones without actually copying data.</a:t>
            </a:r>
          </a:p>
        </p:txBody>
      </p:sp>
      <p:grpSp>
        <p:nvGrpSpPr>
          <p:cNvPr id="2064" name="Group 2063">
            <a:extLst>
              <a:ext uri="{FF2B5EF4-FFF2-40B4-BE49-F238E27FC236}">
                <a16:creationId xmlns:a16="http://schemas.microsoft.com/office/drawing/2014/main" id="{3F071BFC-FCD5-404E-90E6-D596557747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724513" y="5071998"/>
            <a:ext cx="1980000" cy="1336764"/>
            <a:chOff x="7285270" y="3781428"/>
            <a:chExt cx="1980000" cy="1336764"/>
          </a:xfrm>
        </p:grpSpPr>
        <p:sp>
          <p:nvSpPr>
            <p:cNvPr id="2065" name="Freeform: Shape 2064">
              <a:extLst>
                <a:ext uri="{FF2B5EF4-FFF2-40B4-BE49-F238E27FC236}">
                  <a16:creationId xmlns:a16="http://schemas.microsoft.com/office/drawing/2014/main" id="{BA0B934F-9437-4904-A573-FD6F8B81F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>
              <a:off x="7285270" y="3781428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54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066" name="Freeform: Shape 2065">
              <a:extLst>
                <a:ext uri="{FF2B5EF4-FFF2-40B4-BE49-F238E27FC236}">
                  <a16:creationId xmlns:a16="http://schemas.microsoft.com/office/drawing/2014/main" id="{E0204A86-ED4C-4DD3-9013-C7A4EFF920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>
              <a:off x="7351895" y="3784117"/>
              <a:ext cx="1853969" cy="1042921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067" name="Oval 2066">
              <a:extLst>
                <a:ext uri="{FF2B5EF4-FFF2-40B4-BE49-F238E27FC236}">
                  <a16:creationId xmlns:a16="http://schemas.microsoft.com/office/drawing/2014/main" id="{69EEA625-9D71-403F-B693-78E333447C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7997401" y="4831348"/>
              <a:ext cx="107098" cy="466589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254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68" name="Oval 2067">
              <a:extLst>
                <a:ext uri="{FF2B5EF4-FFF2-40B4-BE49-F238E27FC236}">
                  <a16:creationId xmlns:a16="http://schemas.microsoft.com/office/drawing/2014/main" id="{425D8F7F-021F-459C-87EB-5AF697DC3B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8978427" y="3850321"/>
              <a:ext cx="107098" cy="466589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254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160325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0" name="Rectangle 3079">
            <a:extLst>
              <a:ext uri="{FF2B5EF4-FFF2-40B4-BE49-F238E27FC236}">
                <a16:creationId xmlns:a16="http://schemas.microsoft.com/office/drawing/2014/main" id="{A5931BE0-4B93-4D6C-878E-ACC59D6B4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BC8C0E-DBEA-AB68-514B-B4DD67B27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4" y="549275"/>
            <a:ext cx="3565524" cy="1997855"/>
          </a:xfrm>
        </p:spPr>
        <p:txBody>
          <a:bodyPr wrap="square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Slicing and Fancy Indexing</a:t>
            </a:r>
            <a:endParaRPr lang="en-US"/>
          </a:p>
        </p:txBody>
      </p:sp>
      <p:grpSp>
        <p:nvGrpSpPr>
          <p:cNvPr id="3082" name="Group 3081">
            <a:extLst>
              <a:ext uri="{FF2B5EF4-FFF2-40B4-BE49-F238E27FC236}">
                <a16:creationId xmlns:a16="http://schemas.microsoft.com/office/drawing/2014/main" id="{9F2D4ED5-DC78-4C88-97AA-483206C53E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570793" y="0"/>
            <a:ext cx="1468514" cy="1521012"/>
            <a:chOff x="5236793" y="2432482"/>
            <a:chExt cx="1468514" cy="1521012"/>
          </a:xfrm>
        </p:grpSpPr>
        <p:sp>
          <p:nvSpPr>
            <p:cNvPr id="3083" name="Freeform 5">
              <a:extLst>
                <a:ext uri="{FF2B5EF4-FFF2-40B4-BE49-F238E27FC236}">
                  <a16:creationId xmlns:a16="http://schemas.microsoft.com/office/drawing/2014/main" id="{0DE0B65A-4839-40B2-BA92-1464FEADBA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800000">
              <a:off x="5463135" y="2432482"/>
              <a:ext cx="1242172" cy="729202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4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84" name="Freeform 6">
              <a:extLst>
                <a:ext uri="{FF2B5EF4-FFF2-40B4-BE49-F238E27FC236}">
                  <a16:creationId xmlns:a16="http://schemas.microsoft.com/office/drawing/2014/main" id="{842A0A68-39DD-4DA7-BAD5-63B9C13987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800000">
              <a:off x="5236793" y="2566400"/>
              <a:ext cx="611884" cy="1076550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4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85" name="Freeform 8">
              <a:extLst>
                <a:ext uri="{FF2B5EF4-FFF2-40B4-BE49-F238E27FC236}">
                  <a16:creationId xmlns:a16="http://schemas.microsoft.com/office/drawing/2014/main" id="{21A69E50-7E10-45C3-B4F2-19DBA7748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800000">
              <a:off x="5765469" y="2876944"/>
              <a:ext cx="630288" cy="1076550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40000"/>
                    <a:lumOff val="60000"/>
                    <a:alpha val="6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508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087" name="Oval 3086">
            <a:extLst>
              <a:ext uri="{FF2B5EF4-FFF2-40B4-BE49-F238E27FC236}">
                <a16:creationId xmlns:a16="http://schemas.microsoft.com/office/drawing/2014/main" id="{D166A8AB-8924-421C-BCED-B54DBC4054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77897" y="5497189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411DE32-4226-A252-B024-48B6BA66622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0863" y="2677306"/>
            <a:ext cx="3565525" cy="341551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Data Extraction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Pulling complex, non-contiguous patterns out of massive numerical grids.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Fancy Indexing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Using arrays of integers or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booleans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to "pick and choose" specific data points from a 2D or 3D space.</a:t>
            </a:r>
          </a:p>
        </p:txBody>
      </p:sp>
      <p:pic>
        <p:nvPicPr>
          <p:cNvPr id="3075" name="Picture 3" descr="Numpy Array Indexing &amp; Slicing. Already I have three posts about numpy… |  by Jahid Hasan | Medium">
            <a:extLst>
              <a:ext uri="{FF2B5EF4-FFF2-40B4-BE49-F238E27FC236}">
                <a16:creationId xmlns:a16="http://schemas.microsoft.com/office/drawing/2014/main" id="{44E076B3-8385-8F1F-3781-19713C3427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51257" y="549275"/>
            <a:ext cx="6489523" cy="5759451"/>
          </a:xfrm>
          <a:custGeom>
            <a:avLst/>
            <a:gdLst/>
            <a:ahLst/>
            <a:cxnLst/>
            <a:rect l="l" t="t" r="r" b="b"/>
            <a:pathLst>
              <a:path w="7090237" h="5759451">
                <a:moveTo>
                  <a:pt x="0" y="0"/>
                </a:moveTo>
                <a:lnTo>
                  <a:pt x="7090237" y="0"/>
                </a:lnTo>
                <a:lnTo>
                  <a:pt x="7090237" y="5759451"/>
                </a:lnTo>
                <a:lnTo>
                  <a:pt x="0" y="5759451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84415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9" name="Rectangle 4108">
            <a:extLst>
              <a:ext uri="{FF2B5EF4-FFF2-40B4-BE49-F238E27FC236}">
                <a16:creationId xmlns:a16="http://schemas.microsoft.com/office/drawing/2014/main" id="{A5931BE0-4B93-4D6C-878E-ACC59D6B4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468F98-30BA-0F47-DA28-ECCE8718A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421" y="4166886"/>
            <a:ext cx="4599004" cy="1904573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000" dirty="0"/>
              <a:t>Universal Functions (</a:t>
            </a:r>
            <a:r>
              <a:rPr lang="en-US" sz="4000" dirty="0" err="1"/>
              <a:t>ufuncs</a:t>
            </a:r>
            <a:r>
              <a:rPr lang="en-US" sz="4000" dirty="0"/>
              <a:t>) &amp; Simulations</a:t>
            </a:r>
          </a:p>
        </p:txBody>
      </p:sp>
      <p:pic>
        <p:nvPicPr>
          <p:cNvPr id="4099" name="Picture 3" descr="Comparing Native Python and NumPy Ufuncs in Real-world Tasks | Python in  Plain English">
            <a:extLst>
              <a:ext uri="{FF2B5EF4-FFF2-40B4-BE49-F238E27FC236}">
                <a16:creationId xmlns:a16="http://schemas.microsoft.com/office/drawing/2014/main" id="{7FE55E97-AC95-2DAD-AFAD-990A8FD024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2261" y="549275"/>
            <a:ext cx="11227477" cy="3227900"/>
          </a:xfrm>
          <a:custGeom>
            <a:avLst/>
            <a:gdLst/>
            <a:ahLst/>
            <a:cxnLst/>
            <a:rect l="l" t="t" r="r" b="b"/>
            <a:pathLst>
              <a:path w="12192000" h="3227900">
                <a:moveTo>
                  <a:pt x="0" y="0"/>
                </a:moveTo>
                <a:lnTo>
                  <a:pt x="12192000" y="0"/>
                </a:lnTo>
                <a:lnTo>
                  <a:pt x="12192000" y="3227900"/>
                </a:lnTo>
                <a:lnTo>
                  <a:pt x="0" y="322790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111" name="Group 4110">
            <a:extLst>
              <a:ext uri="{FF2B5EF4-FFF2-40B4-BE49-F238E27FC236}">
                <a16:creationId xmlns:a16="http://schemas.microsoft.com/office/drawing/2014/main" id="{30493E29-1143-4080-A31C-64E368320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50863" y="398538"/>
            <a:ext cx="631474" cy="667800"/>
            <a:chOff x="2994153" y="1378666"/>
            <a:chExt cx="631474" cy="667800"/>
          </a:xfrm>
        </p:grpSpPr>
        <p:sp>
          <p:nvSpPr>
            <p:cNvPr id="4107" name="Freeform: Shape 4106">
              <a:extLst>
                <a:ext uri="{FF2B5EF4-FFF2-40B4-BE49-F238E27FC236}">
                  <a16:creationId xmlns:a16="http://schemas.microsoft.com/office/drawing/2014/main" id="{54F335CB-D905-4ACD-9B94-4BFC5E45C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108" name="Oval 4107">
              <a:extLst>
                <a:ext uri="{FF2B5EF4-FFF2-40B4-BE49-F238E27FC236}">
                  <a16:creationId xmlns:a16="http://schemas.microsoft.com/office/drawing/2014/main" id="{E30707A2-C7E1-4028-BD83-12C7212FF8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4110" name="Oval 4109">
            <a:extLst>
              <a:ext uri="{FF2B5EF4-FFF2-40B4-BE49-F238E27FC236}">
                <a16:creationId xmlns:a16="http://schemas.microsoft.com/office/drawing/2014/main" id="{D7AA753E-FFC2-4B5B-A791-BEC976053A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65888" y="3602837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154C493-EB2F-189F-236D-6026F94801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67325" y="4166886"/>
            <a:ext cx="6373813" cy="214183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ufuncs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Highly optimized mathematical functions (Sine, Log, Exponential) that operate on millions of points instantly.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Randomness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Generating "synthetic" or "fake" data for simulations and model testing.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Use Case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Simulating a year of crop yield or financial market fluctuations in milliseconds.</a:t>
            </a:r>
          </a:p>
        </p:txBody>
      </p:sp>
    </p:spTree>
    <p:extLst>
      <p:ext uri="{BB962C8B-B14F-4D97-AF65-F5344CB8AC3E}">
        <p14:creationId xmlns:p14="http://schemas.microsoft.com/office/powerpoint/2010/main" val="1696834549"/>
      </p:ext>
    </p:extLst>
  </p:cSld>
  <p:clrMapOvr>
    <a:masterClrMapping/>
  </p:clrMapOvr>
</p:sld>
</file>

<file path=ppt/theme/theme1.xml><?xml version="1.0" encoding="utf-8"?>
<a:theme xmlns:a="http://schemas.openxmlformats.org/drawingml/2006/main" name="3DFloatVTI">
  <a:themeElements>
    <a:clrScheme name="Float">
      <a:dk1>
        <a:sysClr val="windowText" lastClr="000000"/>
      </a:dk1>
      <a:lt1>
        <a:sysClr val="window" lastClr="FFFFFF"/>
      </a:lt1>
      <a:dk2>
        <a:srgbClr val="1B192E"/>
      </a:dk2>
      <a:lt2>
        <a:srgbClr val="EAE5EB"/>
      </a:lt2>
      <a:accent1>
        <a:srgbClr val="13BE89"/>
      </a:accent1>
      <a:accent2>
        <a:srgbClr val="12B1BF"/>
      </a:accent2>
      <a:accent3>
        <a:srgbClr val="D40AA8"/>
      </a:accent3>
      <a:accent4>
        <a:srgbClr val="B86E62"/>
      </a:accent4>
      <a:accent5>
        <a:srgbClr val="A3A3C1"/>
      </a:accent5>
      <a:accent6>
        <a:srgbClr val="37335B"/>
      </a:accent6>
      <a:hlink>
        <a:srgbClr val="0066FF"/>
      </a:hlink>
      <a:folHlink>
        <a:srgbClr val="666699"/>
      </a:folHlink>
    </a:clrScheme>
    <a:fontScheme name="Float">
      <a:majorFont>
        <a:latin typeface="Sitka Heading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3DFloatVTI" id="{F59BA300-ED19-4B39-9AE3-7882B1DE8B78}" vid="{0FEC63E3-719F-4F50-9F1E-5B8BAF39109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218</Words>
  <Application>Microsoft Office PowerPoint</Application>
  <PresentationFormat>Widescreen</PresentationFormat>
  <Paragraphs>14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Sitka Heading</vt:lpstr>
      <vt:lpstr>Source Sans Pro</vt:lpstr>
      <vt:lpstr>3DFloatVTI</vt:lpstr>
      <vt:lpstr>The End of the for Loop</vt:lpstr>
      <vt:lpstr>Broadcasting – Math Between Different Shapes</vt:lpstr>
      <vt:lpstr>Slicing and Fancy Indexing</vt:lpstr>
      <vt:lpstr>Universal Functions (ufuncs) &amp; Simulations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zaryab ahmad khan</dc:creator>
  <cp:lastModifiedBy>zaryab ahmad khan</cp:lastModifiedBy>
  <cp:revision>4</cp:revision>
  <dcterms:created xsi:type="dcterms:W3CDTF">2026-04-27T10:00:26Z</dcterms:created>
  <dcterms:modified xsi:type="dcterms:W3CDTF">2026-04-27T10:11:46Z</dcterms:modified>
</cp:coreProperties>
</file>