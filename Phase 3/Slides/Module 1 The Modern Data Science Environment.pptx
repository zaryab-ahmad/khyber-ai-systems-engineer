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4" d="100"/>
          <a:sy n="44" d="100"/>
        </p:scale>
        <p:origin x="62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548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189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380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925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631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99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862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4851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9104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722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894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4/27/2026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69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44" r:id="rId6"/>
    <p:sldLayoutId id="2147483740" r:id="rId7"/>
    <p:sldLayoutId id="2147483741" r:id="rId8"/>
    <p:sldLayoutId id="2147483742" r:id="rId9"/>
    <p:sldLayoutId id="2147483743" r:id="rId10"/>
    <p:sldLayoutId id="214748374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4" name="Rectangle 1033">
            <a:extLst>
              <a:ext uri="{FF2B5EF4-FFF2-40B4-BE49-F238E27FC236}">
                <a16:creationId xmlns:a16="http://schemas.microsoft.com/office/drawing/2014/main" id="{4AB109E1-45E3-4986-9663-C3EAAC04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EDEE9D42-BBE7-4427-9BC3-971CE96F1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6441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5EC87-0C6E-F784-3382-D7F8FA622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1" y="1240403"/>
            <a:ext cx="5943600" cy="2941983"/>
          </a:xfrm>
        </p:spPr>
        <p:txBody>
          <a:bodyPr anchor="ctr">
            <a:normAutofit/>
          </a:bodyPr>
          <a:lstStyle/>
          <a:p>
            <a:pPr algn="l"/>
            <a:r>
              <a:rPr lang="en-US" sz="8100"/>
              <a:t>Beyond the Basic Script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C7BF9C-D49B-760A-A9C9-4D2805843D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60120" y="4685803"/>
            <a:ext cx="10268712" cy="19904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Ecosystem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Moving from standalone Python scripts to integrated environments like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VS Code Notebooks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Google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171450" marR="0" lvl="0" indent="-17145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it matters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These tools allow for "Literate Programming"—mixing live code, equations, and rich text in one place.</a:t>
            </a:r>
          </a:p>
          <a:p>
            <a:pPr marL="171450" marR="0" lvl="0" indent="-171450" algn="l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Cloud vs. Local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Colab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for free GPU/TPU access versus VS Code for heavy local development.</a:t>
            </a:r>
          </a:p>
        </p:txBody>
      </p:sp>
      <p:pic>
        <p:nvPicPr>
          <p:cNvPr id="1029" name="Picture 5" descr="Working with Jupyter Lab/Notebook using VS Code Remote SSH - Department of  Geosciences">
            <a:extLst>
              <a:ext uri="{FF2B5EF4-FFF2-40B4-BE49-F238E27FC236}">
                <a16:creationId xmlns:a16="http://schemas.microsoft.com/office/drawing/2014/main" id="{7A8777C7-0D83-9214-BE13-910E56AB6F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769" y="1679560"/>
            <a:ext cx="3743325" cy="1885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755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C53D75-1962-587F-09C3-CC9E08D05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5600"/>
              <a:t>The Version Control Crisis (</a:t>
            </a:r>
            <a:r>
              <a:rPr lang="en-US" sz="5600" err="1"/>
              <a:t>nbdime</a:t>
            </a:r>
            <a:r>
              <a:rPr lang="en-US" sz="5600"/>
              <a:t>)</a:t>
            </a:r>
          </a:p>
        </p:txBody>
      </p:sp>
      <p:pic>
        <p:nvPicPr>
          <p:cNvPr id="2051" name="Picture 3" descr="Version Control with Python Jupyter Notebook | Medium">
            <a:extLst>
              <a:ext uri="{FF2B5EF4-FFF2-40B4-BE49-F238E27FC236}">
                <a16:creationId xmlns:a16="http://schemas.microsoft.com/office/drawing/2014/main" id="{D9BE0343-2C17-64B3-0A56-E24A1877F7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58597" y="3450476"/>
            <a:ext cx="3694176" cy="2077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7BF5C0E-3DCC-CB0C-C274-7FC1282F8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96240" y="2835776"/>
            <a:ext cx="5932591" cy="327418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342900" marR="0" lvl="0" indent="-34290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Notebooks are stored as complex JSON files. Standard Git "diffs" are unreadable, showing metadata changes instead of code changes.</a:t>
            </a:r>
          </a:p>
          <a:p>
            <a:pPr marL="342900" marR="0" lvl="0" indent="-34290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nbdime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(Notebook Diffing and Merging).</a:t>
            </a:r>
          </a:p>
          <a:p>
            <a:pPr marL="342900" marR="0" lvl="0" indent="-34290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Capability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It allows you to see exactly which code cell or image changed without the "JSON noise".</a:t>
            </a:r>
          </a:p>
        </p:txBody>
      </p:sp>
    </p:spTree>
    <p:extLst>
      <p:ext uri="{BB962C8B-B14F-4D97-AF65-F5344CB8AC3E}">
        <p14:creationId xmlns:p14="http://schemas.microsoft.com/office/powerpoint/2010/main" val="1694304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F58FB36D-73B3-45EF-8CD4-221CCC8BE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2" name="Rectangle 3081">
            <a:extLst>
              <a:ext uri="{FF2B5EF4-FFF2-40B4-BE49-F238E27FC236}">
                <a16:creationId xmlns:a16="http://schemas.microsoft.com/office/drawing/2014/main" id="{4D7835D7-DF12-420F-843A-1C5083D2B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DFA932-9DC4-D323-765D-FBBB4C228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sz="5600"/>
              <a:t>Bridging the "Technical Gap" with Markdown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80564E7-56DD-EBFA-7EF5-47F16DB39B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7800" y="2847326"/>
            <a:ext cx="5807232" cy="34913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342900" marR="0" lvl="0" indent="-34290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Stakeholder Communication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Non-technical managers don't want to read code; they want to read insights.</a:t>
            </a:r>
          </a:p>
          <a:p>
            <a:pPr marL="342900" marR="0" lvl="0" indent="-34290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Markdown's Role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Using headers, bold text, and LaTeX to turn a technical notebook into a professional business report.</a:t>
            </a:r>
          </a:p>
          <a:p>
            <a:pPr marL="342900" marR="0" lvl="0" indent="-34290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Executive Summaries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Every professional notebook should start with a Markdown cell explaining the "Why" and the "Result".</a:t>
            </a:r>
          </a:p>
        </p:txBody>
      </p:sp>
      <p:pic>
        <p:nvPicPr>
          <p:cNvPr id="3075" name="Picture 3" descr="How to Write Markdown in Jupyter Notebooks | Edlitera">
            <a:extLst>
              <a:ext uri="{FF2B5EF4-FFF2-40B4-BE49-F238E27FC236}">
                <a16:creationId xmlns:a16="http://schemas.microsoft.com/office/drawing/2014/main" id="{FCACA887-3194-C7B5-AF30-742859CDF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75390" y="3012969"/>
            <a:ext cx="5124006" cy="2843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86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4" name="Rectangle 410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06" name="Rectangle 4105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47BCEE-5195-1DE2-BAC3-537D50FA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317499"/>
            <a:ext cx="4500737" cy="2095501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tx1"/>
                </a:solidFill>
              </a:rPr>
              <a:t>Kernel Management &amp; Reproducibility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4133DE-10E2-46CF-C097-2032B238CB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0438" y="2587625"/>
            <a:ext cx="4500737" cy="35941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"Kernel" Concept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The engine that executes your code.</a:t>
            </a:r>
          </a:p>
          <a:p>
            <a:pPr marL="285750" marR="0" lvl="0" indent="-28575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Version Control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Understanding how to switch between Python 3.8 and Python 3.11 inside the same interface to avoid library conflicts.</a:t>
            </a:r>
          </a:p>
          <a:p>
            <a:pPr marL="285750" marR="0" lvl="0" indent="-285750" defTabSz="914400" rtl="0" eaLnBrk="0" fontAlgn="base" latinLnBrk="0" hangingPunct="0">
              <a:lnSpc>
                <a:spcPct val="91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Environment Isolation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Ensuring that your "Agricultural" project doesn't break your "Healthcare" project by using separate kernels.</a:t>
            </a:r>
          </a:p>
        </p:txBody>
      </p:sp>
      <p:pic>
        <p:nvPicPr>
          <p:cNvPr id="4099" name="Picture 3" descr="Managing Jupyter Kernels in JupyterLab – Posit Workbench Documentation  Release 2026.04.0">
            <a:extLst>
              <a:ext uri="{FF2B5EF4-FFF2-40B4-BE49-F238E27FC236}">
                <a16:creationId xmlns:a16="http://schemas.microsoft.com/office/drawing/2014/main" id="{2AA4E33F-868D-52CC-154B-EB99B4068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94" r="22048" b="1"/>
          <a:stretch>
            <a:fillRect/>
          </a:stretch>
        </p:blipFill>
        <p:spPr bwMode="auto">
          <a:xfrm>
            <a:off x="6094474" y="10"/>
            <a:ext cx="6097526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48225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267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Franklin Gothic Demi Cond</vt:lpstr>
      <vt:lpstr>Franklin Gothic Medium</vt:lpstr>
      <vt:lpstr>Wingdings</vt:lpstr>
      <vt:lpstr>JuxtaposeVTI</vt:lpstr>
      <vt:lpstr>Beyond the Basic Script</vt:lpstr>
      <vt:lpstr>The Version Control Crisis (nbdime)</vt:lpstr>
      <vt:lpstr>Bridging the "Technical Gap" with Markdown</vt:lpstr>
      <vt:lpstr>Kernel Management &amp; Reproducibility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2026-04-27T09:40:01Z</dcterms:created>
  <dcterms:modified xsi:type="dcterms:W3CDTF">2026-04-27T09:56:06Z</dcterms:modified>
</cp:coreProperties>
</file>