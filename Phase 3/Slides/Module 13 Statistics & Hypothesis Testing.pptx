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38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11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645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13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149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919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790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41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7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7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20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ED579-F8E8-B097-CD43-BF1F626766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4922332" cy="1600712"/>
          </a:xfrm>
        </p:spPr>
        <p:txBody>
          <a:bodyPr anchor="t">
            <a:normAutofit/>
          </a:bodyPr>
          <a:lstStyle/>
          <a:p>
            <a:r>
              <a:rPr lang="en-US" sz="4800" dirty="0">
                <a:solidFill>
                  <a:schemeClr val="tx2"/>
                </a:solidFill>
              </a:rPr>
              <a:t>The Shape of Probability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664DF8-BD7D-F557-1807-83EEEA0D384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7870" y="2688771"/>
            <a:ext cx="4696387" cy="342799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Normal Distribution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The "Bell Curve." Most natural data (like human heights or exam scores) clusters around the middle.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Binomial Distribution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Used for "Yes/No" outcomes (e.g., Did a patient recover? Did a seed sprout?). It models the number of successes in a fixed number of trials.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Poisson Distribution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Models the frequency of events over a fixed period of time or space (e.g., How many cars pass 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Charsadda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checkpoint per hour?).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7B9F94-50BB-4E0E-8FCE-CD61BB1A7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202" y="2166257"/>
            <a:ext cx="6230590" cy="325548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288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A61AC8-319F-E5D1-F534-6305E20FC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The P-Value – The "Luck" Detector</a:t>
            </a:r>
          </a:p>
        </p:txBody>
      </p:sp>
      <p:sp>
        <p:nvSpPr>
          <p:cNvPr id="2058" name="Rectangle 2057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0" name="Rectangle 2059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2051" name="Picture 3" descr="What is P value | P value Examples Statistics, Data Science">
            <a:extLst>
              <a:ext uri="{FF2B5EF4-FFF2-40B4-BE49-F238E27FC236}">
                <a16:creationId xmlns:a16="http://schemas.microsoft.com/office/drawing/2014/main" id="{E7F323FB-AE51-FEAB-B2FA-9AD60487D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2429691"/>
            <a:ext cx="5187170" cy="391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B470D79-6B13-A897-1158-A214EC4BA0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99796" y="1088136"/>
            <a:ext cx="4867948" cy="5257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The Null Hypothesis (H_0)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 The assumption that "Nothing happened" or "The difference is just luck."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Alpha Level (alpha)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 Usually set at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0.05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. This is our "Doubt Threshold."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The P-Value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 The probability that we would see these results if the Null Hypothesis were true.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The Rule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 If P &lt; 0.05, we "Reject the Null." We are 95% confident the result is a real trend, not a mistake.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260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295A1A-77AB-4405-75E1-C05AED77A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A/B Testing – Experimental Design</a:t>
            </a:r>
            <a:endParaRPr lang="en-US"/>
          </a:p>
        </p:txBody>
      </p:sp>
      <p:sp>
        <p:nvSpPr>
          <p:cNvPr id="3082" name="Rectangle 308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4" name="Rectangle 308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3075" name="Picture 3" descr="A/B testing workflow, AI generated">
            <a:extLst>
              <a:ext uri="{FF2B5EF4-FFF2-40B4-BE49-F238E27FC236}">
                <a16:creationId xmlns:a16="http://schemas.microsoft.com/office/drawing/2014/main" id="{7EB6BE21-02B9-588A-2FAB-8512C76E9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2545437"/>
            <a:ext cx="6281928" cy="3800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78D3C22-9BE0-93F0-FD72-BE08B4568D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99514" y="1088136"/>
            <a:ext cx="4668230" cy="5257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Setup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Splitting a population into two groups: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Control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(A)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Treatment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(B).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Change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Group B gets a "treatment" (a new medicine, a different fertilizer, or a new website button).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Measurement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We use statistical tests to see if the difference in performance between A and B is large enough to be meaningful.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Industry Standard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This is how companies like Facebook, Google, and Amazon make every single design decision.</a:t>
            </a:r>
          </a:p>
        </p:txBody>
      </p:sp>
    </p:spTree>
    <p:extLst>
      <p:ext uri="{BB962C8B-B14F-4D97-AF65-F5344CB8AC3E}">
        <p14:creationId xmlns:p14="http://schemas.microsoft.com/office/powerpoint/2010/main" val="403671104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290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Bierstadt</vt:lpstr>
      <vt:lpstr>Google Sans Text</vt:lpstr>
      <vt:lpstr>GestaltVTI</vt:lpstr>
      <vt:lpstr>The Shape of Probability</vt:lpstr>
      <vt:lpstr>The P-Value – The "Luck" Detector</vt:lpstr>
      <vt:lpstr>A/B Testing – Experimental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5</cp:revision>
  <dcterms:created xsi:type="dcterms:W3CDTF">2026-04-28T09:23:44Z</dcterms:created>
  <dcterms:modified xsi:type="dcterms:W3CDTF">2026-04-28T09:30:40Z</dcterms:modified>
</cp:coreProperties>
</file>