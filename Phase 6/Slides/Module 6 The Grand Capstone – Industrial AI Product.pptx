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97C8DB-F6F4-48FC-A28D-BB88203176C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D5BEE58-460E-4522-A47D-157460FFAD77}">
      <dgm:prSet/>
      <dgm:spPr/>
      <dgm:t>
        <a:bodyPr/>
        <a:lstStyle/>
        <a:p>
          <a:r>
            <a:rPr lang="en-US" b="1" i="0" baseline="0"/>
            <a:t>Autonomous Medical Research Pipeline:</a:t>
          </a:r>
          <a:r>
            <a:rPr lang="en-US" b="0" i="0" baseline="0"/>
            <a:t> An agentic team that retrieves patient history via RAG, searches latest medical literature, and drafts a clinical summary.</a:t>
          </a:r>
          <a:endParaRPr lang="en-US"/>
        </a:p>
      </dgm:t>
    </dgm:pt>
    <dgm:pt modelId="{A4BA58E1-CC58-4DBC-AC2F-1277B927AC05}" type="parTrans" cxnId="{8A7CEF29-DF30-43CD-96F3-1CBED6C977E5}">
      <dgm:prSet/>
      <dgm:spPr/>
      <dgm:t>
        <a:bodyPr/>
        <a:lstStyle/>
        <a:p>
          <a:endParaRPr lang="en-US"/>
        </a:p>
      </dgm:t>
    </dgm:pt>
    <dgm:pt modelId="{979CFD04-33BC-49BF-8237-FFD92EDEC179}" type="sibTrans" cxnId="{8A7CEF29-DF30-43CD-96F3-1CBED6C977E5}">
      <dgm:prSet/>
      <dgm:spPr/>
      <dgm:t>
        <a:bodyPr/>
        <a:lstStyle/>
        <a:p>
          <a:endParaRPr lang="en-US"/>
        </a:p>
      </dgm:t>
    </dgm:pt>
    <dgm:pt modelId="{1C82DAF5-DAC9-4D4F-9C99-E21D5809203D}">
      <dgm:prSet/>
      <dgm:spPr/>
      <dgm:t>
        <a:bodyPr/>
        <a:lstStyle/>
        <a:p>
          <a:r>
            <a:rPr lang="en-US" b="1" i="0" baseline="0"/>
            <a:t>Industrial IoT Failure Predictor:</a:t>
          </a:r>
          <a:r>
            <a:rPr lang="en-US" b="0" i="0" baseline="0"/>
            <a:t> A system that monitors sensor data (Tools), analyzes patterns (Agents), and generates maintenance alerts through an API.</a:t>
          </a:r>
          <a:endParaRPr lang="en-US"/>
        </a:p>
      </dgm:t>
    </dgm:pt>
    <dgm:pt modelId="{C4CA0009-2891-45DA-95FB-13DD1CDD87B1}" type="parTrans" cxnId="{F9860B6C-4AB8-4122-9342-23F7A53E50C5}">
      <dgm:prSet/>
      <dgm:spPr/>
      <dgm:t>
        <a:bodyPr/>
        <a:lstStyle/>
        <a:p>
          <a:endParaRPr lang="en-US"/>
        </a:p>
      </dgm:t>
    </dgm:pt>
    <dgm:pt modelId="{796D5E17-5A60-45D1-90AB-97D0F1A5FDC4}" type="sibTrans" cxnId="{F9860B6C-4AB8-4122-9342-23F7A53E50C5}">
      <dgm:prSet/>
      <dgm:spPr/>
      <dgm:t>
        <a:bodyPr/>
        <a:lstStyle/>
        <a:p>
          <a:endParaRPr lang="en-US"/>
        </a:p>
      </dgm:t>
    </dgm:pt>
    <dgm:pt modelId="{0AE0AF2F-329A-4801-A51F-884E3288C88F}">
      <dgm:prSet/>
      <dgm:spPr/>
      <dgm:t>
        <a:bodyPr/>
        <a:lstStyle/>
        <a:p>
          <a:r>
            <a:rPr lang="en-US" b="1" i="0" baseline="0"/>
            <a:t>Wildcard – Automated Regulatory Compliance Agent:</a:t>
          </a:r>
          <a:r>
            <a:rPr lang="en-US" b="0" i="0" baseline="0"/>
            <a:t> An agent that monitors local legal updates and automatically checks if a company's internal PDFs (Memory Vault) are still compliant.</a:t>
          </a:r>
          <a:endParaRPr lang="en-US"/>
        </a:p>
      </dgm:t>
    </dgm:pt>
    <dgm:pt modelId="{5B7FC121-CAEB-436B-95DD-C1DFD84E1D05}" type="parTrans" cxnId="{EF7D9731-EF70-4837-A7BA-9840BEC9DFA9}">
      <dgm:prSet/>
      <dgm:spPr/>
      <dgm:t>
        <a:bodyPr/>
        <a:lstStyle/>
        <a:p>
          <a:endParaRPr lang="en-US"/>
        </a:p>
      </dgm:t>
    </dgm:pt>
    <dgm:pt modelId="{589804D8-3549-4831-9878-3253B344729F}" type="sibTrans" cxnId="{EF7D9731-EF70-4837-A7BA-9840BEC9DFA9}">
      <dgm:prSet/>
      <dgm:spPr/>
      <dgm:t>
        <a:bodyPr/>
        <a:lstStyle/>
        <a:p>
          <a:endParaRPr lang="en-US"/>
        </a:p>
      </dgm:t>
    </dgm:pt>
    <dgm:pt modelId="{FFAFEC80-804A-48AB-A3A0-A4F27577BAC5}" type="pres">
      <dgm:prSet presAssocID="{5D97C8DB-F6F4-48FC-A28D-BB88203176C1}" presName="linear" presStyleCnt="0">
        <dgm:presLayoutVars>
          <dgm:animLvl val="lvl"/>
          <dgm:resizeHandles val="exact"/>
        </dgm:presLayoutVars>
      </dgm:prSet>
      <dgm:spPr/>
    </dgm:pt>
    <dgm:pt modelId="{4604790E-4A3D-4A0B-9555-3A44B75D8297}" type="pres">
      <dgm:prSet presAssocID="{AD5BEE58-460E-4522-A47D-157460FFAD7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AF47430-62C3-4703-9D48-BC1BDA2A29F2}" type="pres">
      <dgm:prSet presAssocID="{979CFD04-33BC-49BF-8237-FFD92EDEC179}" presName="spacer" presStyleCnt="0"/>
      <dgm:spPr/>
    </dgm:pt>
    <dgm:pt modelId="{31702FCF-FCD6-43E0-BD16-182BA7E1B01B}" type="pres">
      <dgm:prSet presAssocID="{1C82DAF5-DAC9-4D4F-9C99-E21D5809203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D0CF833-6120-49C4-B9C8-EF1F891AB7EC}" type="pres">
      <dgm:prSet presAssocID="{796D5E17-5A60-45D1-90AB-97D0F1A5FDC4}" presName="spacer" presStyleCnt="0"/>
      <dgm:spPr/>
    </dgm:pt>
    <dgm:pt modelId="{8FCE8D78-8458-4E0E-8E8C-1935D7FFACA7}" type="pres">
      <dgm:prSet presAssocID="{0AE0AF2F-329A-4801-A51F-884E3288C88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A7CEF29-DF30-43CD-96F3-1CBED6C977E5}" srcId="{5D97C8DB-F6F4-48FC-A28D-BB88203176C1}" destId="{AD5BEE58-460E-4522-A47D-157460FFAD77}" srcOrd="0" destOrd="0" parTransId="{A4BA58E1-CC58-4DBC-AC2F-1277B927AC05}" sibTransId="{979CFD04-33BC-49BF-8237-FFD92EDEC179}"/>
    <dgm:cxn modelId="{1644652E-2AFC-4CC6-993F-44927A8C66A3}" type="presOf" srcId="{1C82DAF5-DAC9-4D4F-9C99-E21D5809203D}" destId="{31702FCF-FCD6-43E0-BD16-182BA7E1B01B}" srcOrd="0" destOrd="0" presId="urn:microsoft.com/office/officeart/2005/8/layout/vList2"/>
    <dgm:cxn modelId="{EF7D9731-EF70-4837-A7BA-9840BEC9DFA9}" srcId="{5D97C8DB-F6F4-48FC-A28D-BB88203176C1}" destId="{0AE0AF2F-329A-4801-A51F-884E3288C88F}" srcOrd="2" destOrd="0" parTransId="{5B7FC121-CAEB-436B-95DD-C1DFD84E1D05}" sibTransId="{589804D8-3549-4831-9878-3253B344729F}"/>
    <dgm:cxn modelId="{C1CABC66-860E-4811-A577-03F5AE6CCCB3}" type="presOf" srcId="{0AE0AF2F-329A-4801-A51F-884E3288C88F}" destId="{8FCE8D78-8458-4E0E-8E8C-1935D7FFACA7}" srcOrd="0" destOrd="0" presId="urn:microsoft.com/office/officeart/2005/8/layout/vList2"/>
    <dgm:cxn modelId="{F9860B6C-4AB8-4122-9342-23F7A53E50C5}" srcId="{5D97C8DB-F6F4-48FC-A28D-BB88203176C1}" destId="{1C82DAF5-DAC9-4D4F-9C99-E21D5809203D}" srcOrd="1" destOrd="0" parTransId="{C4CA0009-2891-45DA-95FB-13DD1CDD87B1}" sibTransId="{796D5E17-5A60-45D1-90AB-97D0F1A5FDC4}"/>
    <dgm:cxn modelId="{DB0815A2-A18C-4776-8269-FD902E1D7A69}" type="presOf" srcId="{5D97C8DB-F6F4-48FC-A28D-BB88203176C1}" destId="{FFAFEC80-804A-48AB-A3A0-A4F27577BAC5}" srcOrd="0" destOrd="0" presId="urn:microsoft.com/office/officeart/2005/8/layout/vList2"/>
    <dgm:cxn modelId="{CA7BEDFE-D4F7-4FC5-88B8-5E84B7A92727}" type="presOf" srcId="{AD5BEE58-460E-4522-A47D-157460FFAD77}" destId="{4604790E-4A3D-4A0B-9555-3A44B75D8297}" srcOrd="0" destOrd="0" presId="urn:microsoft.com/office/officeart/2005/8/layout/vList2"/>
    <dgm:cxn modelId="{20D928AE-CE6A-4368-B776-E1DDAA33746F}" type="presParOf" srcId="{FFAFEC80-804A-48AB-A3A0-A4F27577BAC5}" destId="{4604790E-4A3D-4A0B-9555-3A44B75D8297}" srcOrd="0" destOrd="0" presId="urn:microsoft.com/office/officeart/2005/8/layout/vList2"/>
    <dgm:cxn modelId="{D6F62B0F-16AC-4811-9FAB-7A34B90B0471}" type="presParOf" srcId="{FFAFEC80-804A-48AB-A3A0-A4F27577BAC5}" destId="{1AF47430-62C3-4703-9D48-BC1BDA2A29F2}" srcOrd="1" destOrd="0" presId="urn:microsoft.com/office/officeart/2005/8/layout/vList2"/>
    <dgm:cxn modelId="{AE90261B-54D5-4E2F-B70C-CA755E90AEF3}" type="presParOf" srcId="{FFAFEC80-804A-48AB-A3A0-A4F27577BAC5}" destId="{31702FCF-FCD6-43E0-BD16-182BA7E1B01B}" srcOrd="2" destOrd="0" presId="urn:microsoft.com/office/officeart/2005/8/layout/vList2"/>
    <dgm:cxn modelId="{9422A742-B360-481F-BE3D-AF763C3105BD}" type="presParOf" srcId="{FFAFEC80-804A-48AB-A3A0-A4F27577BAC5}" destId="{BD0CF833-6120-49C4-B9C8-EF1F891AB7EC}" srcOrd="3" destOrd="0" presId="urn:microsoft.com/office/officeart/2005/8/layout/vList2"/>
    <dgm:cxn modelId="{AD2C3760-0340-4CB7-8C71-7337017C5343}" type="presParOf" srcId="{FFAFEC80-804A-48AB-A3A0-A4F27577BAC5}" destId="{8FCE8D78-8458-4E0E-8E8C-1935D7FFACA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2FECEA-B842-4806-9432-DCA97A11B0D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3E859AA-EFD8-4DD0-ABF3-591F6123A7F2}">
      <dgm:prSet/>
      <dgm:spPr/>
      <dgm:t>
        <a:bodyPr/>
        <a:lstStyle/>
        <a:p>
          <a:r>
            <a:rPr lang="en-US" b="1" i="0" baseline="0"/>
            <a:t>Code Review:</a:t>
          </a:r>
          <a:r>
            <a:rPr lang="en-US" b="0" i="0" baseline="0"/>
            <a:t> A deep dive into your LangGraph state logic and error-handling protocols.</a:t>
          </a:r>
          <a:endParaRPr lang="en-US"/>
        </a:p>
      </dgm:t>
    </dgm:pt>
    <dgm:pt modelId="{37B56189-05CF-48ED-8020-4D69E0888D70}" type="parTrans" cxnId="{BEB034EC-C13A-4080-9F57-536BB7DA91A5}">
      <dgm:prSet/>
      <dgm:spPr/>
      <dgm:t>
        <a:bodyPr/>
        <a:lstStyle/>
        <a:p>
          <a:endParaRPr lang="en-US"/>
        </a:p>
      </dgm:t>
    </dgm:pt>
    <dgm:pt modelId="{77F1E1FE-6448-4BE3-8A62-A352C652EA17}" type="sibTrans" cxnId="{BEB034EC-C13A-4080-9F57-536BB7DA91A5}">
      <dgm:prSet/>
      <dgm:spPr/>
      <dgm:t>
        <a:bodyPr/>
        <a:lstStyle/>
        <a:p>
          <a:endParaRPr lang="en-US"/>
        </a:p>
      </dgm:t>
    </dgm:pt>
    <dgm:pt modelId="{70D9817E-3E22-451E-854C-9DBC0B2B9F01}">
      <dgm:prSet/>
      <dgm:spPr/>
      <dgm:t>
        <a:bodyPr/>
        <a:lstStyle/>
        <a:p>
          <a:r>
            <a:rPr lang="en-US" b="1" i="0" baseline="0"/>
            <a:t>Architecture Defense:</a:t>
          </a:r>
          <a:r>
            <a:rPr lang="en-US" b="0" i="0" baseline="0"/>
            <a:t> Justifying your choice of rerankers, tools, and orchestration patterns.</a:t>
          </a:r>
          <a:endParaRPr lang="en-US"/>
        </a:p>
      </dgm:t>
    </dgm:pt>
    <dgm:pt modelId="{22ED1939-BC0C-401C-A898-1A883ABA7138}" type="parTrans" cxnId="{878E2EB2-2BFE-4FBA-BA96-8B0478264922}">
      <dgm:prSet/>
      <dgm:spPr/>
      <dgm:t>
        <a:bodyPr/>
        <a:lstStyle/>
        <a:p>
          <a:endParaRPr lang="en-US"/>
        </a:p>
      </dgm:t>
    </dgm:pt>
    <dgm:pt modelId="{3B974EEA-8DCA-4AF0-9994-57CA343AAE6D}" type="sibTrans" cxnId="{878E2EB2-2BFE-4FBA-BA96-8B0478264922}">
      <dgm:prSet/>
      <dgm:spPr/>
      <dgm:t>
        <a:bodyPr/>
        <a:lstStyle/>
        <a:p>
          <a:endParaRPr lang="en-US"/>
        </a:p>
      </dgm:t>
    </dgm:pt>
    <dgm:pt modelId="{0E52BC92-7BFA-4C9B-903D-8A6603ED543A}">
      <dgm:prSet/>
      <dgm:spPr/>
      <dgm:t>
        <a:bodyPr/>
        <a:lstStyle/>
        <a:p>
          <a:r>
            <a:rPr lang="en-US" b="1" i="0" baseline="0"/>
            <a:t>Observability Check:</a:t>
          </a:r>
          <a:r>
            <a:rPr lang="en-US" b="0" i="0" baseline="0"/>
            <a:t> Proving the system is "traceable" and doesn't enter infinite loops in production.</a:t>
          </a:r>
          <a:endParaRPr lang="en-US"/>
        </a:p>
      </dgm:t>
    </dgm:pt>
    <dgm:pt modelId="{5CE47596-779F-4C9E-BB5E-ABDE99323D0B}" type="parTrans" cxnId="{26A4E3D7-1BA9-441B-AAA1-641D63ECC820}">
      <dgm:prSet/>
      <dgm:spPr/>
      <dgm:t>
        <a:bodyPr/>
        <a:lstStyle/>
        <a:p>
          <a:endParaRPr lang="en-US"/>
        </a:p>
      </dgm:t>
    </dgm:pt>
    <dgm:pt modelId="{53F58D73-39A1-4E19-A18E-0C09D7DB6DC9}" type="sibTrans" cxnId="{26A4E3D7-1BA9-441B-AAA1-641D63ECC820}">
      <dgm:prSet/>
      <dgm:spPr/>
      <dgm:t>
        <a:bodyPr/>
        <a:lstStyle/>
        <a:p>
          <a:endParaRPr lang="en-US"/>
        </a:p>
      </dgm:t>
    </dgm:pt>
    <dgm:pt modelId="{899BEEE7-1428-4B44-A807-FD64D2DA2AC1}" type="pres">
      <dgm:prSet presAssocID="{5C2FECEA-B842-4806-9432-DCA97A11B0DA}" presName="linear" presStyleCnt="0">
        <dgm:presLayoutVars>
          <dgm:animLvl val="lvl"/>
          <dgm:resizeHandles val="exact"/>
        </dgm:presLayoutVars>
      </dgm:prSet>
      <dgm:spPr/>
    </dgm:pt>
    <dgm:pt modelId="{D4739EB8-A86B-4D3D-BCA2-121A00454CF7}" type="pres">
      <dgm:prSet presAssocID="{C3E859AA-EFD8-4DD0-ABF3-591F6123A7F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4767134-B274-4775-9656-C103E27DC26B}" type="pres">
      <dgm:prSet presAssocID="{77F1E1FE-6448-4BE3-8A62-A352C652EA17}" presName="spacer" presStyleCnt="0"/>
      <dgm:spPr/>
    </dgm:pt>
    <dgm:pt modelId="{66B87078-443D-4951-A44C-E072F062121C}" type="pres">
      <dgm:prSet presAssocID="{70D9817E-3E22-451E-854C-9DBC0B2B9F0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E2DB649-269B-4BB1-91D9-EB8B8FE33B6F}" type="pres">
      <dgm:prSet presAssocID="{3B974EEA-8DCA-4AF0-9994-57CA343AAE6D}" presName="spacer" presStyleCnt="0"/>
      <dgm:spPr/>
    </dgm:pt>
    <dgm:pt modelId="{D2EE39C3-0AE2-4B56-9F83-E04F59694C70}" type="pres">
      <dgm:prSet presAssocID="{0E52BC92-7BFA-4C9B-903D-8A6603ED543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06EBA34-E01D-44A8-8A34-0B3A01C66E24}" type="presOf" srcId="{0E52BC92-7BFA-4C9B-903D-8A6603ED543A}" destId="{D2EE39C3-0AE2-4B56-9F83-E04F59694C70}" srcOrd="0" destOrd="0" presId="urn:microsoft.com/office/officeart/2005/8/layout/vList2"/>
    <dgm:cxn modelId="{00E987A8-BD4F-45CF-8D17-CB3D25C3C4C5}" type="presOf" srcId="{5C2FECEA-B842-4806-9432-DCA97A11B0DA}" destId="{899BEEE7-1428-4B44-A807-FD64D2DA2AC1}" srcOrd="0" destOrd="0" presId="urn:microsoft.com/office/officeart/2005/8/layout/vList2"/>
    <dgm:cxn modelId="{878E2EB2-2BFE-4FBA-BA96-8B0478264922}" srcId="{5C2FECEA-B842-4806-9432-DCA97A11B0DA}" destId="{70D9817E-3E22-451E-854C-9DBC0B2B9F01}" srcOrd="1" destOrd="0" parTransId="{22ED1939-BC0C-401C-A898-1A883ABA7138}" sibTransId="{3B974EEA-8DCA-4AF0-9994-57CA343AAE6D}"/>
    <dgm:cxn modelId="{ABB2EBB5-7EAE-451F-8824-1DBE050F88BA}" type="presOf" srcId="{C3E859AA-EFD8-4DD0-ABF3-591F6123A7F2}" destId="{D4739EB8-A86B-4D3D-BCA2-121A00454CF7}" srcOrd="0" destOrd="0" presId="urn:microsoft.com/office/officeart/2005/8/layout/vList2"/>
    <dgm:cxn modelId="{26A4E3D7-1BA9-441B-AAA1-641D63ECC820}" srcId="{5C2FECEA-B842-4806-9432-DCA97A11B0DA}" destId="{0E52BC92-7BFA-4C9B-903D-8A6603ED543A}" srcOrd="2" destOrd="0" parTransId="{5CE47596-779F-4C9E-BB5E-ABDE99323D0B}" sibTransId="{53F58D73-39A1-4E19-A18E-0C09D7DB6DC9}"/>
    <dgm:cxn modelId="{BEB034EC-C13A-4080-9F57-536BB7DA91A5}" srcId="{5C2FECEA-B842-4806-9432-DCA97A11B0DA}" destId="{C3E859AA-EFD8-4DD0-ABF3-591F6123A7F2}" srcOrd="0" destOrd="0" parTransId="{37B56189-05CF-48ED-8020-4D69E0888D70}" sibTransId="{77F1E1FE-6448-4BE3-8A62-A352C652EA17}"/>
    <dgm:cxn modelId="{0898B0EF-EE30-4788-9B20-3550C43582F0}" type="presOf" srcId="{70D9817E-3E22-451E-854C-9DBC0B2B9F01}" destId="{66B87078-443D-4951-A44C-E072F062121C}" srcOrd="0" destOrd="0" presId="urn:microsoft.com/office/officeart/2005/8/layout/vList2"/>
    <dgm:cxn modelId="{2B399394-E2C5-42D1-8391-88EE862C64FD}" type="presParOf" srcId="{899BEEE7-1428-4B44-A807-FD64D2DA2AC1}" destId="{D4739EB8-A86B-4D3D-BCA2-121A00454CF7}" srcOrd="0" destOrd="0" presId="urn:microsoft.com/office/officeart/2005/8/layout/vList2"/>
    <dgm:cxn modelId="{2D797157-BFFE-461D-B941-7DC6C69E74FC}" type="presParOf" srcId="{899BEEE7-1428-4B44-A807-FD64D2DA2AC1}" destId="{A4767134-B274-4775-9656-C103E27DC26B}" srcOrd="1" destOrd="0" presId="urn:microsoft.com/office/officeart/2005/8/layout/vList2"/>
    <dgm:cxn modelId="{F936E1A9-1F2C-41D5-BD3E-5AABBC6BA51C}" type="presParOf" srcId="{899BEEE7-1428-4B44-A807-FD64D2DA2AC1}" destId="{66B87078-443D-4951-A44C-E072F062121C}" srcOrd="2" destOrd="0" presId="urn:microsoft.com/office/officeart/2005/8/layout/vList2"/>
    <dgm:cxn modelId="{9548496C-6ADB-4193-A832-34AF1A04D6C0}" type="presParOf" srcId="{899BEEE7-1428-4B44-A807-FD64D2DA2AC1}" destId="{9E2DB649-269B-4BB1-91D9-EB8B8FE33B6F}" srcOrd="3" destOrd="0" presId="urn:microsoft.com/office/officeart/2005/8/layout/vList2"/>
    <dgm:cxn modelId="{87F09A8B-705D-4915-B66D-DEBADAB028E2}" type="presParOf" srcId="{899BEEE7-1428-4B44-A807-FD64D2DA2AC1}" destId="{D2EE39C3-0AE2-4B56-9F83-E04F59694C7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04790E-4A3D-4A0B-9555-3A44B75D8297}">
      <dsp:nvSpPr>
        <dsp:cNvPr id="0" name=""/>
        <dsp:cNvSpPr/>
      </dsp:nvSpPr>
      <dsp:spPr>
        <a:xfrm>
          <a:off x="0" y="36390"/>
          <a:ext cx="6900512" cy="17596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baseline="0"/>
            <a:t>Autonomous Medical Research Pipeline:</a:t>
          </a:r>
          <a:r>
            <a:rPr lang="en-US" sz="3200" b="0" i="0" kern="1200" baseline="0"/>
            <a:t> An agentic team that retrieves patient history via RAG, searches latest medical literature, and drafts a clinical summary.</a:t>
          </a:r>
          <a:endParaRPr lang="en-US" sz="3200" kern="1200"/>
        </a:p>
      </dsp:txBody>
      <dsp:txXfrm>
        <a:off x="85900" y="122290"/>
        <a:ext cx="6728712" cy="1587880"/>
      </dsp:txXfrm>
    </dsp:sp>
    <dsp:sp modelId="{31702FCF-FCD6-43E0-BD16-182BA7E1B01B}">
      <dsp:nvSpPr>
        <dsp:cNvPr id="0" name=""/>
        <dsp:cNvSpPr/>
      </dsp:nvSpPr>
      <dsp:spPr>
        <a:xfrm>
          <a:off x="0" y="1888230"/>
          <a:ext cx="6900512" cy="1759680"/>
        </a:xfrm>
        <a:prstGeom prst="roundRect">
          <a:avLst/>
        </a:prstGeom>
        <a:solidFill>
          <a:schemeClr val="accent5">
            <a:hueOff val="8704932"/>
            <a:satOff val="3846"/>
            <a:lumOff val="-42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baseline="0"/>
            <a:t>Industrial IoT Failure Predictor:</a:t>
          </a:r>
          <a:r>
            <a:rPr lang="en-US" sz="3200" b="0" i="0" kern="1200" baseline="0"/>
            <a:t> A system that monitors sensor data (Tools), analyzes patterns (Agents), and generates maintenance alerts through an API.</a:t>
          </a:r>
          <a:endParaRPr lang="en-US" sz="3200" kern="1200"/>
        </a:p>
      </dsp:txBody>
      <dsp:txXfrm>
        <a:off x="85900" y="1974130"/>
        <a:ext cx="6728712" cy="1587880"/>
      </dsp:txXfrm>
    </dsp:sp>
    <dsp:sp modelId="{8FCE8D78-8458-4E0E-8E8C-1935D7FFACA7}">
      <dsp:nvSpPr>
        <dsp:cNvPr id="0" name=""/>
        <dsp:cNvSpPr/>
      </dsp:nvSpPr>
      <dsp:spPr>
        <a:xfrm>
          <a:off x="0" y="3740070"/>
          <a:ext cx="6900512" cy="1759680"/>
        </a:xfrm>
        <a:prstGeom prst="roundRect">
          <a:avLst/>
        </a:prstGeom>
        <a:solidFill>
          <a:schemeClr val="accent5">
            <a:hueOff val="17409864"/>
            <a:satOff val="7692"/>
            <a:lumOff val="-843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baseline="0"/>
            <a:t>Wildcard – Automated Regulatory Compliance Agent:</a:t>
          </a:r>
          <a:r>
            <a:rPr lang="en-US" sz="3200" b="0" i="0" kern="1200" baseline="0"/>
            <a:t> An agent that monitors local legal updates and automatically checks if a company's internal PDFs (Memory Vault) are still compliant.</a:t>
          </a:r>
          <a:endParaRPr lang="en-US" sz="3200" kern="1200"/>
        </a:p>
      </dsp:txBody>
      <dsp:txXfrm>
        <a:off x="85900" y="3825970"/>
        <a:ext cx="6728712" cy="1587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739EB8-A86B-4D3D-BCA2-121A00454CF7}">
      <dsp:nvSpPr>
        <dsp:cNvPr id="0" name=""/>
        <dsp:cNvSpPr/>
      </dsp:nvSpPr>
      <dsp:spPr>
        <a:xfrm>
          <a:off x="0" y="203520"/>
          <a:ext cx="6900512" cy="16309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i="0" kern="1200" baseline="0"/>
            <a:t>Code Review:</a:t>
          </a:r>
          <a:r>
            <a:rPr lang="en-US" sz="4100" b="0" i="0" kern="1200" baseline="0"/>
            <a:t> A deep dive into your LangGraph state logic and error-handling protocols.</a:t>
          </a:r>
          <a:endParaRPr lang="en-US" sz="4100" kern="1200"/>
        </a:p>
      </dsp:txBody>
      <dsp:txXfrm>
        <a:off x="79618" y="283138"/>
        <a:ext cx="6741276" cy="1471744"/>
      </dsp:txXfrm>
    </dsp:sp>
    <dsp:sp modelId="{66B87078-443D-4951-A44C-E072F062121C}">
      <dsp:nvSpPr>
        <dsp:cNvPr id="0" name=""/>
        <dsp:cNvSpPr/>
      </dsp:nvSpPr>
      <dsp:spPr>
        <a:xfrm>
          <a:off x="0" y="1952580"/>
          <a:ext cx="6900512" cy="1630980"/>
        </a:xfrm>
        <a:prstGeom prst="roundRect">
          <a:avLst/>
        </a:prstGeom>
        <a:solidFill>
          <a:schemeClr val="accent2">
            <a:hueOff val="-1224775"/>
            <a:satOff val="-5657"/>
            <a:lumOff val="-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i="0" kern="1200" baseline="0"/>
            <a:t>Architecture Defense:</a:t>
          </a:r>
          <a:r>
            <a:rPr lang="en-US" sz="4100" b="0" i="0" kern="1200" baseline="0"/>
            <a:t> Justifying your choice of rerankers, tools, and orchestration patterns.</a:t>
          </a:r>
          <a:endParaRPr lang="en-US" sz="4100" kern="1200"/>
        </a:p>
      </dsp:txBody>
      <dsp:txXfrm>
        <a:off x="79618" y="2032198"/>
        <a:ext cx="6741276" cy="1471744"/>
      </dsp:txXfrm>
    </dsp:sp>
    <dsp:sp modelId="{D2EE39C3-0AE2-4B56-9F83-E04F59694C70}">
      <dsp:nvSpPr>
        <dsp:cNvPr id="0" name=""/>
        <dsp:cNvSpPr/>
      </dsp:nvSpPr>
      <dsp:spPr>
        <a:xfrm>
          <a:off x="0" y="3701640"/>
          <a:ext cx="6900512" cy="1630980"/>
        </a:xfrm>
        <a:prstGeom prst="roundRect">
          <a:avLst/>
        </a:prstGeom>
        <a:solidFill>
          <a:schemeClr val="accent2">
            <a:hueOff val="-2449550"/>
            <a:satOff val="-11314"/>
            <a:lumOff val="-23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i="0" kern="1200" baseline="0"/>
            <a:t>Observability Check:</a:t>
          </a:r>
          <a:r>
            <a:rPr lang="en-US" sz="4100" b="0" i="0" kern="1200" baseline="0"/>
            <a:t> Proving the system is "traceable" and doesn't enter infinite loops in production.</a:t>
          </a:r>
          <a:endParaRPr lang="en-US" sz="4100" kern="1200"/>
        </a:p>
      </dsp:txBody>
      <dsp:txXfrm>
        <a:off x="79618" y="3781258"/>
        <a:ext cx="6741276" cy="14717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8T06:44:51.2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83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941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189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377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746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811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22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85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64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22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38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58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678CC48C-9275-4EFA-9B84-8E818500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38A066-85F2-9F03-D78D-E36CEFD26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4372485"/>
            <a:ext cx="10908792" cy="1069848"/>
          </a:xfrm>
        </p:spPr>
        <p:txBody>
          <a:bodyPr anchor="ctr">
            <a:normAutofit/>
          </a:bodyPr>
          <a:lstStyle/>
          <a:p>
            <a:pPr algn="ctr"/>
            <a:r>
              <a:rPr lang="en-US" sz="5600" dirty="0"/>
              <a:t>The Grand Capstone Challenge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D7A4AD-A5B3-5421-6020-6DED03F7D9B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40080" y="5442333"/>
            <a:ext cx="10908792" cy="13059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Solve a high-stakes, real-world problem by building an end-to-end autonomous system.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Paradigm Shift: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Moving from "Experimental Code" to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Mission-Critical Product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that is scalable, observable, and fully containerized.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Framework: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Leveraging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LangGraph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the core orchestration, as it provides the state management required for complex medical or industrial pipelines.</a:t>
            </a:r>
          </a:p>
        </p:txBody>
      </p:sp>
      <p:pic>
        <p:nvPicPr>
          <p:cNvPr id="1027" name="Picture 3" descr="5 Production Scaling Challenges for Agentic AI in 2026 -  MachineLearningMastery.com">
            <a:extLst>
              <a:ext uri="{FF2B5EF4-FFF2-40B4-BE49-F238E27FC236}">
                <a16:creationId xmlns:a16="http://schemas.microsoft.com/office/drawing/2014/main" id="{55806A36-2BD8-7214-D300-C40A184CE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253"/>
          <a:stretch>
            <a:fillRect/>
          </a:stretch>
        </p:blipFill>
        <p:spPr bwMode="auto">
          <a:xfrm>
            <a:off x="20" y="10"/>
            <a:ext cx="12191979" cy="4196972"/>
          </a:xfrm>
          <a:custGeom>
            <a:avLst/>
            <a:gdLst/>
            <a:ahLst/>
            <a:cxnLst/>
            <a:rect l="l" t="t" r="r" b="b"/>
            <a:pathLst>
              <a:path w="12191999" h="4196982">
                <a:moveTo>
                  <a:pt x="0" y="0"/>
                </a:moveTo>
                <a:lnTo>
                  <a:pt x="12191999" y="0"/>
                </a:lnTo>
                <a:lnTo>
                  <a:pt x="12191999" y="4170459"/>
                </a:lnTo>
                <a:lnTo>
                  <a:pt x="11986461" y="4175111"/>
                </a:lnTo>
                <a:cubicBezTo>
                  <a:pt x="11912297" y="4174136"/>
                  <a:pt x="11838168" y="4170508"/>
                  <a:pt x="11764214" y="4164231"/>
                </a:cubicBezTo>
                <a:cubicBezTo>
                  <a:pt x="11656850" y="4156227"/>
                  <a:pt x="11548596" y="4145173"/>
                  <a:pt x="11441995" y="4165502"/>
                </a:cubicBezTo>
                <a:cubicBezTo>
                  <a:pt x="11324975" y="4187991"/>
                  <a:pt x="11208081" y="4188118"/>
                  <a:pt x="11090044" y="4182401"/>
                </a:cubicBezTo>
                <a:cubicBezTo>
                  <a:pt x="10989160" y="4177573"/>
                  <a:pt x="10888657" y="4152161"/>
                  <a:pt x="10787011" y="4178970"/>
                </a:cubicBezTo>
                <a:cubicBezTo>
                  <a:pt x="10776897" y="4180444"/>
                  <a:pt x="10766592" y="4180012"/>
                  <a:pt x="10756643" y="4177700"/>
                </a:cubicBezTo>
                <a:cubicBezTo>
                  <a:pt x="10645468" y="4162326"/>
                  <a:pt x="10533530" y="4174904"/>
                  <a:pt x="10421973" y="4170584"/>
                </a:cubicBezTo>
                <a:cubicBezTo>
                  <a:pt x="10370515" y="4168551"/>
                  <a:pt x="10318040" y="4169695"/>
                  <a:pt x="10267216" y="4164231"/>
                </a:cubicBezTo>
                <a:cubicBezTo>
                  <a:pt x="10150577" y="4151780"/>
                  <a:pt x="10034192" y="4145173"/>
                  <a:pt x="9918824" y="4174523"/>
                </a:cubicBezTo>
                <a:cubicBezTo>
                  <a:pt x="9885153" y="4182439"/>
                  <a:pt x="9850745" y="4186695"/>
                  <a:pt x="9816160" y="4187229"/>
                </a:cubicBezTo>
                <a:cubicBezTo>
                  <a:pt x="9703206" y="4191295"/>
                  <a:pt x="9590632" y="4183544"/>
                  <a:pt x="9478059" y="4177191"/>
                </a:cubicBezTo>
                <a:cubicBezTo>
                  <a:pt x="9399918" y="4172744"/>
                  <a:pt x="9321904" y="4163088"/>
                  <a:pt x="9243637" y="4171220"/>
                </a:cubicBezTo>
                <a:cubicBezTo>
                  <a:pt x="9198150" y="4175921"/>
                  <a:pt x="9152282" y="4175921"/>
                  <a:pt x="9106795" y="4171220"/>
                </a:cubicBezTo>
                <a:cubicBezTo>
                  <a:pt x="9022962" y="4161398"/>
                  <a:pt x="8938380" y="4159568"/>
                  <a:pt x="8854204" y="4165756"/>
                </a:cubicBezTo>
                <a:cubicBezTo>
                  <a:pt x="8728543" y="4176556"/>
                  <a:pt x="8603010" y="4185577"/>
                  <a:pt x="8476969" y="4168424"/>
                </a:cubicBezTo>
                <a:cubicBezTo>
                  <a:pt x="8405486" y="4157192"/>
                  <a:pt x="8332808" y="4155871"/>
                  <a:pt x="8260970" y="4164486"/>
                </a:cubicBezTo>
                <a:cubicBezTo>
                  <a:pt x="8089823" y="4188500"/>
                  <a:pt x="7918295" y="4180749"/>
                  <a:pt x="7746767" y="4170839"/>
                </a:cubicBezTo>
                <a:cubicBezTo>
                  <a:pt x="7632160" y="4164104"/>
                  <a:pt x="7517046" y="4151780"/>
                  <a:pt x="7402693" y="4168043"/>
                </a:cubicBezTo>
                <a:cubicBezTo>
                  <a:pt x="7256831" y="4188372"/>
                  <a:pt x="7110841" y="4181638"/>
                  <a:pt x="6964597" y="4175667"/>
                </a:cubicBezTo>
                <a:cubicBezTo>
                  <a:pt x="6857233" y="4171220"/>
                  <a:pt x="6749742" y="4157751"/>
                  <a:pt x="6642124" y="4174396"/>
                </a:cubicBezTo>
                <a:cubicBezTo>
                  <a:pt x="6631045" y="4175908"/>
                  <a:pt x="6619775" y="4174777"/>
                  <a:pt x="6609216" y="4171093"/>
                </a:cubicBezTo>
                <a:cubicBezTo>
                  <a:pt x="6568379" y="4157650"/>
                  <a:pt x="6524595" y="4155846"/>
                  <a:pt x="6482793" y="4165883"/>
                </a:cubicBezTo>
                <a:cubicBezTo>
                  <a:pt x="6405669" y="4182782"/>
                  <a:pt x="6328672" y="4190151"/>
                  <a:pt x="6250150" y="4174777"/>
                </a:cubicBezTo>
                <a:cubicBezTo>
                  <a:pt x="6217254" y="4167891"/>
                  <a:pt x="6183521" y="4165883"/>
                  <a:pt x="6150028" y="4168806"/>
                </a:cubicBezTo>
                <a:cubicBezTo>
                  <a:pt x="6020175" y="4181766"/>
                  <a:pt x="5890068" y="4176683"/>
                  <a:pt x="5760087" y="4174142"/>
                </a:cubicBezTo>
                <a:cubicBezTo>
                  <a:pt x="5521345" y="4169695"/>
                  <a:pt x="5282477" y="4174142"/>
                  <a:pt x="5044242" y="4151399"/>
                </a:cubicBezTo>
                <a:cubicBezTo>
                  <a:pt x="4979506" y="4145237"/>
                  <a:pt x="4914326" y="4141297"/>
                  <a:pt x="4849272" y="4142076"/>
                </a:cubicBezTo>
                <a:cubicBezTo>
                  <a:pt x="4784218" y="4142854"/>
                  <a:pt x="4719291" y="4148349"/>
                  <a:pt x="4655063" y="4161055"/>
                </a:cubicBezTo>
                <a:cubicBezTo>
                  <a:pt x="4447578" y="4201332"/>
                  <a:pt x="4239457" y="4203874"/>
                  <a:pt x="4029811" y="4187610"/>
                </a:cubicBezTo>
                <a:cubicBezTo>
                  <a:pt x="3943792" y="4180876"/>
                  <a:pt x="3857774" y="4169695"/>
                  <a:pt x="3771375" y="4171855"/>
                </a:cubicBezTo>
                <a:cubicBezTo>
                  <a:pt x="3623225" y="4175794"/>
                  <a:pt x="3474948" y="4167789"/>
                  <a:pt x="3326672" y="4169822"/>
                </a:cubicBezTo>
                <a:cubicBezTo>
                  <a:pt x="3322669" y="4170394"/>
                  <a:pt x="3318578" y="4169860"/>
                  <a:pt x="3314855" y="4168297"/>
                </a:cubicBezTo>
                <a:cubicBezTo>
                  <a:pt x="3278008" y="4143013"/>
                  <a:pt x="3237604" y="4152796"/>
                  <a:pt x="3199487" y="4159403"/>
                </a:cubicBezTo>
                <a:cubicBezTo>
                  <a:pt x="3072810" y="4181384"/>
                  <a:pt x="2946260" y="4192184"/>
                  <a:pt x="2817550" y="4175158"/>
                </a:cubicBezTo>
                <a:cubicBezTo>
                  <a:pt x="2694647" y="4157332"/>
                  <a:pt x="2569990" y="4155109"/>
                  <a:pt x="2446541" y="4168551"/>
                </a:cubicBezTo>
                <a:cubicBezTo>
                  <a:pt x="2276791" y="4188372"/>
                  <a:pt x="2107677" y="4184179"/>
                  <a:pt x="1938308" y="4168551"/>
                </a:cubicBezTo>
                <a:cubicBezTo>
                  <a:pt x="1869570" y="4162199"/>
                  <a:pt x="1799815" y="4151399"/>
                  <a:pt x="1731712" y="4167281"/>
                </a:cubicBezTo>
                <a:cubicBezTo>
                  <a:pt x="1647854" y="4186721"/>
                  <a:pt x="1564250" y="4180368"/>
                  <a:pt x="1480137" y="4176048"/>
                </a:cubicBezTo>
                <a:cubicBezTo>
                  <a:pt x="1373663" y="4170457"/>
                  <a:pt x="1267442" y="4154321"/>
                  <a:pt x="1160586" y="4167027"/>
                </a:cubicBezTo>
                <a:cubicBezTo>
                  <a:pt x="1111161" y="4172871"/>
                  <a:pt x="1062116" y="4182147"/>
                  <a:pt x="1012055" y="4179733"/>
                </a:cubicBezTo>
                <a:cubicBezTo>
                  <a:pt x="873562" y="4173380"/>
                  <a:pt x="735196" y="4165883"/>
                  <a:pt x="596449" y="4167027"/>
                </a:cubicBezTo>
                <a:cubicBezTo>
                  <a:pt x="538383" y="4167408"/>
                  <a:pt x="480699" y="4169314"/>
                  <a:pt x="422887" y="4173507"/>
                </a:cubicBezTo>
                <a:cubicBezTo>
                  <a:pt x="315015" y="4181384"/>
                  <a:pt x="207524" y="4170711"/>
                  <a:pt x="100033" y="4166900"/>
                </a:cubicBezTo>
                <a:lnTo>
                  <a:pt x="0" y="417138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814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7FFEF-4229-3FD7-87C7-21158BB23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3419856" cy="1463040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600" dirty="0"/>
              <a:t>Technical Requirements (The "Agentic Orchestration")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76DB60-E265-C670-9ACC-59FC7747A2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4295" y="385590"/>
            <a:ext cx="7199854" cy="17083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3+ Specialized Agents: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At least one Manager/Auditor agent to enforce quality and self-correction.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External Integration: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Real-world "Hands" (e.g., searching live medical databases or controlling IoT sensors).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Production Layer: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backend with asynchronous streaming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Pydantic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validation.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DevOps Layer: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fully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Dockerized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deployment with multi-container orchestration.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058" name="Ink 2057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>
          <p:pic>
            <p:nvPicPr>
              <p:cNvPr id="2058" name="Ink 2057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sp>
        <p:nvSpPr>
          <p:cNvPr id="2060" name="Rectangle 2059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14992" y="704088"/>
            <a:ext cx="18288" cy="1316736"/>
          </a:xfrm>
          <a:custGeom>
            <a:avLst/>
            <a:gdLst>
              <a:gd name="csX0" fmla="*/ 0 w 18288"/>
              <a:gd name="csY0" fmla="*/ 0 h 1316736"/>
              <a:gd name="csX1" fmla="*/ 18288 w 18288"/>
              <a:gd name="csY1" fmla="*/ 0 h 1316736"/>
              <a:gd name="csX2" fmla="*/ 18288 w 18288"/>
              <a:gd name="csY2" fmla="*/ 632033 h 1316736"/>
              <a:gd name="csX3" fmla="*/ 18288 w 18288"/>
              <a:gd name="csY3" fmla="*/ 1316736 h 1316736"/>
              <a:gd name="csX4" fmla="*/ 0 w 18288"/>
              <a:gd name="csY4" fmla="*/ 1316736 h 1316736"/>
              <a:gd name="csX5" fmla="*/ 0 w 18288"/>
              <a:gd name="csY5" fmla="*/ 671535 h 1316736"/>
              <a:gd name="csX6" fmla="*/ 0 w 18288"/>
              <a:gd name="csY6" fmla="*/ 0 h 13167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288" h="1316736" fill="none" extrusionOk="0">
                <a:moveTo>
                  <a:pt x="0" y="0"/>
                </a:moveTo>
                <a:cubicBezTo>
                  <a:pt x="5414" y="683"/>
                  <a:pt x="12510" y="720"/>
                  <a:pt x="18288" y="0"/>
                </a:cubicBezTo>
                <a:cubicBezTo>
                  <a:pt x="11385" y="276484"/>
                  <a:pt x="47354" y="495364"/>
                  <a:pt x="18288" y="632033"/>
                </a:cubicBezTo>
                <a:cubicBezTo>
                  <a:pt x="-10778" y="768702"/>
                  <a:pt x="26786" y="1005085"/>
                  <a:pt x="18288" y="1316736"/>
                </a:cubicBezTo>
                <a:cubicBezTo>
                  <a:pt x="9577" y="1315893"/>
                  <a:pt x="6900" y="1316365"/>
                  <a:pt x="0" y="1316736"/>
                </a:cubicBezTo>
                <a:cubicBezTo>
                  <a:pt x="-29997" y="1144491"/>
                  <a:pt x="20055" y="926108"/>
                  <a:pt x="0" y="671535"/>
                </a:cubicBezTo>
                <a:cubicBezTo>
                  <a:pt x="-20055" y="416962"/>
                  <a:pt x="15787" y="211813"/>
                  <a:pt x="0" y="0"/>
                </a:cubicBezTo>
                <a:close/>
              </a:path>
              <a:path w="18288" h="1316736" stroke="0" extrusionOk="0">
                <a:moveTo>
                  <a:pt x="0" y="0"/>
                </a:moveTo>
                <a:cubicBezTo>
                  <a:pt x="5341" y="9"/>
                  <a:pt x="11148" y="-611"/>
                  <a:pt x="18288" y="0"/>
                </a:cubicBezTo>
                <a:cubicBezTo>
                  <a:pt x="-6741" y="195124"/>
                  <a:pt x="36996" y="409062"/>
                  <a:pt x="18288" y="618866"/>
                </a:cubicBezTo>
                <a:cubicBezTo>
                  <a:pt x="-420" y="828670"/>
                  <a:pt x="28345" y="1144651"/>
                  <a:pt x="18288" y="1316736"/>
                </a:cubicBezTo>
                <a:cubicBezTo>
                  <a:pt x="10476" y="1317615"/>
                  <a:pt x="8805" y="1316987"/>
                  <a:pt x="0" y="1316736"/>
                </a:cubicBezTo>
                <a:cubicBezTo>
                  <a:pt x="30302" y="1053606"/>
                  <a:pt x="-1997" y="890047"/>
                  <a:pt x="0" y="671535"/>
                </a:cubicBezTo>
                <a:cubicBezTo>
                  <a:pt x="1997" y="453023"/>
                  <a:pt x="-25538" y="322042"/>
                  <a:pt x="0" y="0"/>
                </a:cubicBezTo>
                <a:close/>
              </a:path>
            </a:pathLst>
          </a:custGeom>
          <a:solidFill>
            <a:srgbClr val="6AE3D6"/>
          </a:solidFill>
          <a:ln w="34925">
            <a:solidFill>
              <a:srgbClr val="6AE3D6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1" name="Picture 3" descr="How to Go From Process Automation to Agentic Orchestration">
            <a:extLst>
              <a:ext uri="{FF2B5EF4-FFF2-40B4-BE49-F238E27FC236}">
                <a16:creationId xmlns:a16="http://schemas.microsoft.com/office/drawing/2014/main" id="{09567845-BD0A-D0A4-25B9-FEB47B233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59082" y="2290936"/>
            <a:ext cx="9261644" cy="3959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54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3DAA0EF-336D-4CDC-A9A2-8460363E2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D079A19-B31E-4129-A464-7547FF05A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90556" cy="6858000"/>
          </a:xfrm>
          <a:custGeom>
            <a:avLst/>
            <a:gdLst>
              <a:gd name="connsiteX0" fmla="*/ 0 w 4090556"/>
              <a:gd name="connsiteY0" fmla="*/ 0 h 6858000"/>
              <a:gd name="connsiteX1" fmla="*/ 4077555 w 4090556"/>
              <a:gd name="connsiteY1" fmla="*/ 0 h 6858000"/>
              <a:gd name="connsiteX2" fmla="*/ 4077574 w 4090556"/>
              <a:gd name="connsiteY2" fmla="*/ 720 h 6858000"/>
              <a:gd name="connsiteX3" fmla="*/ 4075790 w 4090556"/>
              <a:gd name="connsiteY3" fmla="*/ 575485 h 6858000"/>
              <a:gd name="connsiteX4" fmla="*/ 4076555 w 4090556"/>
              <a:gd name="connsiteY4" fmla="*/ 932245 h 6858000"/>
              <a:gd name="connsiteX5" fmla="*/ 4076555 w 4090556"/>
              <a:gd name="connsiteY5" fmla="*/ 1286711 h 6858000"/>
              <a:gd name="connsiteX6" fmla="*/ 4082288 w 4090556"/>
              <a:gd name="connsiteY6" fmla="*/ 1595180 h 6858000"/>
              <a:gd name="connsiteX7" fmla="*/ 4078211 w 4090556"/>
              <a:gd name="connsiteY7" fmla="*/ 2133123 h 6858000"/>
              <a:gd name="connsiteX8" fmla="*/ 4071968 w 4090556"/>
              <a:gd name="connsiteY8" fmla="*/ 2946025 h 6858000"/>
              <a:gd name="connsiteX9" fmla="*/ 4068401 w 4090556"/>
              <a:gd name="connsiteY9" fmla="*/ 3502061 h 6858000"/>
              <a:gd name="connsiteX10" fmla="*/ 4087513 w 4090556"/>
              <a:gd name="connsiteY10" fmla="*/ 4076061 h 6858000"/>
              <a:gd name="connsiteX11" fmla="*/ 4076938 w 4090556"/>
              <a:gd name="connsiteY11" fmla="*/ 4442632 h 6858000"/>
              <a:gd name="connsiteX12" fmla="*/ 4071459 w 4090556"/>
              <a:gd name="connsiteY12" fmla="*/ 4827550 h 6858000"/>
              <a:gd name="connsiteX13" fmla="*/ 4071459 w 4090556"/>
              <a:gd name="connsiteY13" fmla="*/ 5019945 h 6858000"/>
              <a:gd name="connsiteX14" fmla="*/ 4084200 w 4090556"/>
              <a:gd name="connsiteY14" fmla="*/ 5490104 h 6858000"/>
              <a:gd name="connsiteX15" fmla="*/ 4077446 w 4090556"/>
              <a:gd name="connsiteY15" fmla="*/ 5844569 h 6858000"/>
              <a:gd name="connsiteX16" fmla="*/ 4082544 w 4090556"/>
              <a:gd name="connsiteY16" fmla="*/ 6260195 h 6858000"/>
              <a:gd name="connsiteX17" fmla="*/ 4086110 w 4090556"/>
              <a:gd name="connsiteY17" fmla="*/ 6706145 h 6858000"/>
              <a:gd name="connsiteX18" fmla="*/ 4086135 w 4090556"/>
              <a:gd name="connsiteY18" fmla="*/ 6794562 h 6858000"/>
              <a:gd name="connsiteX19" fmla="*/ 4080334 w 4090556"/>
              <a:gd name="connsiteY19" fmla="*/ 6858000 h 6858000"/>
              <a:gd name="connsiteX20" fmla="*/ 0 w 4090556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90556" h="6858000">
                <a:moveTo>
                  <a:pt x="0" y="0"/>
                </a:moveTo>
                <a:lnTo>
                  <a:pt x="4077555" y="0"/>
                </a:lnTo>
                <a:lnTo>
                  <a:pt x="4077574" y="720"/>
                </a:lnTo>
                <a:cubicBezTo>
                  <a:pt x="4079358" y="192351"/>
                  <a:pt x="4064960" y="384364"/>
                  <a:pt x="4075790" y="575485"/>
                </a:cubicBezTo>
                <a:cubicBezTo>
                  <a:pt x="4082544" y="694108"/>
                  <a:pt x="4081269" y="814132"/>
                  <a:pt x="4076555" y="932245"/>
                </a:cubicBezTo>
                <a:cubicBezTo>
                  <a:pt x="4071840" y="1050357"/>
                  <a:pt x="4065470" y="1168597"/>
                  <a:pt x="4076555" y="1286711"/>
                </a:cubicBezTo>
                <a:cubicBezTo>
                  <a:pt x="4084710" y="1389317"/>
                  <a:pt x="4086621" y="1492332"/>
                  <a:pt x="4082288" y="1595180"/>
                </a:cubicBezTo>
                <a:cubicBezTo>
                  <a:pt x="4077319" y="1774452"/>
                  <a:pt x="4067637" y="1953851"/>
                  <a:pt x="4078211" y="2133123"/>
                </a:cubicBezTo>
                <a:cubicBezTo>
                  <a:pt x="4094393" y="2404260"/>
                  <a:pt x="4084710" y="2675143"/>
                  <a:pt x="4071968" y="2946025"/>
                </a:cubicBezTo>
                <a:cubicBezTo>
                  <a:pt x="4063049" y="3131413"/>
                  <a:pt x="4055659" y="3316673"/>
                  <a:pt x="4068401" y="3502061"/>
                </a:cubicBezTo>
                <a:cubicBezTo>
                  <a:pt x="4081396" y="3693182"/>
                  <a:pt x="4097323" y="3884176"/>
                  <a:pt x="4087513" y="4076061"/>
                </a:cubicBezTo>
                <a:cubicBezTo>
                  <a:pt x="4081142" y="4198251"/>
                  <a:pt x="4069037" y="4320315"/>
                  <a:pt x="4076938" y="4442632"/>
                </a:cubicBezTo>
                <a:cubicBezTo>
                  <a:pt x="4083270" y="4570925"/>
                  <a:pt x="4081435" y="4699486"/>
                  <a:pt x="4071459" y="4827550"/>
                </a:cubicBezTo>
                <a:cubicBezTo>
                  <a:pt x="4065725" y="4891550"/>
                  <a:pt x="4065725" y="4955945"/>
                  <a:pt x="4071459" y="5019945"/>
                </a:cubicBezTo>
                <a:cubicBezTo>
                  <a:pt x="4087742" y="5176105"/>
                  <a:pt x="4091997" y="5333296"/>
                  <a:pt x="4084200" y="5490104"/>
                </a:cubicBezTo>
                <a:cubicBezTo>
                  <a:pt x="4079740" y="5608217"/>
                  <a:pt x="4071968" y="5726202"/>
                  <a:pt x="4077446" y="5844569"/>
                </a:cubicBezTo>
                <a:cubicBezTo>
                  <a:pt x="4083944" y="5983069"/>
                  <a:pt x="4088914" y="6121696"/>
                  <a:pt x="4082544" y="6260195"/>
                </a:cubicBezTo>
                <a:cubicBezTo>
                  <a:pt x="4075841" y="6408803"/>
                  <a:pt x="4077026" y="6557662"/>
                  <a:pt x="4086110" y="6706145"/>
                </a:cubicBezTo>
                <a:cubicBezTo>
                  <a:pt x="4087467" y="6735616"/>
                  <a:pt x="4087474" y="6765120"/>
                  <a:pt x="4086135" y="6794562"/>
                </a:cubicBezTo>
                <a:lnTo>
                  <a:pt x="4080334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323F9A-6C22-5560-1768-F6A87FB5F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1" y="640823"/>
            <a:ext cx="3103194" cy="558314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Capstone Project Ideas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7AD1E43-2D06-C706-506E-AF03FE44C3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828596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8508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3DAA0EF-336D-4CDC-A9A2-8460363E2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D079A19-B31E-4129-A464-7547FF05A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90556" cy="6858000"/>
          </a:xfrm>
          <a:custGeom>
            <a:avLst/>
            <a:gdLst>
              <a:gd name="connsiteX0" fmla="*/ 0 w 4090556"/>
              <a:gd name="connsiteY0" fmla="*/ 0 h 6858000"/>
              <a:gd name="connsiteX1" fmla="*/ 4077555 w 4090556"/>
              <a:gd name="connsiteY1" fmla="*/ 0 h 6858000"/>
              <a:gd name="connsiteX2" fmla="*/ 4077574 w 4090556"/>
              <a:gd name="connsiteY2" fmla="*/ 720 h 6858000"/>
              <a:gd name="connsiteX3" fmla="*/ 4075790 w 4090556"/>
              <a:gd name="connsiteY3" fmla="*/ 575485 h 6858000"/>
              <a:gd name="connsiteX4" fmla="*/ 4076555 w 4090556"/>
              <a:gd name="connsiteY4" fmla="*/ 932245 h 6858000"/>
              <a:gd name="connsiteX5" fmla="*/ 4076555 w 4090556"/>
              <a:gd name="connsiteY5" fmla="*/ 1286711 h 6858000"/>
              <a:gd name="connsiteX6" fmla="*/ 4082288 w 4090556"/>
              <a:gd name="connsiteY6" fmla="*/ 1595180 h 6858000"/>
              <a:gd name="connsiteX7" fmla="*/ 4078211 w 4090556"/>
              <a:gd name="connsiteY7" fmla="*/ 2133123 h 6858000"/>
              <a:gd name="connsiteX8" fmla="*/ 4071968 w 4090556"/>
              <a:gd name="connsiteY8" fmla="*/ 2946025 h 6858000"/>
              <a:gd name="connsiteX9" fmla="*/ 4068401 w 4090556"/>
              <a:gd name="connsiteY9" fmla="*/ 3502061 h 6858000"/>
              <a:gd name="connsiteX10" fmla="*/ 4087513 w 4090556"/>
              <a:gd name="connsiteY10" fmla="*/ 4076061 h 6858000"/>
              <a:gd name="connsiteX11" fmla="*/ 4076938 w 4090556"/>
              <a:gd name="connsiteY11" fmla="*/ 4442632 h 6858000"/>
              <a:gd name="connsiteX12" fmla="*/ 4071459 w 4090556"/>
              <a:gd name="connsiteY12" fmla="*/ 4827550 h 6858000"/>
              <a:gd name="connsiteX13" fmla="*/ 4071459 w 4090556"/>
              <a:gd name="connsiteY13" fmla="*/ 5019945 h 6858000"/>
              <a:gd name="connsiteX14" fmla="*/ 4084200 w 4090556"/>
              <a:gd name="connsiteY14" fmla="*/ 5490104 h 6858000"/>
              <a:gd name="connsiteX15" fmla="*/ 4077446 w 4090556"/>
              <a:gd name="connsiteY15" fmla="*/ 5844569 h 6858000"/>
              <a:gd name="connsiteX16" fmla="*/ 4082544 w 4090556"/>
              <a:gd name="connsiteY16" fmla="*/ 6260195 h 6858000"/>
              <a:gd name="connsiteX17" fmla="*/ 4086110 w 4090556"/>
              <a:gd name="connsiteY17" fmla="*/ 6706145 h 6858000"/>
              <a:gd name="connsiteX18" fmla="*/ 4086135 w 4090556"/>
              <a:gd name="connsiteY18" fmla="*/ 6794562 h 6858000"/>
              <a:gd name="connsiteX19" fmla="*/ 4080334 w 4090556"/>
              <a:gd name="connsiteY19" fmla="*/ 6858000 h 6858000"/>
              <a:gd name="connsiteX20" fmla="*/ 0 w 4090556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90556" h="6858000">
                <a:moveTo>
                  <a:pt x="0" y="0"/>
                </a:moveTo>
                <a:lnTo>
                  <a:pt x="4077555" y="0"/>
                </a:lnTo>
                <a:lnTo>
                  <a:pt x="4077574" y="720"/>
                </a:lnTo>
                <a:cubicBezTo>
                  <a:pt x="4079358" y="192351"/>
                  <a:pt x="4064960" y="384364"/>
                  <a:pt x="4075790" y="575485"/>
                </a:cubicBezTo>
                <a:cubicBezTo>
                  <a:pt x="4082544" y="694108"/>
                  <a:pt x="4081269" y="814132"/>
                  <a:pt x="4076555" y="932245"/>
                </a:cubicBezTo>
                <a:cubicBezTo>
                  <a:pt x="4071840" y="1050357"/>
                  <a:pt x="4065470" y="1168597"/>
                  <a:pt x="4076555" y="1286711"/>
                </a:cubicBezTo>
                <a:cubicBezTo>
                  <a:pt x="4084710" y="1389317"/>
                  <a:pt x="4086621" y="1492332"/>
                  <a:pt x="4082288" y="1595180"/>
                </a:cubicBezTo>
                <a:cubicBezTo>
                  <a:pt x="4077319" y="1774452"/>
                  <a:pt x="4067637" y="1953851"/>
                  <a:pt x="4078211" y="2133123"/>
                </a:cubicBezTo>
                <a:cubicBezTo>
                  <a:pt x="4094393" y="2404260"/>
                  <a:pt x="4084710" y="2675143"/>
                  <a:pt x="4071968" y="2946025"/>
                </a:cubicBezTo>
                <a:cubicBezTo>
                  <a:pt x="4063049" y="3131413"/>
                  <a:pt x="4055659" y="3316673"/>
                  <a:pt x="4068401" y="3502061"/>
                </a:cubicBezTo>
                <a:cubicBezTo>
                  <a:pt x="4081396" y="3693182"/>
                  <a:pt x="4097323" y="3884176"/>
                  <a:pt x="4087513" y="4076061"/>
                </a:cubicBezTo>
                <a:cubicBezTo>
                  <a:pt x="4081142" y="4198251"/>
                  <a:pt x="4069037" y="4320315"/>
                  <a:pt x="4076938" y="4442632"/>
                </a:cubicBezTo>
                <a:cubicBezTo>
                  <a:pt x="4083270" y="4570925"/>
                  <a:pt x="4081435" y="4699486"/>
                  <a:pt x="4071459" y="4827550"/>
                </a:cubicBezTo>
                <a:cubicBezTo>
                  <a:pt x="4065725" y="4891550"/>
                  <a:pt x="4065725" y="4955945"/>
                  <a:pt x="4071459" y="5019945"/>
                </a:cubicBezTo>
                <a:cubicBezTo>
                  <a:pt x="4087742" y="5176105"/>
                  <a:pt x="4091997" y="5333296"/>
                  <a:pt x="4084200" y="5490104"/>
                </a:cubicBezTo>
                <a:cubicBezTo>
                  <a:pt x="4079740" y="5608217"/>
                  <a:pt x="4071968" y="5726202"/>
                  <a:pt x="4077446" y="5844569"/>
                </a:cubicBezTo>
                <a:cubicBezTo>
                  <a:pt x="4083944" y="5983069"/>
                  <a:pt x="4088914" y="6121696"/>
                  <a:pt x="4082544" y="6260195"/>
                </a:cubicBezTo>
                <a:cubicBezTo>
                  <a:pt x="4075841" y="6408803"/>
                  <a:pt x="4077026" y="6557662"/>
                  <a:pt x="4086110" y="6706145"/>
                </a:cubicBezTo>
                <a:cubicBezTo>
                  <a:pt x="4087467" y="6735616"/>
                  <a:pt x="4087474" y="6765120"/>
                  <a:pt x="4086135" y="6794562"/>
                </a:cubicBezTo>
                <a:lnTo>
                  <a:pt x="4080334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E4C1CD-6165-173A-F30A-C9712D47F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1" y="640823"/>
            <a:ext cx="3103194" cy="5583148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Final Audit &amp; System Defense</a:t>
            </a:r>
            <a:br>
              <a:rPr lang="en-US" b="1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C1B2D4B-692A-2E1A-DBB5-933AF0A2B5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0757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1420569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Modern Love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278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Modern Love</vt:lpstr>
      <vt:lpstr>The Hand</vt:lpstr>
      <vt:lpstr>SketchyVTI</vt:lpstr>
      <vt:lpstr>The Grand Capstone Challenge</vt:lpstr>
      <vt:lpstr>Technical Requirements (The "Agentic Orchestration")</vt:lpstr>
      <vt:lpstr>Capstone Project Ideas</vt:lpstr>
      <vt:lpstr>Final Audit &amp; System Defense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2026-05-08T06:38:47Z</dcterms:created>
  <dcterms:modified xsi:type="dcterms:W3CDTF">2026-05-08T07:01:35Z</dcterms:modified>
</cp:coreProperties>
</file>