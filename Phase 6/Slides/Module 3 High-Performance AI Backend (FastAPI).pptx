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28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8E770-44AE-47D5-B4B1-71BEC9A9D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663960"/>
            <a:ext cx="9456049" cy="3594112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A91C7-81A9-46F3-B0F4-D9AB88085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667581"/>
            <a:ext cx="9456049" cy="1197387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648C8-9681-4994-B52A-1A8BC79127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1248" y="6102693"/>
            <a:ext cx="2743200" cy="365125"/>
          </a:xfrm>
        </p:spPr>
        <p:txBody>
          <a:bodyPr/>
          <a:lstStyle/>
          <a:p>
            <a:fld id="{AE3425CA-4B9D-4420-BB9E-C250DB30E421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7F203-CB10-488B-82DC-9D0571A5E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2B2E9B-C8B7-4716-9D05-265A04246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D8031-DD67-43C6-94A0-646636C95560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104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42B9A-9384-46B2-8B4F-B9C2035CA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13CF4-CD0B-4F3C-A1CE-1BA3EFDEE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1DE659-17B0-4F70-8F1C-93BF4DB64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51E1E-C50D-4FD4-8B1E-ECD78340D9A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B0750-AB4E-4FCF-9B52-BC954760B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66B99-C716-4464-B695-623F4C5A9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684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2233A-AD59-4FB1-A1CA-AABFAE0408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9538428" cy="3714417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656964-650B-4E87-9541-0E659DEC0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9" y="4672584"/>
            <a:ext cx="9538428" cy="1143802"/>
          </a:xfrm>
        </p:spPr>
        <p:txBody>
          <a:bodyPr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1BB50-DF4A-47B5-A3AD-18712A3AD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83AFB-9E54-459E-8C6D-0913AC3BA5D7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F59B3-D1B8-4A51-AD6E-868C5BF6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0CA779-6272-4A15-A566-20C4E9A6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B86E8F-91EA-4626-BCA8-3B4973C7C9D6}"/>
              </a:ext>
            </a:extLst>
          </p:cNvPr>
          <p:cNvCxnSpPr>
            <a:cxnSpLocks/>
          </p:cNvCxnSpPr>
          <p:nvPr/>
        </p:nvCxnSpPr>
        <p:spPr>
          <a:xfrm>
            <a:off x="360154" y="4495800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7952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2A00-5BBD-436C-BB6D-CE650FC46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3"/>
            <a:ext cx="9683871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B3E2E-F3C4-4CDD-9138-86AE7A1B56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1248" y="2108362"/>
            <a:ext cx="4507926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5CD01-B639-46B6-B53D-18FE1E39A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99171" y="2108362"/>
            <a:ext cx="4825948" cy="37216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6E34C3-86AC-48F9-92A4-F17BFAF9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144B6-0CA7-46BA-A00B-1E68E5C3ED0C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D6A29-C51F-4654-82AD-04056FA6C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21EEB6-57E6-40E7-9702-1D5999B50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929C81A-4806-44FF-99D8-13A65B2D066F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08DDCF9-5353-4B5F-8565-8C27F795A4BF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428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0D1A9-BF08-4C6D-805E-244B234EE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7784"/>
            <a:ext cx="943957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0C1D8-0907-4FDB-BFAD-36E14AF98D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114185"/>
            <a:ext cx="4438887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6A4441-5FC3-4F86-8ADE-ED90424DB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1248" y="2900451"/>
            <a:ext cx="4438887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EB34D-DB36-47E0-AE2C-FBEBA2720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95090" y="2114185"/>
            <a:ext cx="4485728" cy="693761"/>
          </a:xfrm>
        </p:spPr>
        <p:txBody>
          <a:bodyPr anchor="b">
            <a:norm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056219-D498-410D-8F2C-03045AE480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95090" y="2900451"/>
            <a:ext cx="4485730" cy="3028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8DC9AD-F6B8-44D0-8169-84553C1F9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1F549-537C-41EC-B9CC-5B6A9AC2A6A7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85ED-7382-4F00-845D-4F27841B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A2CC25-9EC7-4706-9BD4-5E20C4B33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DBC7D26-1B30-46B8-8221-09886FA3D030}"/>
              </a:ext>
            </a:extLst>
          </p:cNvPr>
          <p:cNvCxnSpPr>
            <a:cxnSpLocks/>
          </p:cNvCxnSpPr>
          <p:nvPr/>
        </p:nvCxnSpPr>
        <p:spPr>
          <a:xfrm>
            <a:off x="375523" y="2004012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4186A75-E140-4995-A8BB-89B5ACE678D2}"/>
              </a:ext>
            </a:extLst>
          </p:cNvPr>
          <p:cNvCxnSpPr>
            <a:cxnSpLocks/>
          </p:cNvCxnSpPr>
          <p:nvPr/>
        </p:nvCxnSpPr>
        <p:spPr>
          <a:xfrm>
            <a:off x="5563342" y="2004012"/>
            <a:ext cx="0" cy="404869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600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221C2-B85F-435F-8DF3-C714A547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99FE38-24D5-4D5F-A92E-E4F8B23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F8D56-3D0E-48B8-8218-1F3A06A96C62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29DF69-BE29-4038-9744-17BFC57B8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B9496F-64EC-46E7-97F0-BCB7E79F8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F19E0-8FE3-45E8-A227-D74EEF1A6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C309E-27D4-401F-A74A-DEA16C7B51DC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B1926-56F3-40BC-A03F-62B96941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FFE2B6-07A4-4AA0-9BCE-204E13DA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506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6266A-CB24-44C5-B2E8-01142084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9283"/>
            <a:ext cx="4603963" cy="2572489"/>
          </a:xfrm>
        </p:spPr>
        <p:txBody>
          <a:bodyPr anchor="ctr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9DBD1-7133-47A5-A771-2CEA1853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0796" y="549283"/>
            <a:ext cx="4455517" cy="531970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6A729F-B24D-424E-B067-003B0601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8" y="3296498"/>
            <a:ext cx="4603963" cy="2572489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FA7323-5497-426C-9DD9-3CF69E88EC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A2B81-2BC3-42D7-B67D-05C685AA80AD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FD7667-4D25-40AF-9D6D-FCB2C21E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650918-EDF8-47A5-BEA8-AC9A7A153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247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C5D2B-FAFB-4BC9-A917-610FDCD0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9" y="552782"/>
            <a:ext cx="4608576" cy="2569464"/>
          </a:xfr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4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26A694-5302-42BE-8A7A-6007C10F8F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825952" y="552783"/>
            <a:ext cx="4663440" cy="530826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E4481C-81D6-4329-8203-70B3FCC3F8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1249" y="3300984"/>
            <a:ext cx="4608576" cy="2569464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AD6C12-26C4-4DF7-B013-56D0849AC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B8F2B-E487-4905-B553-FB649F2B6F23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E2F307-FB97-40EC-8517-E6F351B3D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C1B397-305A-42B7-A763-829634B93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403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3C3B3-C67F-4C48-A663-EF010429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4C4B3F-B3CB-4CF0-AEC8-1893A6A27E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6D005-2B71-4325-A646-A2278C3A2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4B861-3779-4E37-8DF0-E9EB3EA96210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356B01-AE16-42EF-B970-5CAF0C891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BF9BE2-24F4-4F83-8E64-4307C979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39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601120-856A-4F01-B7C1-D87A1E5F8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74324" y="552782"/>
            <a:ext cx="2620891" cy="529472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62358-C84C-4947-B826-FF738422E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52782"/>
            <a:ext cx="6803155" cy="529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71139-AA1A-46DB-B793-17FB8E6E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38388-E864-4553-9937-AE9FC5E50CFC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E06F6-0FE2-40FB-BFEE-010C22293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BA7B1B-13A1-41BA-B924-FD11450C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9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4BD48A-4D17-4225-AC4D-67B4C686C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52782"/>
            <a:ext cx="9489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A2B-77AF-4E51-B0C1-0D361EF81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2096199"/>
            <a:ext cx="9489000" cy="37473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9C2F5-57CA-4152-A766-8F877538F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1248" y="610269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EF7C3A7-D6F6-4D38-A7C3-B72967BB81A6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25FB5-D02B-4BB9-8B8B-D1A11CFE8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9234260" y="24276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1000" b="1" kern="1200" cap="all" spc="3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244FF-6F88-4090-A77F-499DF9AAE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15546" y="5878515"/>
            <a:ext cx="952229" cy="420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3200" b="1" kern="1200" cap="all" spc="3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86042B-6341-4E38-A80C-926D3BB8AAC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94AEDE-F25F-43E6-A2C4-7FFF41074990}"/>
              </a:ext>
            </a:extLst>
          </p:cNvPr>
          <p:cNvSpPr/>
          <p:nvPr/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C793C08-EF4C-422B-A728-6C717C47DF6F}"/>
              </a:ext>
            </a:extLst>
          </p:cNvPr>
          <p:cNvCxnSpPr>
            <a:cxnSpLocks/>
          </p:cNvCxnSpPr>
          <p:nvPr/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E825BC6-56A8-46DE-8037-A9A577624B0D}"/>
              </a:ext>
            </a:extLst>
          </p:cNvPr>
          <p:cNvCxnSpPr>
            <a:cxnSpLocks/>
          </p:cNvCxnSpPr>
          <p:nvPr/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633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Background Fill">
            <a:extLst>
              <a:ext uri="{FF2B5EF4-FFF2-40B4-BE49-F238E27FC236}">
                <a16:creationId xmlns:a16="http://schemas.microsoft.com/office/drawing/2014/main" id="{4BD3D2AC-21AB-44A3-8D46-777B3B880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FD16A0-17B0-4DDE-B156-121E35CDD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144867"/>
            <a:ext cx="9456049" cy="1733645"/>
          </a:xfrm>
        </p:spPr>
        <p:txBody>
          <a:bodyPr>
            <a:normAutofit/>
          </a:bodyPr>
          <a:lstStyle/>
          <a:p>
            <a:r>
              <a:rPr lang="en-US" sz="4600"/>
              <a:t>Module 3 – High-Performance AI Backend (</a:t>
            </a:r>
            <a:r>
              <a:rPr lang="en-US" sz="4600" err="1"/>
              <a:t>FastAPI</a:t>
            </a:r>
            <a:r>
              <a:rPr lang="en-US" sz="4600"/>
              <a:t>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5A9E6D2-C2B6-5765-F6A0-3321E92DF0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8153399" y="334926"/>
            <a:ext cx="2595296" cy="362747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Goal: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Transforming AI logic into a scalable, production-ready web service.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Why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?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It is built on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Asynchronous Server Gateway Interface (ASGI)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making it one of the fastest Python frameworks available, rivaling Node.js and Go.</a:t>
            </a:r>
          </a:p>
          <a:p>
            <a:pPr marL="285750" marR="0" lvl="0" indent="-285750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Core Pillars: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Async execution, strict data validation, and real-time streaming.</a:t>
            </a:r>
          </a:p>
        </p:txBody>
      </p:sp>
      <p:pic>
        <p:nvPicPr>
          <p:cNvPr id="1027" name="Picture 3" descr="FastAPI + LLMs: Building a Scalable AI Backend">
            <a:extLst>
              <a:ext uri="{FF2B5EF4-FFF2-40B4-BE49-F238E27FC236}">
                <a16:creationId xmlns:a16="http://schemas.microsoft.com/office/drawing/2014/main" id="{A22F946B-1A5D-4C2A-6A09-57C94AD48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3545" y="663962"/>
            <a:ext cx="6659576" cy="2963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34" name="Main Horizontal Connector">
            <a:extLst>
              <a:ext uri="{FF2B5EF4-FFF2-40B4-BE49-F238E27FC236}">
                <a16:creationId xmlns:a16="http://schemas.microsoft.com/office/drawing/2014/main" id="{ED6E1D47-E043-40F2-A36C-A0391282DE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6" name="Main Vertical Connector">
            <a:extLst>
              <a:ext uri="{FF2B5EF4-FFF2-40B4-BE49-F238E27FC236}">
                <a16:creationId xmlns:a16="http://schemas.microsoft.com/office/drawing/2014/main" id="{A629B0E7-0B3A-42F1-B116-1E81FFD136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8" name="Main Frame">
            <a:extLst>
              <a:ext uri="{FF2B5EF4-FFF2-40B4-BE49-F238E27FC236}">
                <a16:creationId xmlns:a16="http://schemas.microsoft.com/office/drawing/2014/main" id="{488D8CFA-009C-4869-A531-BDBC89C46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744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0" name="Straight Connector 1039">
            <a:extLst>
              <a:ext uri="{FF2B5EF4-FFF2-40B4-BE49-F238E27FC236}">
                <a16:creationId xmlns:a16="http://schemas.microsoft.com/office/drawing/2014/main" id="{0631FEB4-5156-4C45-AA39-E86F2FD2C3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53399" y="334928"/>
            <a:ext cx="0" cy="36274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Connector 1041">
            <a:extLst>
              <a:ext uri="{FF2B5EF4-FFF2-40B4-BE49-F238E27FC236}">
                <a16:creationId xmlns:a16="http://schemas.microsoft.com/office/drawing/2014/main" id="{33BB92B6-30B8-4DBD-BDA8-68C0813CA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7744" y="3962400"/>
            <a:ext cx="1038095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5204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F9C487-8B71-04F3-A34C-CF61F0FB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7024" y="552782"/>
            <a:ext cx="4423224" cy="1643663"/>
          </a:xfrm>
        </p:spPr>
        <p:txBody>
          <a:bodyPr>
            <a:normAutofit/>
          </a:bodyPr>
          <a:lstStyle/>
          <a:p>
            <a:r>
              <a:rPr lang="en-US" sz="4100"/>
              <a:t>Data Validation &amp; Async Logic</a:t>
            </a:r>
          </a:p>
        </p:txBody>
      </p:sp>
      <p:pic>
        <p:nvPicPr>
          <p:cNvPr id="2053" name="Picture 5" descr="Agentic AI for Data Management and Warehousing">
            <a:extLst>
              <a:ext uri="{FF2B5EF4-FFF2-40B4-BE49-F238E27FC236}">
                <a16:creationId xmlns:a16="http://schemas.microsoft.com/office/drawing/2014/main" id="{4ACCF58B-5445-66D9-7A80-58D5A22AC2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526"/>
          <a:stretch>
            <a:fillRect/>
          </a:stretch>
        </p:blipFill>
        <p:spPr bwMode="auto">
          <a:xfrm>
            <a:off x="20" y="10"/>
            <a:ext cx="5210493" cy="3428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1" name="Picture 3" descr="Why Your AI Agents Need Async. How mastering asynchronous programming… | by  Sweety Tripathi | Coinmonks | Medium">
            <a:extLst>
              <a:ext uri="{FF2B5EF4-FFF2-40B4-BE49-F238E27FC236}">
                <a16:creationId xmlns:a16="http://schemas.microsoft.com/office/drawing/2014/main" id="{020A8A8A-8ED2-19C9-FC72-D416445C6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" b="1407"/>
          <a:stretch>
            <a:fillRect/>
          </a:stretch>
        </p:blipFill>
        <p:spPr bwMode="auto">
          <a:xfrm>
            <a:off x="20" y="3429000"/>
            <a:ext cx="5210493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24C11E76-F730-05E0-6B10-CDF2BE2A66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024" y="2735229"/>
            <a:ext cx="4423224" cy="3108354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Pydantic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Using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BaseModel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to enforce strict schemas. This prevents "Type Errors" (e.g., sending a number where a string is expected) from crashing the server.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Asynchronous Inference: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Utilizing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async/await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 to ensure the server can handle hundreds of concurrent AI requests without blocking the main thread.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2060" name="Main Frame">
            <a:extLst>
              <a:ext uri="{FF2B5EF4-FFF2-40B4-BE49-F238E27FC236}">
                <a16:creationId xmlns:a16="http://schemas.microsoft.com/office/drawing/2014/main" id="{60B98957-D5C0-4FFC-8987-C5D8A06F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60546" y="334928"/>
            <a:ext cx="6263710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62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EB123B9E-16C1-47FC-BA6E-0B62BE4F2E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2133" y="2400300"/>
            <a:ext cx="51865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6" name="Main Horizontal Connector">
            <a:extLst>
              <a:ext uri="{FF2B5EF4-FFF2-40B4-BE49-F238E27FC236}">
                <a16:creationId xmlns:a16="http://schemas.microsoft.com/office/drawing/2014/main" id="{51DA9589-40B0-4B65-A035-81057865F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60546" y="6047437"/>
            <a:ext cx="5188152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2215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06" name="Background Fill">
            <a:extLst>
              <a:ext uri="{FF2B5EF4-FFF2-40B4-BE49-F238E27FC236}">
                <a16:creationId xmlns:a16="http://schemas.microsoft.com/office/drawing/2014/main" id="{B937640E-EF7A-4A6C-A950-D12B7D5C92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58764F-4FD3-78B1-ACD6-AC5C4BE0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7" y="4297329"/>
            <a:ext cx="5249166" cy="1546254"/>
          </a:xfrm>
        </p:spPr>
        <p:txBody>
          <a:bodyPr anchor="b">
            <a:normAutofit/>
          </a:bodyPr>
          <a:lstStyle/>
          <a:p>
            <a:r>
              <a:rPr lang="en-US"/>
              <a:t>Real-Time Streaming (SSE)</a:t>
            </a:r>
          </a:p>
        </p:txBody>
      </p:sp>
      <p:pic>
        <p:nvPicPr>
          <p:cNvPr id="3077" name="Picture 5" descr="How Apache Kafka and Flink Power Event-Driven Agentic AI in Real Time - Kai  Waehner">
            <a:extLst>
              <a:ext uri="{FF2B5EF4-FFF2-40B4-BE49-F238E27FC236}">
                <a16:creationId xmlns:a16="http://schemas.microsoft.com/office/drawing/2014/main" id="{9210189A-3B3F-A24B-C1E4-5731504C4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2490" y="678298"/>
            <a:ext cx="5196771" cy="2949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43206F5D-F816-8567-1BD5-A15D9FF62A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65463" y="678298"/>
            <a:ext cx="3926069" cy="51652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/>
          </a:bodyPr>
          <a:lstStyle/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Server-Sent Events (SSE):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Instead of waiting for a full 30-second AI generation, we stream tokens one-by-one.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User Experience: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This creates the "ChatGPT-style" typing effect, drastically improving perceived performance.</a:t>
            </a:r>
          </a:p>
          <a:p>
            <a:pPr eaLnBrk="0" fontAlgn="base" hangingPunct="0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Auto-Docs: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FastAPI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automatically generates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Swagger UI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at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 Unicode MS"/>
              </a:rPr>
              <a:t>/docs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, allowing frontend teams to test the API instantly without reading manual documentation.</a:t>
            </a:r>
            <a:endParaRPr kumimoji="0" lang="en-US" altLang="en-US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3108" name="Main Frame">
            <a:extLst>
              <a:ext uri="{FF2B5EF4-FFF2-40B4-BE49-F238E27FC236}">
                <a16:creationId xmlns:a16="http://schemas.microsoft.com/office/drawing/2014/main" id="{8B3D301E-EEB6-4474-BFB1-FCD7A1F3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197" y="334928"/>
            <a:ext cx="11456511" cy="61881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10" name="Main Horizontal Connector">
            <a:extLst>
              <a:ext uri="{FF2B5EF4-FFF2-40B4-BE49-F238E27FC236}">
                <a16:creationId xmlns:a16="http://schemas.microsoft.com/office/drawing/2014/main" id="{85F2753B-199B-4FF0-838F-41E8D058E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73060" y="6047437"/>
            <a:ext cx="10375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2" name="Straight Connector 3111">
            <a:extLst>
              <a:ext uri="{FF2B5EF4-FFF2-40B4-BE49-F238E27FC236}">
                <a16:creationId xmlns:a16="http://schemas.microsoft.com/office/drawing/2014/main" id="{1D2CE7BF-3496-4F2D-8D07-892DA44043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40447" y="343372"/>
            <a:ext cx="0" cy="5701553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4" name="Straight Connector 3113">
            <a:extLst>
              <a:ext uri="{FF2B5EF4-FFF2-40B4-BE49-F238E27FC236}">
                <a16:creationId xmlns:a16="http://schemas.microsoft.com/office/drawing/2014/main" id="{813A7DAB-4EE8-4AE2-AB14-048FBC5ED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66197" y="3962400"/>
            <a:ext cx="607270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6" name="Main Vertical Connector">
            <a:extLst>
              <a:ext uri="{FF2B5EF4-FFF2-40B4-BE49-F238E27FC236}">
                <a16:creationId xmlns:a16="http://schemas.microsoft.com/office/drawing/2014/main" id="{B0BDEAB7-0E83-4F55-90F4-098569F5A5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748698" y="334928"/>
            <a:ext cx="0" cy="618814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8609639"/>
      </p:ext>
    </p:extLst>
  </p:cSld>
  <p:clrMapOvr>
    <a:masterClrMapping/>
  </p:clrMapOvr>
</p:sld>
</file>

<file path=ppt/theme/theme1.xml><?xml version="1.0" encoding="utf-8"?>
<a:theme xmlns:a="http://schemas.openxmlformats.org/drawingml/2006/main" name="MimeoVTI">
  <a:themeElements>
    <a:clrScheme name="Mimeo">
      <a:dk1>
        <a:sysClr val="windowText" lastClr="000000"/>
      </a:dk1>
      <a:lt1>
        <a:sysClr val="window" lastClr="FFFFFF"/>
      </a:lt1>
      <a:dk2>
        <a:srgbClr val="011E31"/>
      </a:dk2>
      <a:lt2>
        <a:srgbClr val="FDF3E6"/>
      </a:lt2>
      <a:accent1>
        <a:srgbClr val="005E9E"/>
      </a:accent1>
      <a:accent2>
        <a:srgbClr val="38998D"/>
      </a:accent2>
      <a:accent3>
        <a:srgbClr val="EF8683"/>
      </a:accent3>
      <a:accent4>
        <a:srgbClr val="F04E28"/>
      </a:accent4>
      <a:accent5>
        <a:srgbClr val="DD992C"/>
      </a:accent5>
      <a:accent6>
        <a:srgbClr val="136E65"/>
      </a:accent6>
      <a:hlink>
        <a:srgbClr val="38998D"/>
      </a:hlink>
      <a:folHlink>
        <a:srgbClr val="F04E28"/>
      </a:folHlink>
    </a:clrScheme>
    <a:fontScheme name="Custom 3">
      <a:majorFont>
        <a:latin typeface="Elephant"/>
        <a:ea typeface=""/>
        <a:cs typeface=""/>
      </a:majorFont>
      <a:minorFont>
        <a:latin typeface="Univers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meoVTI" id="{63E3BFD8-7F9C-46D1-A4F3-04054403C108}" vid="{C505C190-EE38-45FD-8294-6454536D04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196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Unicode MS</vt:lpstr>
      <vt:lpstr>Elephant</vt:lpstr>
      <vt:lpstr>Univers Condensed</vt:lpstr>
      <vt:lpstr>MimeoVTI</vt:lpstr>
      <vt:lpstr>Module 3 – High-Performance AI Backend (FastAPI)</vt:lpstr>
      <vt:lpstr>Data Validation &amp; Async Logic</vt:lpstr>
      <vt:lpstr>Real-Time Streaming (SSE)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3</cp:revision>
  <dcterms:created xsi:type="dcterms:W3CDTF">2026-05-08T05:39:59Z</dcterms:created>
  <dcterms:modified xsi:type="dcterms:W3CDTF">2026-05-08T05:50:11Z</dcterms:modified>
</cp:coreProperties>
</file>