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8" d="100"/>
          <a:sy n="58" d="100"/>
        </p:scale>
        <p:origin x="92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6555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6680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00636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5522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5/1/2026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768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5/1/2026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4599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5/1/2026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4649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984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672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038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67740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6085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B52E19-0689-A37D-5EF2-19971C3A4C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25915" y="1006933"/>
            <a:ext cx="2982141" cy="2643264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400" dirty="0"/>
              <a:t>Ensemble Learning (The Power of Crowds)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BC308F-5159-37A3-1542-85712EC2EA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24143" y="4288160"/>
            <a:ext cx="2982141" cy="1364726"/>
          </a:xfrm>
        </p:spPr>
        <p:txBody>
          <a:bodyPr anchor="t"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1500"/>
              <a:t>Why Many Models are Better than One </a:t>
            </a:r>
          </a:p>
          <a:p>
            <a:pPr>
              <a:lnSpc>
                <a:spcPct val="120000"/>
              </a:lnSpc>
            </a:pPr>
            <a:r>
              <a:rPr lang="en-US" sz="1500" b="1"/>
              <a:t>Instructor</a:t>
            </a:r>
            <a:r>
              <a:rPr lang="en-US" sz="1500"/>
              <a:t>: Zaryab Ahmad Khan</a:t>
            </a:r>
          </a:p>
        </p:txBody>
      </p:sp>
      <p:pic>
        <p:nvPicPr>
          <p:cNvPr id="1026" name="Picture 2" descr="Wisdom of Crowd — Ensemble Techniques | by Shubhankit Sirvaiya | AlmaBetter  | Medium">
            <a:extLst>
              <a:ext uri="{FF2B5EF4-FFF2-40B4-BE49-F238E27FC236}">
                <a16:creationId xmlns:a16="http://schemas.microsoft.com/office/drawing/2014/main" id="{EF803C58-144F-5A59-545A-DADF7BFD72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60991" y="1454023"/>
            <a:ext cx="7683988" cy="39956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33" name="Straight Connector 1032">
            <a:extLst>
              <a:ext uri="{FF2B5EF4-FFF2-40B4-BE49-F238E27FC236}">
                <a16:creationId xmlns:a16="http://schemas.microsoft.com/office/drawing/2014/main" id="{87534CB3-4CA5-DDD2-D519-C4A714A689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716943" y="3999192"/>
            <a:ext cx="548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26628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63F27BC-7079-4FF7-8F7C-ABC82FA3C2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AA2EA5-C840-3924-D7C3-4FB289D18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1"/>
            <a:ext cx="4876801" cy="1569516"/>
          </a:xfrm>
        </p:spPr>
        <p:txBody>
          <a:bodyPr anchor="t">
            <a:normAutofit/>
          </a:bodyPr>
          <a:lstStyle/>
          <a:p>
            <a:r>
              <a:rPr lang="en-US" dirty="0"/>
              <a:t>What is Ensemble Learning?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7CF00F8-F0B3-1421-E8EF-1BE2C015DC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232" y="3279229"/>
            <a:ext cx="4806291" cy="2703538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D4E2CDD2-B4DE-611D-2F85-DEF1CCFA553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00799" y="960119"/>
            <a:ext cx="5130210" cy="502266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  <a:buSzTx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The Concept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 It is the idea that 100 average models voting together are significantly more accurate than one highly intelligent model alone. 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  <a:buSzTx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Analogy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 A "Jury" in court. One judge might have a bias, but 12 jurors voting together are more likely to reach a fair verdict. 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  <a:buSzTx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The Goal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 Reduce errors and prevent overfitting by averaging out the mistakes of individual models.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40DBD50-3CB1-A513-2321-1891E3F095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07323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0" name="Rectangle 3079">
            <a:extLst>
              <a:ext uri="{FF2B5EF4-FFF2-40B4-BE49-F238E27FC236}">
                <a16:creationId xmlns:a16="http://schemas.microsoft.com/office/drawing/2014/main" id="{063F27BC-7079-4FF7-8F7C-ABC82FA3C2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55BE76-5A67-3C09-1A4D-FC2CEB679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1"/>
            <a:ext cx="4876801" cy="1569516"/>
          </a:xfrm>
        </p:spPr>
        <p:txBody>
          <a:bodyPr anchor="t">
            <a:normAutofit/>
          </a:bodyPr>
          <a:lstStyle/>
          <a:p>
            <a:r>
              <a:rPr lang="en-US" dirty="0"/>
              <a:t>Random Forest (The Forest for the Trees)</a:t>
            </a:r>
          </a:p>
        </p:txBody>
      </p:sp>
      <p:pic>
        <p:nvPicPr>
          <p:cNvPr id="3075" name="Picture 3" descr="Decision Tree vs Random Forest | Which Is Right for You?">
            <a:extLst>
              <a:ext uri="{FF2B5EF4-FFF2-40B4-BE49-F238E27FC236}">
                <a16:creationId xmlns:a16="http://schemas.microsoft.com/office/drawing/2014/main" id="{07805A88-6EA1-AFEA-3A80-AD75A18A88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13232" y="2857499"/>
            <a:ext cx="4612943" cy="31252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7484FF80-2611-8251-FB62-EC97808ABC4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00799" y="960119"/>
            <a:ext cx="5130210" cy="502266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 fontScale="92500"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  <a:buSzTx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Definition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A Random Forest works by building hundreds of different Decision Trees at the same time. 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  <a:buSzTx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Process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Each tree is trained on a slightly different random slice of the data. 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  <a:buSzTx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Prediction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For classification, the trees "vote" and the majority wins; for regression, the model takes the average of all tree predictions. </a:t>
            </a:r>
          </a:p>
        </p:txBody>
      </p:sp>
      <p:cxnSp>
        <p:nvCxnSpPr>
          <p:cNvPr id="3082" name="Straight Connector 3081">
            <a:extLst>
              <a:ext uri="{FF2B5EF4-FFF2-40B4-BE49-F238E27FC236}">
                <a16:creationId xmlns:a16="http://schemas.microsoft.com/office/drawing/2014/main" id="{540DBD50-3CB1-A513-2321-1891E3F095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26793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4" name="Rectangle 4103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CC1427-28D0-5EDD-9716-2B0246D86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10847494" cy="1171069"/>
          </a:xfrm>
        </p:spPr>
        <p:txBody>
          <a:bodyPr anchor="t">
            <a:normAutofit/>
          </a:bodyPr>
          <a:lstStyle/>
          <a:p>
            <a:r>
              <a:rPr lang="en-US" dirty="0"/>
              <a:t>Feature Importance</a:t>
            </a:r>
          </a:p>
        </p:txBody>
      </p:sp>
      <p:pic>
        <p:nvPicPr>
          <p:cNvPr id="4099" name="Picture 3" descr="Feature importance analysis based on ensemble learning algorithms (A)... |  Download Scientific Diagram">
            <a:extLst>
              <a:ext uri="{FF2B5EF4-FFF2-40B4-BE49-F238E27FC236}">
                <a16:creationId xmlns:a16="http://schemas.microsoft.com/office/drawing/2014/main" id="{5FFD48EF-BDEC-37DC-F342-2C2D88B050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13232" y="2773890"/>
            <a:ext cx="5648193" cy="2725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0935AB80-F275-F7D4-46D1-0CDB3A5F43A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915150" y="2256287"/>
            <a:ext cx="4563618" cy="376045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SzTx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The Question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 "Which columns of my data actually matter?" </a:t>
            </a:r>
          </a:p>
          <a:p>
            <a:pPr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SzTx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The Tool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 Random Forests can mathematically rank which columns of data were the most helpful in making the final decision. </a:t>
            </a:r>
          </a:p>
          <a:p>
            <a:pPr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SzTx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Usage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 This helps us understand the "why" behind a prediction and allows us to remove useless data columns in the future.</a:t>
            </a:r>
          </a:p>
        </p:txBody>
      </p:sp>
      <p:cxnSp>
        <p:nvCxnSpPr>
          <p:cNvPr id="4106" name="Straight Connector 4105">
            <a:extLst>
              <a:ext uri="{FF2B5EF4-FFF2-40B4-BE49-F238E27FC236}">
                <a16:creationId xmlns:a16="http://schemas.microsoft.com/office/drawing/2014/main" id="{2EA0F4A6-3CC9-C9E2-BA02-58FA29F7D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8947395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230</Words>
  <Application>Microsoft Office PowerPoint</Application>
  <PresentationFormat>Widescreen</PresentationFormat>
  <Paragraphs>15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Grandview Display</vt:lpstr>
      <vt:lpstr>DashVTI</vt:lpstr>
      <vt:lpstr>Ensemble Learning (The Power of Crowds) </vt:lpstr>
      <vt:lpstr>What is Ensemble Learning?</vt:lpstr>
      <vt:lpstr>Random Forest (The Forest for the Trees)</vt:lpstr>
      <vt:lpstr>Feature Importance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zaryab ahmad khan</dc:creator>
  <cp:lastModifiedBy>zaryab ahmad khan</cp:lastModifiedBy>
  <cp:revision>3</cp:revision>
  <dcterms:created xsi:type="dcterms:W3CDTF">2026-05-01T10:01:21Z</dcterms:created>
  <dcterms:modified xsi:type="dcterms:W3CDTF">2026-05-01T10:11:46Z</dcterms:modified>
</cp:coreProperties>
</file>