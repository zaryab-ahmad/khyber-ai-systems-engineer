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6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1085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163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0649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9573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1039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559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842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8300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1969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2282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991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375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FAF3766F-DEF3-4802-BB0D-7A18EDD9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97BF41-76D9-02D1-B09B-2F78DD3B83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68" y="841283"/>
            <a:ext cx="3465681" cy="2916472"/>
          </a:xfrm>
        </p:spPr>
        <p:txBody>
          <a:bodyPr anchor="b">
            <a:normAutofit/>
          </a:bodyPr>
          <a:lstStyle/>
          <a:p>
            <a:r>
              <a:rPr lang="en-US" sz="3700">
                <a:solidFill>
                  <a:schemeClr val="tx2"/>
                </a:solidFill>
              </a:rPr>
              <a:t>Evaluating Classification Models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F867B4-21B6-E35D-E9E7-6F24D839A1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7868" y="4078794"/>
            <a:ext cx="3465681" cy="1900842"/>
          </a:xfrm>
        </p:spPr>
        <p:txBody>
          <a:bodyPr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Beyond Accuracy—Knowing When Your Model is Truly Successful</a:t>
            </a:r>
            <a:endParaRPr lang="en-US"/>
          </a:p>
          <a:p>
            <a:pPr>
              <a:lnSpc>
                <a:spcPct val="100000"/>
              </a:lnSpc>
            </a:pPr>
            <a:r>
              <a:rPr lang="en-US" b="1" dirty="0"/>
              <a:t>Instructor</a:t>
            </a:r>
            <a:r>
              <a:rPr lang="en-US" dirty="0"/>
              <a:t>: Zaryab Ahmad Khan</a:t>
            </a:r>
            <a:endParaRPr lang="en-US"/>
          </a:p>
        </p:txBody>
      </p:sp>
      <p:pic>
        <p:nvPicPr>
          <p:cNvPr id="1026" name="Picture 2" descr="Classification evaluation | Nature Methods">
            <a:extLst>
              <a:ext uri="{FF2B5EF4-FFF2-40B4-BE49-F238E27FC236}">
                <a16:creationId xmlns:a16="http://schemas.microsoft.com/office/drawing/2014/main" id="{AB6CD388-2341-DFE0-C205-AC21A6380D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362996" y="1587200"/>
            <a:ext cx="7311136" cy="3582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3" name="Freeform: Shape 1032">
            <a:extLst>
              <a:ext uri="{FF2B5EF4-FFF2-40B4-BE49-F238E27FC236}">
                <a16:creationId xmlns:a16="http://schemas.microsoft.com/office/drawing/2014/main" id="{81F0C179-4DBF-6AB9-CD0B-9224A0C885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6300216"/>
            <a:ext cx="11165482" cy="45719"/>
          </a:xfrm>
          <a:custGeom>
            <a:avLst/>
            <a:gdLst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5021183 w 11165482"/>
              <a:gd name="connsiteY2" fmla="*/ 0 h 45719"/>
              <a:gd name="connsiteX3" fmla="*/ 6144299 w 11165482"/>
              <a:gd name="connsiteY3" fmla="*/ 0 h 45719"/>
              <a:gd name="connsiteX4" fmla="*/ 8715708 w 11165482"/>
              <a:gd name="connsiteY4" fmla="*/ 0 h 45719"/>
              <a:gd name="connsiteX5" fmla="*/ 11165482 w 11165482"/>
              <a:gd name="connsiteY5" fmla="*/ 0 h 45719"/>
              <a:gd name="connsiteX6" fmla="*/ 11165482 w 11165482"/>
              <a:gd name="connsiteY6" fmla="*/ 45719 h 45719"/>
              <a:gd name="connsiteX7" fmla="*/ 8715708 w 11165482"/>
              <a:gd name="connsiteY7" fmla="*/ 45719 h 45719"/>
              <a:gd name="connsiteX8" fmla="*/ 6144299 w 11165482"/>
              <a:gd name="connsiteY8" fmla="*/ 45719 h 45719"/>
              <a:gd name="connsiteX9" fmla="*/ 5021183 w 11165482"/>
              <a:gd name="connsiteY9" fmla="*/ 45719 h 45719"/>
              <a:gd name="connsiteX10" fmla="*/ 3694525 w 11165482"/>
              <a:gd name="connsiteY10" fmla="*/ 45719 h 45719"/>
              <a:gd name="connsiteX11" fmla="*/ 0 w 11165482"/>
              <a:gd name="connsiteY11" fmla="*/ 45719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3694525 w 11165482"/>
              <a:gd name="connsiteY9" fmla="*/ 45719 h 45719"/>
              <a:gd name="connsiteX10" fmla="*/ 0 w 11165482"/>
              <a:gd name="connsiteY10" fmla="*/ 45719 h 45719"/>
              <a:gd name="connsiteX11" fmla="*/ 0 w 11165482"/>
              <a:gd name="connsiteY11" fmla="*/ 0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0 w 11165482"/>
              <a:gd name="connsiteY9" fmla="*/ 45719 h 45719"/>
              <a:gd name="connsiteX10" fmla="*/ 0 w 11165482"/>
              <a:gd name="connsiteY10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6144299 w 11165482"/>
              <a:gd name="connsiteY6" fmla="*/ 45719 h 45719"/>
              <a:gd name="connsiteX7" fmla="*/ 5021183 w 11165482"/>
              <a:gd name="connsiteY7" fmla="*/ 45719 h 45719"/>
              <a:gd name="connsiteX8" fmla="*/ 0 w 11165482"/>
              <a:gd name="connsiteY8" fmla="*/ 45719 h 45719"/>
              <a:gd name="connsiteX9" fmla="*/ 0 w 11165482"/>
              <a:gd name="connsiteY9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5021183 w 11165482"/>
              <a:gd name="connsiteY6" fmla="*/ 45719 h 45719"/>
              <a:gd name="connsiteX7" fmla="*/ 0 w 11165482"/>
              <a:gd name="connsiteY7" fmla="*/ 45719 h 45719"/>
              <a:gd name="connsiteX8" fmla="*/ 0 w 11165482"/>
              <a:gd name="connsiteY8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5021183 w 11165482"/>
              <a:gd name="connsiteY5" fmla="*/ 45719 h 45719"/>
              <a:gd name="connsiteX6" fmla="*/ 0 w 11165482"/>
              <a:gd name="connsiteY6" fmla="*/ 45719 h 45719"/>
              <a:gd name="connsiteX7" fmla="*/ 0 w 11165482"/>
              <a:gd name="connsiteY7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0 w 11165482"/>
              <a:gd name="connsiteY5" fmla="*/ 45719 h 45719"/>
              <a:gd name="connsiteX6" fmla="*/ 0 w 11165482"/>
              <a:gd name="connsiteY6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0 w 11165482"/>
              <a:gd name="connsiteY4" fmla="*/ 45719 h 45719"/>
              <a:gd name="connsiteX5" fmla="*/ 0 w 11165482"/>
              <a:gd name="connsiteY5" fmla="*/ 0 h 45719"/>
              <a:gd name="connsiteX0" fmla="*/ 0 w 11165482"/>
              <a:gd name="connsiteY0" fmla="*/ 0 h 45719"/>
              <a:gd name="connsiteX1" fmla="*/ 11165482 w 11165482"/>
              <a:gd name="connsiteY1" fmla="*/ 0 h 45719"/>
              <a:gd name="connsiteX2" fmla="*/ 11165482 w 11165482"/>
              <a:gd name="connsiteY2" fmla="*/ 45719 h 45719"/>
              <a:gd name="connsiteX3" fmla="*/ 0 w 11165482"/>
              <a:gd name="connsiteY3" fmla="*/ 45719 h 45719"/>
              <a:gd name="connsiteX4" fmla="*/ 0 w 11165482"/>
              <a:gd name="connsiteY4" fmla="*/ 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65482" h="45719">
                <a:moveTo>
                  <a:pt x="0" y="0"/>
                </a:moveTo>
                <a:lnTo>
                  <a:pt x="11165482" y="0"/>
                </a:lnTo>
                <a:lnTo>
                  <a:pt x="11165482" y="45719"/>
                </a:lnTo>
                <a:lnTo>
                  <a:pt x="0" y="45719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5143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D1BDCCC-E676-2A7E-BE11-2B8C23DB2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C8140A-7012-B3C2-2040-A3C156C2C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115568"/>
          </a:xfrm>
        </p:spPr>
        <p:txBody>
          <a:bodyPr>
            <a:normAutofit/>
          </a:bodyPr>
          <a:lstStyle/>
          <a:p>
            <a:r>
              <a:rPr lang="en-US" dirty="0"/>
              <a:t>The Confusion Matrix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781C97B1-8A09-6383-8C65-A3B7357781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230B6C-083B-E0B8-FDB1-DA2C9EB58C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868" y="2308725"/>
            <a:ext cx="5639091" cy="4054173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07F5315C-6375-0444-D9C5-5EA69E4B547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547104" y="2304288"/>
            <a:ext cx="5129784" cy="405079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Definition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A simple 2x2 grid that shows exactly where the model's predictions match the actual data and where it got "confused". 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The Four Quadrants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</a:t>
            </a: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True Positive (TP)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Predicted "Yes," and it was "Yes". </a:t>
            </a: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True Negative (TN)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Predicted "No," and it was "No". </a:t>
            </a: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False Positive (FP)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Predicted "Yes," but it was actually "No" (False Alarm). </a:t>
            </a: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False Negative (FN)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Predicted "No," but it was actually "Yes" (Missed Opportunity).</a:t>
            </a:r>
          </a:p>
        </p:txBody>
      </p:sp>
    </p:spTree>
    <p:extLst>
      <p:ext uri="{BB962C8B-B14F-4D97-AF65-F5344CB8AC3E}">
        <p14:creationId xmlns:p14="http://schemas.microsoft.com/office/powerpoint/2010/main" val="39849233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0" name="Rectangle 3079">
            <a:extLst>
              <a:ext uri="{FF2B5EF4-FFF2-40B4-BE49-F238E27FC236}">
                <a16:creationId xmlns:a16="http://schemas.microsoft.com/office/drawing/2014/main" id="{A082E5AA-6E5F-4FCC-8C41-11E32F833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EF4E25-37A4-20BA-2C09-721294A7D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102352" cy="1664208"/>
          </a:xfrm>
        </p:spPr>
        <p:txBody>
          <a:bodyPr>
            <a:normAutofit/>
          </a:bodyPr>
          <a:lstStyle/>
          <a:p>
            <a:r>
              <a:rPr lang="en-US" sz="4100"/>
              <a:t>Accuracy vs. Precision vs. Recall</a:t>
            </a:r>
          </a:p>
        </p:txBody>
      </p:sp>
      <p:sp>
        <p:nvSpPr>
          <p:cNvPr id="3082" name="Rectangle 3081">
            <a:extLst>
              <a:ext uri="{FF2B5EF4-FFF2-40B4-BE49-F238E27FC236}">
                <a16:creationId xmlns:a16="http://schemas.microsoft.com/office/drawing/2014/main" id="{92BE0106-0C20-465B-A1BE-0BAC2737B1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4" name="Rectangle 3083">
            <a:extLst>
              <a:ext uri="{FF2B5EF4-FFF2-40B4-BE49-F238E27FC236}">
                <a16:creationId xmlns:a16="http://schemas.microsoft.com/office/drawing/2014/main" id="{4A3D569D-D3A6-49CA-A483-291E95DAC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55622" y="612648"/>
            <a:ext cx="551383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5" name="Picture 3" descr="Why Accuracy Can Be Deceptive: A Product Manager's Guide to Precision and  Recall">
            <a:extLst>
              <a:ext uri="{FF2B5EF4-FFF2-40B4-BE49-F238E27FC236}">
                <a16:creationId xmlns:a16="http://schemas.microsoft.com/office/drawing/2014/main" id="{DA6099C9-A0F4-87D6-4826-95E35942B3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17871" y="2642616"/>
            <a:ext cx="5431434" cy="3236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88B4A396-312B-72FD-A01E-1A4B130BFCF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163056" y="978408"/>
            <a:ext cx="5504688" cy="536752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Accuracy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The percentage of total correct guesses. This can be misleading if your dataset is uneven. 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Precision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"When the model says 'Yes,' how often is it right?" Important for avoiding false alarms (e.g., Spam filters). 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Recall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"Out of all the actual 'Yes' cases, how many did the model find?" 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The Priority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In medical screening, 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Recall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is more important because missing a sick person (False Negative) is dangerous.</a:t>
            </a:r>
          </a:p>
        </p:txBody>
      </p:sp>
    </p:spTree>
    <p:extLst>
      <p:ext uri="{BB962C8B-B14F-4D97-AF65-F5344CB8AC3E}">
        <p14:creationId xmlns:p14="http://schemas.microsoft.com/office/powerpoint/2010/main" val="3632905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5" name="Rectangle 4104">
            <a:extLst>
              <a:ext uri="{FF2B5EF4-FFF2-40B4-BE49-F238E27FC236}">
                <a16:creationId xmlns:a16="http://schemas.microsoft.com/office/drawing/2014/main" id="{A082E5AA-6E5F-4FCC-8C41-11E32F833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8C1455-6DA1-EA4E-D54C-8E2183F6A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102352" cy="1664208"/>
          </a:xfrm>
        </p:spPr>
        <p:txBody>
          <a:bodyPr>
            <a:normAutofit/>
          </a:bodyPr>
          <a:lstStyle/>
          <a:p>
            <a:r>
              <a:rPr lang="en-US" dirty="0"/>
              <a:t>The F1-Score</a:t>
            </a:r>
          </a:p>
        </p:txBody>
      </p:sp>
      <p:sp>
        <p:nvSpPr>
          <p:cNvPr id="4107" name="Rectangle 4106">
            <a:extLst>
              <a:ext uri="{FF2B5EF4-FFF2-40B4-BE49-F238E27FC236}">
                <a16:creationId xmlns:a16="http://schemas.microsoft.com/office/drawing/2014/main" id="{92BE0106-0C20-465B-A1BE-0BAC2737B1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09" name="Rectangle 4108">
            <a:extLst>
              <a:ext uri="{FF2B5EF4-FFF2-40B4-BE49-F238E27FC236}">
                <a16:creationId xmlns:a16="http://schemas.microsoft.com/office/drawing/2014/main" id="{4A3D569D-D3A6-49CA-A483-291E95DAC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55622" y="612648"/>
            <a:ext cx="551383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00" name="Picture 4" descr="F-Score Definition | DeepAI">
            <a:extLst>
              <a:ext uri="{FF2B5EF4-FFF2-40B4-BE49-F238E27FC236}">
                <a16:creationId xmlns:a16="http://schemas.microsoft.com/office/drawing/2014/main" id="{F0FEF308-2DC4-0FD9-F338-6C38559760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33203" y="2834640"/>
            <a:ext cx="4681728" cy="3511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1">
                <a:extLst>
                  <a:ext uri="{FF2B5EF4-FFF2-40B4-BE49-F238E27FC236}">
                    <a16:creationId xmlns:a16="http://schemas.microsoft.com/office/drawing/2014/main" id="{8E15662D-44BB-8372-8E1F-427E6B8AA2E9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 bwMode="auto">
              <a:xfrm>
                <a:off x="6163056" y="978408"/>
                <a:ext cx="5504688" cy="5367528"/>
              </a:xfrm>
              <a:prstGeom prst="rect">
                <a:avLst/>
              </a:prstGeom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lIns="91440" tIns="45720" rIns="91440" bIns="45720" numCol="1" anchorCtr="0" compatLnSpc="1">
                <a:prstTxWarp prst="textNoShape">
                  <a:avLst/>
                </a:prstTxWarp>
                <a:normAutofit/>
              </a:bodyPr>
              <a:lstStyle/>
              <a:p>
                <a:pPr marL="0" marR="0" lvl="0" indent="0" defTabSz="914400" rtl="0" eaLnBrk="0" fontAlgn="base" latinLnBrk="0" hangingPunct="0"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b="1" i="0" u="none" strike="noStrike" cap="none" normalizeH="0" baseline="0">
                    <a:ln>
                      <a:noFill/>
                    </a:ln>
                    <a:effectLst/>
                    <a:latin typeface="Arial" panose="020B0604020202020204" pitchFamily="34" charset="0"/>
                  </a:rPr>
                  <a:t>Concept</a:t>
                </a:r>
                <a:r>
                  <a:rPr kumimoji="0" lang="en-US" altLang="en-US" b="0" i="0" u="none" strike="noStrike" cap="none" normalizeH="0" baseline="0">
                    <a:ln>
                      <a:noFill/>
                    </a:ln>
                    <a:effectLst/>
                    <a:latin typeface="Arial" panose="020B0604020202020204" pitchFamily="34" charset="0"/>
                  </a:rPr>
                  <a:t>: A combined score that balances both Precision and Recall into a single number. </a:t>
                </a:r>
              </a:p>
              <a:p>
                <a:pPr marL="0" marR="0" lvl="0" indent="0" defTabSz="914400" rtl="0" eaLnBrk="0" fontAlgn="base" latinLnBrk="0" hangingPunct="0"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b="1" i="0" u="none" strike="noStrike" cap="none" normalizeH="0" baseline="0">
                    <a:ln>
                      <a:noFill/>
                    </a:ln>
                    <a:effectLst/>
                    <a:latin typeface="Arial" panose="020B0604020202020204" pitchFamily="34" charset="0"/>
                  </a:rPr>
                  <a:t>Usage</a:t>
                </a:r>
                <a:r>
                  <a:rPr kumimoji="0" lang="en-US" altLang="en-US" b="0" i="0" u="none" strike="noStrike" cap="none" normalizeH="0" baseline="0">
                    <a:ln>
                      <a:noFill/>
                    </a:ln>
                    <a:effectLst/>
                    <a:latin typeface="Arial" panose="020B0604020202020204" pitchFamily="34" charset="0"/>
                  </a:rPr>
                  <a:t>: Use this when you have an uneven dataset (e.g., 99% of people are healthy, and only 1% are sick). </a:t>
                </a:r>
              </a:p>
              <a:p>
                <a:pPr marL="0" marR="0" lvl="0" indent="0" defTabSz="914400" rtl="0" eaLnBrk="0" fontAlgn="base" latinLnBrk="0" hangingPunct="0"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b="1" i="0" u="none" strike="noStrike" cap="none" normalizeH="0" baseline="0">
                    <a:ln>
                      <a:noFill/>
                    </a:ln>
                    <a:effectLst/>
                    <a:latin typeface="Arial" panose="020B0604020202020204" pitchFamily="34" charset="0"/>
                  </a:rPr>
                  <a:t>Formula</a:t>
                </a:r>
                <a:r>
                  <a:rPr kumimoji="0" lang="en-US" altLang="en-US" b="0" i="0" u="none" strike="noStrike" cap="none" normalizeH="0" baseline="0">
                    <a:ln>
                      <a:noFill/>
                    </a:ln>
                    <a:effectLst/>
                    <a:latin typeface="Arial" panose="020B0604020202020204" pitchFamily="34" charset="0"/>
                  </a:rPr>
                  <a:t>:</a:t>
                </a:r>
              </a:p>
              <a:p>
                <a:pPr marL="457200" lvl="1" indent="0" eaLnBrk="0" fontAlgn="base" hangingPunct="0">
                  <a:spcBef>
                    <a:spcPct val="0"/>
                  </a:spcBef>
                  <a:spcAft>
                    <a:spcPts val="600"/>
                  </a:spcAft>
                  <a:buFontTx/>
                  <a:buChar char="•"/>
                </a:pPr>
                <a14:m>
                  <m:oMath xmlns:m="http://schemas.openxmlformats.org/officeDocument/2006/math">
                    <m:r>
                      <a:rPr kumimoji="0" lang="en-US" b="0" i="1" u="none" strike="noStrike" cap="none" normalizeH="0" baseline="0" smtClean="0">
                        <a:ln>
                          <a:noFill/>
                        </a:ln>
                        <a:effectLst/>
                        <a:latin typeface="Cambria Math" panose="02040503050406030204" pitchFamily="18" charset="0"/>
                      </a:rPr>
                      <m:t>                   </m:t>
                    </m:r>
                    <m:r>
                      <a:rPr kumimoji="0" lang="en-US" b="0" i="1" u="none" strike="noStrike" cap="none" normalizeH="0" baseline="0" smtClean="0">
                        <a:ln>
                          <a:noFill/>
                        </a:ln>
                        <a:effectLst/>
                        <a:latin typeface="Cambria Math" panose="02040503050406030204" pitchFamily="18" charset="0"/>
                      </a:rPr>
                      <m:t>𝐹</m:t>
                    </m:r>
                    <m:r>
                      <a:rPr kumimoji="0" lang="en-US" b="0" i="1" u="none" strike="noStrike" cap="none" normalizeH="0" baseline="0" smtClean="0">
                        <a:ln>
                          <a:noFill/>
                        </a:ln>
                        <a:effectLst/>
                        <a:latin typeface="Cambria Math" panose="02040503050406030204" pitchFamily="18" charset="0"/>
                      </a:rPr>
                      <m:t>1=2⋅</m:t>
                    </m:r>
                    <m:f>
                      <m:fPr>
                        <m:ctrlPr>
                          <a:rPr kumimoji="0" lang="en-US" b="0" i="1" u="none" strike="noStrike" cap="none" normalizeH="0" baseline="0" smtClean="0">
                            <a:ln>
                              <a:noFill/>
                            </a:ln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0" lang="en-US" b="0" i="1" u="none" strike="noStrike" cap="none" normalizeH="0" baseline="0" smtClean="0">
                            <a:ln>
                              <a:noFill/>
                            </a:ln>
                            <a:effectLst/>
                            <a:latin typeface="Cambria Math" panose="02040503050406030204" pitchFamily="18" charset="0"/>
                          </a:rPr>
                          <m:t>𝑃𝑟𝑒𝑐𝑖𝑠𝑖𝑜𝑛</m:t>
                        </m:r>
                        <m:r>
                          <a:rPr kumimoji="0" lang="en-US" b="0" i="1" u="none" strike="noStrike" cap="none" normalizeH="0" baseline="0" smtClean="0">
                            <a:ln>
                              <a:noFill/>
                            </a:ln>
                            <a:effectLst/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kumimoji="0" lang="en-US" b="0" i="1" u="none" strike="noStrike" cap="none" normalizeH="0" baseline="0" smtClean="0">
                            <a:ln>
                              <a:noFill/>
                            </a:ln>
                            <a:effectLst/>
                            <a:latin typeface="Cambria Math" panose="02040503050406030204" pitchFamily="18" charset="0"/>
                          </a:rPr>
                          <m:t>𝑅𝑒𝑐𝑎𝑙𝑙</m:t>
                        </m:r>
                      </m:num>
                      <m:den>
                        <m:r>
                          <a:rPr kumimoji="0" lang="en-US" b="0" i="1" u="none" strike="noStrike" cap="none" normalizeH="0" baseline="0" smtClean="0">
                            <a:ln>
                              <a:noFill/>
                            </a:ln>
                            <a:effectLst/>
                            <a:latin typeface="Cambria Math" panose="02040503050406030204" pitchFamily="18" charset="0"/>
                          </a:rPr>
                          <m:t>𝑃𝑟𝑒𝑐𝑖𝑠𝑖𝑜𝑛</m:t>
                        </m:r>
                        <m:r>
                          <a:rPr kumimoji="0" lang="en-US" b="0" i="1" u="none" strike="noStrike" cap="none" normalizeH="0" baseline="0" smtClean="0">
                            <a:ln>
                              <a:noFill/>
                            </a:ln>
                            <a:effectLst/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kumimoji="0" lang="en-US" b="0" i="1" u="none" strike="noStrike" cap="none" normalizeH="0" baseline="0" smtClean="0">
                            <a:ln>
                              <a:noFill/>
                            </a:ln>
                            <a:effectLst/>
                            <a:latin typeface="Cambria Math" panose="02040503050406030204" pitchFamily="18" charset="0"/>
                          </a:rPr>
                          <m:t>𝑅𝑒𝑐𝑎𝑙𝑙</m:t>
                        </m:r>
                      </m:den>
                    </m:f>
                  </m:oMath>
                </a14:m>
                <a:endParaRPr kumimoji="0" lang="en-US" altLang="en-US" b="0" i="0" u="none" strike="noStrike" cap="none" normalizeH="0" baseline="0">
                  <a:ln>
                    <a:noFill/>
                  </a:ln>
                  <a:effectLst/>
                  <a:latin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4" name="Rectangle 1">
                <a:extLst>
                  <a:ext uri="{FF2B5EF4-FFF2-40B4-BE49-F238E27FC236}">
                    <a16:creationId xmlns:a16="http://schemas.microsoft.com/office/drawing/2014/main" id="{8E15662D-44BB-8372-8E1F-427E6B8AA2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6163056" y="978408"/>
                <a:ext cx="5504688" cy="5367528"/>
              </a:xfrm>
              <a:prstGeom prst="rect">
                <a:avLst/>
              </a:prstGeom>
              <a:blipFill>
                <a:blip r:embed="rId3"/>
                <a:stretch>
                  <a:fillRect l="-886" t="-568" r="-886"/>
                </a:stretch>
              </a:blipFill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102" name="Picture 6" descr="Model Metrics Guide: F1, ROC, &amp; More | Medium">
            <a:extLst>
              <a:ext uri="{FF2B5EF4-FFF2-40B4-BE49-F238E27FC236}">
                <a16:creationId xmlns:a16="http://schemas.microsoft.com/office/drawing/2014/main" id="{9CF628A5-D3AF-3658-E983-AFB81E8913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9984" y="3702231"/>
            <a:ext cx="3505108" cy="27942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3571585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269</Words>
  <Application>Microsoft Office PowerPoint</Application>
  <PresentationFormat>Widescreen</PresentationFormat>
  <Paragraphs>20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Bierstadt</vt:lpstr>
      <vt:lpstr>Cambria Math</vt:lpstr>
      <vt:lpstr>GestaltVTI</vt:lpstr>
      <vt:lpstr>Evaluating Classification Models</vt:lpstr>
      <vt:lpstr>The Confusion Matrix</vt:lpstr>
      <vt:lpstr>Accuracy vs. Precision vs. Recall</vt:lpstr>
      <vt:lpstr>The F1-Score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zaryab ahmad khan</dc:creator>
  <cp:lastModifiedBy>zaryab ahmad khan</cp:lastModifiedBy>
  <cp:revision>4</cp:revision>
  <dcterms:created xsi:type="dcterms:W3CDTF">2026-05-01T07:16:56Z</dcterms:created>
  <dcterms:modified xsi:type="dcterms:W3CDTF">2026-05-01T07:33:01Z</dcterms:modified>
</cp:coreProperties>
</file>