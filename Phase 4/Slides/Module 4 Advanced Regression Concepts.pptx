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7" d="100"/>
          <a:sy n="57" d="100"/>
        </p:scale>
        <p:origin x="12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211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669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699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946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479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328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128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510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384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204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673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896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223B85F9-9CA8-2B5F-4522-0B5D742E72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E86FF3-438F-ED1D-ABE9-C4FC7CA963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2720" y="1293963"/>
            <a:ext cx="4998300" cy="2459052"/>
          </a:xfrm>
        </p:spPr>
        <p:txBody>
          <a:bodyPr>
            <a:normAutofit/>
          </a:bodyPr>
          <a:lstStyle/>
          <a:p>
            <a:pPr algn="l"/>
            <a:r>
              <a:rPr lang="en-US" sz="4800"/>
              <a:t>Advanced Regression Concepts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0D7CBD-C1CC-F0E3-0E6F-AF27765F8A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2718" y="3874545"/>
            <a:ext cx="4998301" cy="1492585"/>
          </a:xfrm>
        </p:spPr>
        <p:txBody>
          <a:bodyPr>
            <a:normAutofit/>
          </a:bodyPr>
          <a:lstStyle/>
          <a:p>
            <a:pPr algn="l"/>
            <a:r>
              <a:rPr lang="en-US" sz="2000"/>
              <a:t>Bending the Rules and Taming the Algorithm</a:t>
            </a:r>
          </a:p>
          <a:p>
            <a:pPr algn="l"/>
            <a:r>
              <a:rPr lang="en-US" sz="2000" b="1"/>
              <a:t>Instructor:</a:t>
            </a:r>
            <a:r>
              <a:rPr lang="en-US" sz="2000"/>
              <a:t> Zaryab Ahmad Khan</a:t>
            </a:r>
          </a:p>
        </p:txBody>
      </p:sp>
      <p:pic>
        <p:nvPicPr>
          <p:cNvPr id="1026" name="Picture 2" descr="Applications of advanced regression techniques in business... | Fiveable">
            <a:extLst>
              <a:ext uri="{FF2B5EF4-FFF2-40B4-BE49-F238E27FC236}">
                <a16:creationId xmlns:a16="http://schemas.microsoft.com/office/drawing/2014/main" id="{5713814C-68DD-524D-90B0-E4AA4CAB0A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5638" y="1137523"/>
            <a:ext cx="5310996" cy="4474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4788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6" name="Rectangle 2055">
            <a:extLst>
              <a:ext uri="{FF2B5EF4-FFF2-40B4-BE49-F238E27FC236}">
                <a16:creationId xmlns:a16="http://schemas.microsoft.com/office/drawing/2014/main" id="{8207B083-EAC0-A5BB-C369-C9589EC7F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A7D974-FBA5-8CAD-23FE-F9E75E168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03504"/>
            <a:ext cx="10872216" cy="1527048"/>
          </a:xfrm>
        </p:spPr>
        <p:txBody>
          <a:bodyPr anchor="b">
            <a:normAutofit/>
          </a:bodyPr>
          <a:lstStyle/>
          <a:p>
            <a:r>
              <a:rPr lang="en-US" dirty="0"/>
              <a:t>Polynomial Regression (Bending the Line)</a:t>
            </a:r>
          </a:p>
        </p:txBody>
      </p:sp>
      <p:pic>
        <p:nvPicPr>
          <p:cNvPr id="2051" name="Picture 3" descr="Polynomial Regression in Machine Learning">
            <a:extLst>
              <a:ext uri="{FF2B5EF4-FFF2-40B4-BE49-F238E27FC236}">
                <a16:creationId xmlns:a16="http://schemas.microsoft.com/office/drawing/2014/main" id="{A13601DD-26F6-624A-3C38-D3B2FD77A9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4678" y="2441274"/>
            <a:ext cx="5173647" cy="3401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DC82F10B-4586-9B13-EF57-A98B8287F4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0" y="2441273"/>
            <a:ext cx="5385816" cy="381794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The Problem: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 Standard Linear Regression assumes data moves in a straight, predictable line. Real-world data (like viral spread, compound interest, or engine heat) often curves.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The Solution: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 Polynomial Regression. We add "curves" to our math equation.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Concept: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 Instead of just predicting based on X, we allow the model to learn from X^2 or X^3, letting the line of best fit physically bend to follow the data points.</a:t>
            </a:r>
            <a:endParaRPr kumimoji="0" lang="en-US" altLang="en-US" sz="18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5141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0" name="Rectangle 3079">
            <a:extLst>
              <a:ext uri="{FF2B5EF4-FFF2-40B4-BE49-F238E27FC236}">
                <a16:creationId xmlns:a16="http://schemas.microsoft.com/office/drawing/2014/main" id="{8207B083-EAC0-A5BB-C369-C9589EC7F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4767DD-89EB-6B97-15D6-6F162B4D4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03504"/>
            <a:ext cx="10872216" cy="1527048"/>
          </a:xfrm>
        </p:spPr>
        <p:txBody>
          <a:bodyPr anchor="b">
            <a:normAutofit/>
          </a:bodyPr>
          <a:lstStyle/>
          <a:p>
            <a:r>
              <a:rPr lang="en-US" dirty="0"/>
              <a:t>Overfitting vs. Underfitting (The Goldilocks Problem)</a:t>
            </a:r>
          </a:p>
        </p:txBody>
      </p:sp>
      <p:pic>
        <p:nvPicPr>
          <p:cNvPr id="3075" name="Picture 3" descr="What Is Overfitting in Machine Learning?Overfitting in ML Explained Simply  with Real Ex. | M005 | by Mehul Ligade | Towards AI">
            <a:extLst>
              <a:ext uri="{FF2B5EF4-FFF2-40B4-BE49-F238E27FC236}">
                <a16:creationId xmlns:a16="http://schemas.microsoft.com/office/drawing/2014/main" id="{D22ED79A-5FC6-39D0-7CB7-53B0A855BB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4678" y="2441274"/>
            <a:ext cx="5173647" cy="3453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FA486AE9-B72E-0F53-792F-D1D3A262A8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0" y="2441273"/>
            <a:ext cx="5385816" cy="381794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Underfitting (Too Simple):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The model is a straight line trying to fit a curved dataset. It learns nothing useful and performs poorly on both training and testing data.</a:t>
            </a: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Overfitting (Too Complex):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The model connects every single dot perfectly. It has "memorized" the training data but will fail completely when given new, unseen data.</a:t>
            </a: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Sweet Spot: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A model that captures the general trend without stressing over every tiny outlier.</a:t>
            </a:r>
          </a:p>
        </p:txBody>
      </p:sp>
    </p:spTree>
    <p:extLst>
      <p:ext uri="{BB962C8B-B14F-4D97-AF65-F5344CB8AC3E}">
        <p14:creationId xmlns:p14="http://schemas.microsoft.com/office/powerpoint/2010/main" val="4179330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6" name="Rectangle 4105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BA0A10-238C-85F1-1C7F-C1119B575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869597"/>
            <a:ext cx="4621553" cy="1360728"/>
          </a:xfrm>
        </p:spPr>
        <p:txBody>
          <a:bodyPr anchor="b">
            <a:normAutofit/>
          </a:bodyPr>
          <a:lstStyle/>
          <a:p>
            <a:r>
              <a:rPr lang="en-US" dirty="0"/>
              <a:t>Regularization (Ridge &amp; Lasso)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45F551B-A069-D9BC-8299-AE021A6F543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2648" y="2584058"/>
            <a:ext cx="4621553" cy="378328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Concept: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Algorithms are greedy; they naturally want to overfit to get a "perfect" score. Regularization is a mathematical technique that gently "punishes" the model for getting too complex.</a:t>
            </a: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Ridge Regression (L2):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Shrinks the importance of less useful columns but keeps them in the equation.</a:t>
            </a: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Lasso Regression (L1):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The aggressive approach. It forces the importance of useless columns completely to zero, effectively deleting them and keeping the model simple.</a:t>
            </a:r>
          </a:p>
        </p:txBody>
      </p:sp>
      <p:pic>
        <p:nvPicPr>
          <p:cNvPr id="4099" name="Picture 3" descr="Lasso &amp; Ridge Regression” in 200 Words - Data Science">
            <a:extLst>
              <a:ext uri="{FF2B5EF4-FFF2-40B4-BE49-F238E27FC236}">
                <a16:creationId xmlns:a16="http://schemas.microsoft.com/office/drawing/2014/main" id="{327C4DD3-45DA-DDF6-3A16-F0F9364447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691261" y="1989451"/>
            <a:ext cx="5837780" cy="2879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3537099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292</Words>
  <Application>Microsoft Office PowerPoint</Application>
  <PresentationFormat>Widescreen</PresentationFormat>
  <Paragraphs>15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Google Sans Text</vt:lpstr>
      <vt:lpstr>Neue Haas Grotesk Text Pro</vt:lpstr>
      <vt:lpstr>VanillaVTI</vt:lpstr>
      <vt:lpstr>Advanced Regression Concepts</vt:lpstr>
      <vt:lpstr>Polynomial Regression (Bending the Line)</vt:lpstr>
      <vt:lpstr>Overfitting vs. Underfitting (The Goldilocks Problem)</vt:lpstr>
      <vt:lpstr>Regularization (Ridge &amp; Lasso)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4</cp:revision>
  <dcterms:created xsi:type="dcterms:W3CDTF">2026-05-01T06:20:44Z</dcterms:created>
  <dcterms:modified xsi:type="dcterms:W3CDTF">2026-05-01T06:37:53Z</dcterms:modified>
</cp:coreProperties>
</file>