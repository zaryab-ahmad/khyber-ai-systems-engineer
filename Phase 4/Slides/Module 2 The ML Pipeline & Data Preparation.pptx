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7" d="100"/>
          <a:sy n="57" d="100"/>
        </p:scale>
        <p:origin x="1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82070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06217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4360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53145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71961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28708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53270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90112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99609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16603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8370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5/1/2026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847480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E0C80C-8F93-AE17-5ACB-E5612C277380}"/>
              </a:ext>
            </a:extLst>
          </p:cNvPr>
          <p:cNvSpPr>
            <a:spLocks noGrp="1"/>
          </p:cNvSpPr>
          <p:nvPr>
            <p:ph type="ctrTitle"/>
          </p:nvPr>
        </p:nvSpPr>
        <p:spPr>
          <a:xfrm>
            <a:off x="517869" y="978409"/>
            <a:ext cx="6126480" cy="1643880"/>
          </a:xfrm>
        </p:spPr>
        <p:txBody>
          <a:bodyPr anchor="t">
            <a:normAutofit/>
          </a:bodyPr>
          <a:lstStyle/>
          <a:p>
            <a:r>
              <a:rPr lang="en-US" sz="4800"/>
              <a:t>The ML Pipeline &amp; Data Preparation</a:t>
            </a:r>
          </a:p>
        </p:txBody>
      </p:sp>
      <p:sp>
        <p:nvSpPr>
          <p:cNvPr id="4" name="Rectangle 1">
            <a:extLst>
              <a:ext uri="{FF2B5EF4-FFF2-40B4-BE49-F238E27FC236}">
                <a16:creationId xmlns:a16="http://schemas.microsoft.com/office/drawing/2014/main" id="{039F8D33-6BBA-07DA-E9E2-B2AA53C3AC93}"/>
              </a:ext>
            </a:extLst>
          </p:cNvPr>
          <p:cNvSpPr>
            <a:spLocks noGrp="1" noChangeArrowheads="1"/>
          </p:cNvSpPr>
          <p:nvPr>
            <p:ph type="subTitle" idx="1"/>
          </p:nvPr>
        </p:nvSpPr>
        <p:spPr bwMode="auto">
          <a:xfrm>
            <a:off x="7728379" y="971399"/>
            <a:ext cx="3964772" cy="16438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tabLst/>
            </a:pPr>
            <a:r>
              <a:rPr kumimoji="0" lang="en-US" altLang="en-US" b="0" i="0" u="none" strike="noStrike" cap="none" normalizeH="0" baseline="0" dirty="0">
                <a:ln>
                  <a:noFill/>
                </a:ln>
                <a:effectLst/>
                <a:latin typeface="Arial" panose="020B0604020202020204" pitchFamily="34" charset="0"/>
              </a:rPr>
              <a:t>Getting Real-World Data Ready for the Algorithm</a:t>
            </a:r>
          </a:p>
          <a:p>
            <a:pPr marL="0" marR="0" lvl="0" indent="0" defTabSz="914400" rtl="0" eaLnBrk="0" fontAlgn="base" latinLnBrk="0" hangingPunct="0">
              <a:spcBef>
                <a:spcPct val="0"/>
              </a:spcBef>
              <a:spcAft>
                <a:spcPts val="600"/>
              </a:spcAft>
              <a:buClrTx/>
              <a:buSzTx/>
              <a:tabLst/>
            </a:pPr>
            <a:r>
              <a:rPr kumimoji="0" lang="en-US" altLang="en-US" b="1" i="0" u="none" strike="noStrike" cap="none" normalizeH="0" baseline="0" dirty="0">
                <a:ln>
                  <a:noFill/>
                </a:ln>
                <a:effectLst/>
                <a:latin typeface="Arial" panose="020B0604020202020204" pitchFamily="34" charset="0"/>
              </a:rPr>
              <a:t>Instructor:</a:t>
            </a:r>
            <a:r>
              <a:rPr kumimoji="0" lang="en-US" altLang="en-US" b="0" i="0" u="none" strike="noStrike" cap="none" normalizeH="0" baseline="0" dirty="0">
                <a:ln>
                  <a:noFill/>
                </a:ln>
                <a:effectLst/>
                <a:latin typeface="Arial" panose="020B0604020202020204" pitchFamily="34" charset="0"/>
              </a:rPr>
              <a:t> Zaryab Ahmad Khan</a:t>
            </a:r>
          </a:p>
        </p:txBody>
      </p:sp>
      <p:sp>
        <p:nvSpPr>
          <p:cNvPr id="18" name="Rectangle 17">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4C7F386-A972-9ED7-C153-F0E509682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8379" y="610900"/>
            <a:ext cx="393922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01FFBE7D-9266-4006-90F6-DC0622DA1A93}"/>
              </a:ext>
            </a:extLst>
          </p:cNvPr>
          <p:cNvPicPr>
            <a:picLocks noChangeAspect="1"/>
          </p:cNvPicPr>
          <p:nvPr/>
        </p:nvPicPr>
        <p:blipFill>
          <a:blip r:embed="rId2">
            <a:extLst>
              <a:ext uri="{28A0092B-C50C-407E-A947-70E740481C1C}">
                <a14:useLocalDpi xmlns:a14="http://schemas.microsoft.com/office/drawing/2010/main" val="0"/>
              </a:ext>
            </a:extLst>
          </a:blip>
          <a:srcRect r="1" b="17225"/>
          <a:stretch>
            <a:fillRect/>
          </a:stretch>
        </p:blipFill>
        <p:spPr>
          <a:xfrm>
            <a:off x="517871" y="2867025"/>
            <a:ext cx="11185082" cy="3471974"/>
          </a:xfrm>
          <a:prstGeom prst="rect">
            <a:avLst/>
          </a:prstGeom>
        </p:spPr>
      </p:pic>
    </p:spTree>
    <p:extLst>
      <p:ext uri="{BB962C8B-B14F-4D97-AF65-F5344CB8AC3E}">
        <p14:creationId xmlns:p14="http://schemas.microsoft.com/office/powerpoint/2010/main" val="217072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4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6" name="Rectangle 205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833520-4751-D4E7-BBAF-C08393CB7AC6}"/>
              </a:ext>
            </a:extLst>
          </p:cNvPr>
          <p:cNvSpPr>
            <a:spLocks noGrp="1"/>
          </p:cNvSpPr>
          <p:nvPr>
            <p:ph type="title"/>
          </p:nvPr>
        </p:nvSpPr>
        <p:spPr>
          <a:xfrm>
            <a:off x="521208" y="978408"/>
            <a:ext cx="6300216" cy="1325880"/>
          </a:xfrm>
        </p:spPr>
        <p:txBody>
          <a:bodyPr>
            <a:normAutofit/>
          </a:bodyPr>
          <a:lstStyle/>
          <a:p>
            <a:pPr>
              <a:lnSpc>
                <a:spcPct val="90000"/>
              </a:lnSpc>
            </a:pPr>
            <a:r>
              <a:rPr lang="en-US" dirty="0"/>
              <a:t>The Train / Test Split (The Golden Rule)</a:t>
            </a:r>
            <a:endParaRPr lang="en-US"/>
          </a:p>
        </p:txBody>
      </p:sp>
      <p:sp>
        <p:nvSpPr>
          <p:cNvPr id="2058" name="Rectangle 205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2051" name="Picture 3" descr="Train - Test Split for Model Evaluation">
            <a:extLst>
              <a:ext uri="{FF2B5EF4-FFF2-40B4-BE49-F238E27FC236}">
                <a16:creationId xmlns:a16="http://schemas.microsoft.com/office/drawing/2014/main" id="{C4CB5043-67FE-684C-16E7-D613D3629ED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67" y="2812419"/>
            <a:ext cx="6281928" cy="353358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34548A34-0385-5038-1EA5-541C59CC552A}"/>
              </a:ext>
            </a:extLst>
          </p:cNvPr>
          <p:cNvSpPr>
            <a:spLocks noGrp="1" noChangeArrowheads="1"/>
          </p:cNvSpPr>
          <p:nvPr>
            <p:ph idx="1"/>
          </p:nvPr>
        </p:nvSpPr>
        <p:spPr bwMode="auto">
          <a:xfrm>
            <a:off x="7507224" y="1088136"/>
            <a:ext cx="4160520" cy="52578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eaLnBrk="0" fontAlgn="base" hangingPunct="0">
              <a:spcBef>
                <a:spcPct val="0"/>
              </a:spcBef>
              <a:spcAft>
                <a:spcPts val="600"/>
              </a:spcAft>
            </a:pPr>
            <a:r>
              <a:rPr kumimoji="0" lang="en-US" altLang="en-US" sz="2400" b="1" i="0" u="none" strike="noStrike" cap="none" normalizeH="0" baseline="0" dirty="0">
                <a:ln>
                  <a:noFill/>
                </a:ln>
                <a:effectLst/>
                <a:latin typeface="Arial" panose="020B0604020202020204" pitchFamily="34" charset="0"/>
              </a:rPr>
              <a:t>Concept:</a:t>
            </a:r>
            <a:r>
              <a:rPr kumimoji="0" lang="en-US" altLang="en-US" sz="2400" b="0" i="0" u="none" strike="noStrike" cap="none" normalizeH="0" baseline="0" dirty="0">
                <a:ln>
                  <a:noFill/>
                </a:ln>
                <a:effectLst/>
                <a:latin typeface="Arial" panose="020B0604020202020204" pitchFamily="34" charset="0"/>
              </a:rPr>
              <a:t> Never test the AI on the data it used to learn. It’s like giving a student the exact exam paper to study from—they will just memorize it, not learn the concepts.</a:t>
            </a:r>
          </a:p>
          <a:p>
            <a:pPr eaLnBrk="0" fontAlgn="base" hangingPunct="0">
              <a:spcBef>
                <a:spcPct val="0"/>
              </a:spcBef>
              <a:spcAft>
                <a:spcPts val="600"/>
              </a:spcAft>
            </a:pPr>
            <a:r>
              <a:rPr kumimoji="0" lang="en-US" altLang="en-US" sz="2400" b="1" i="0" u="none" strike="noStrike" cap="none" normalizeH="0" baseline="0" dirty="0">
                <a:ln>
                  <a:noFill/>
                </a:ln>
                <a:effectLst/>
                <a:latin typeface="Arial" panose="020B0604020202020204" pitchFamily="34" charset="0"/>
              </a:rPr>
              <a:t>The Standard Split:</a:t>
            </a:r>
            <a:endParaRPr kumimoji="0" lang="en-US" altLang="en-US" sz="2400" b="0" i="0" u="none" strike="noStrike" cap="none" normalizeH="0" baseline="0" dirty="0">
              <a:ln>
                <a:noFill/>
              </a:ln>
              <a:effectLst/>
              <a:latin typeface="Arial" panose="020B0604020202020204" pitchFamily="34" charset="0"/>
            </a:endParaRPr>
          </a:p>
          <a:p>
            <a:pPr lvl="1" eaLnBrk="0" fontAlgn="base" hangingPunct="0">
              <a:spcBef>
                <a:spcPct val="0"/>
              </a:spcBef>
              <a:spcAft>
                <a:spcPts val="600"/>
              </a:spcAft>
            </a:pPr>
            <a:r>
              <a:rPr kumimoji="0" lang="en-US" altLang="en-US" sz="2000" b="1" i="0" u="none" strike="noStrike" cap="none" normalizeH="0" baseline="0" dirty="0">
                <a:ln>
                  <a:noFill/>
                </a:ln>
                <a:effectLst/>
                <a:latin typeface="Arial" panose="020B0604020202020204" pitchFamily="34" charset="0"/>
              </a:rPr>
              <a:t>80% Training Data:</a:t>
            </a:r>
            <a:r>
              <a:rPr kumimoji="0" lang="en-US" altLang="en-US" sz="2000" b="0" i="0" u="none" strike="noStrike" cap="none" normalizeH="0" baseline="0" dirty="0">
                <a:ln>
                  <a:noFill/>
                </a:ln>
                <a:effectLst/>
                <a:latin typeface="Arial" panose="020B0604020202020204" pitchFamily="34" charset="0"/>
              </a:rPr>
              <a:t> Used to teach the model.</a:t>
            </a:r>
          </a:p>
          <a:p>
            <a:pPr lvl="1" eaLnBrk="0" fontAlgn="base" hangingPunct="0">
              <a:spcBef>
                <a:spcPct val="0"/>
              </a:spcBef>
              <a:spcAft>
                <a:spcPts val="600"/>
              </a:spcAft>
            </a:pPr>
            <a:r>
              <a:rPr kumimoji="0" lang="en-US" altLang="en-US" sz="2000" b="1" i="0" u="none" strike="noStrike" cap="none" normalizeH="0" baseline="0" dirty="0">
                <a:ln>
                  <a:noFill/>
                </a:ln>
                <a:effectLst/>
                <a:latin typeface="Arial" panose="020B0604020202020204" pitchFamily="34" charset="0"/>
              </a:rPr>
              <a:t>20% Testing Data:</a:t>
            </a:r>
            <a:r>
              <a:rPr kumimoji="0" lang="en-US" altLang="en-US" sz="2000" b="0" i="0" u="none" strike="noStrike" cap="none" normalizeH="0" baseline="0" dirty="0">
                <a:ln>
                  <a:noFill/>
                </a:ln>
                <a:effectLst/>
                <a:latin typeface="Arial" panose="020B0604020202020204" pitchFamily="34" charset="0"/>
              </a:rPr>
              <a:t> Kept completely secret until the end to evaluate true performance.</a:t>
            </a:r>
          </a:p>
        </p:txBody>
      </p:sp>
    </p:spTree>
    <p:extLst>
      <p:ext uri="{BB962C8B-B14F-4D97-AF65-F5344CB8AC3E}">
        <p14:creationId xmlns:p14="http://schemas.microsoft.com/office/powerpoint/2010/main" val="2565178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BF8152B-FE92-71EF-7E68-5336EE43E73E}"/>
              </a:ext>
            </a:extLst>
          </p:cNvPr>
          <p:cNvSpPr>
            <a:spLocks noGrp="1"/>
          </p:cNvSpPr>
          <p:nvPr>
            <p:ph type="title"/>
          </p:nvPr>
        </p:nvSpPr>
        <p:spPr>
          <a:xfrm>
            <a:off x="521208" y="978408"/>
            <a:ext cx="11155680" cy="1463040"/>
          </a:xfrm>
        </p:spPr>
        <p:txBody>
          <a:bodyPr>
            <a:normAutofit/>
          </a:bodyPr>
          <a:lstStyle/>
          <a:p>
            <a:r>
              <a:rPr lang="en-US" dirty="0"/>
              <a:t>Feature Scaling (Leveling the Playing Field)</a:t>
            </a:r>
          </a:p>
        </p:txBody>
      </p:sp>
      <p:sp>
        <p:nvSpPr>
          <p:cNvPr id="3087" name="Freeform: Shape 3086">
            <a:extLst>
              <a:ext uri="{FF2B5EF4-FFF2-40B4-BE49-F238E27FC236}">
                <a16:creationId xmlns:a16="http://schemas.microsoft.com/office/drawing/2014/main" id="{0F583F60-6F8B-B498-CB88-B1AA0648AC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ectangle 1">
            <a:extLst>
              <a:ext uri="{FF2B5EF4-FFF2-40B4-BE49-F238E27FC236}">
                <a16:creationId xmlns:a16="http://schemas.microsoft.com/office/drawing/2014/main" id="{6B196D35-7106-CB46-B6F9-A83BEA288E83}"/>
              </a:ext>
            </a:extLst>
          </p:cNvPr>
          <p:cNvSpPr>
            <a:spLocks noGrp="1" noChangeArrowheads="1"/>
          </p:cNvSpPr>
          <p:nvPr>
            <p:ph idx="1"/>
          </p:nvPr>
        </p:nvSpPr>
        <p:spPr bwMode="auto">
          <a:xfrm>
            <a:off x="521208" y="2578608"/>
            <a:ext cx="5020056" cy="376732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1" i="0" u="none" strike="noStrike" cap="none" normalizeH="0" baseline="0">
                <a:ln>
                  <a:noFill/>
                </a:ln>
                <a:effectLst/>
                <a:latin typeface="Arial" panose="020B0604020202020204" pitchFamily="34" charset="0"/>
              </a:rPr>
              <a:t>The Problem:</a:t>
            </a:r>
            <a:r>
              <a:rPr kumimoji="0" lang="en-US" altLang="en-US" b="0" i="0" u="none" strike="noStrike" cap="none" normalizeH="0" baseline="0">
                <a:ln>
                  <a:noFill/>
                </a:ln>
                <a:effectLst/>
                <a:latin typeface="Arial" panose="020B0604020202020204" pitchFamily="34" charset="0"/>
              </a:rPr>
              <a:t> Algorithms process numbers blindly. If your dataset has "Age" (ranging from 18 to 60) and "Salary" (ranging from 50,000 to 200,000), the AI might think "Salary" is mathematically more important just because the numbers are bigger.</a:t>
            </a:r>
          </a:p>
          <a:p>
            <a:pPr eaLnBrk="0" fontAlgn="base" hangingPunct="0">
              <a:spcBef>
                <a:spcPct val="0"/>
              </a:spcBef>
              <a:spcAft>
                <a:spcPts val="600"/>
              </a:spcAft>
            </a:pPr>
            <a:r>
              <a:rPr kumimoji="0" lang="en-US" altLang="en-US" b="1" i="0" u="none" strike="noStrike" cap="none" normalizeH="0" baseline="0">
                <a:ln>
                  <a:noFill/>
                </a:ln>
                <a:effectLst/>
                <a:latin typeface="Arial" panose="020B0604020202020204" pitchFamily="34" charset="0"/>
              </a:rPr>
              <a:t>The Solution:</a:t>
            </a:r>
            <a:r>
              <a:rPr kumimoji="0" lang="en-US" altLang="en-US" b="0" i="0" u="none" strike="noStrike" cap="none" normalizeH="0" baseline="0">
                <a:ln>
                  <a:noFill/>
                </a:ln>
                <a:effectLst/>
                <a:latin typeface="Arial" panose="020B0604020202020204" pitchFamily="34" charset="0"/>
              </a:rPr>
              <a:t> Standardization/Normalization. We shrink all columns down to a similar scale (e.g., between 0 and 1, or around a mean of 0) so the model treats every feature fairly.</a:t>
            </a:r>
          </a:p>
        </p:txBody>
      </p:sp>
      <p:pic>
        <p:nvPicPr>
          <p:cNvPr id="7" name="Picture 6">
            <a:extLst>
              <a:ext uri="{FF2B5EF4-FFF2-40B4-BE49-F238E27FC236}">
                <a16:creationId xmlns:a16="http://schemas.microsoft.com/office/drawing/2014/main" id="{3D8AC55F-F70D-2AD1-CFA2-B5E0FD89F0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4391" y="2578608"/>
            <a:ext cx="2852928" cy="2631825"/>
          </a:xfrm>
          <a:prstGeom prst="rect">
            <a:avLst/>
          </a:prstGeom>
        </p:spPr>
      </p:pic>
      <p:pic>
        <p:nvPicPr>
          <p:cNvPr id="3075" name="Picture 3" descr="Simple explanation of Feature Scaling: Scale to Succeed! | by Prajwal  Srinivas | Medium">
            <a:extLst>
              <a:ext uri="{FF2B5EF4-FFF2-40B4-BE49-F238E27FC236}">
                <a16:creationId xmlns:a16="http://schemas.microsoft.com/office/drawing/2014/main" id="{16BED11A-FFE6-17A0-EDEE-8135496E93D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817864" y="2819782"/>
            <a:ext cx="2852928" cy="187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8722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4" name="Rectangle 4103">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1D83F31-BC0E-A159-16A1-A9EE50B05A3C}"/>
              </a:ext>
            </a:extLst>
          </p:cNvPr>
          <p:cNvSpPr>
            <a:spLocks noGrp="1"/>
          </p:cNvSpPr>
          <p:nvPr>
            <p:ph type="title"/>
          </p:nvPr>
        </p:nvSpPr>
        <p:spPr>
          <a:xfrm>
            <a:off x="521208" y="978408"/>
            <a:ext cx="6300216" cy="1325880"/>
          </a:xfrm>
        </p:spPr>
        <p:txBody>
          <a:bodyPr>
            <a:normAutofit/>
          </a:bodyPr>
          <a:lstStyle/>
          <a:p>
            <a:pPr>
              <a:lnSpc>
                <a:spcPct val="90000"/>
              </a:lnSpc>
            </a:pPr>
            <a:r>
              <a:rPr lang="en-US" dirty="0"/>
              <a:t>Handling Categorical Data (Translating Text)</a:t>
            </a:r>
            <a:endParaRPr lang="en-US"/>
          </a:p>
        </p:txBody>
      </p:sp>
      <p:sp>
        <p:nvSpPr>
          <p:cNvPr id="4106" name="Rectangle 4105">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8" name="Rectangle 4107">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099" name="Picture 3" descr="How to handle Categorical Features in Machine Learning : A Practical Guide  | by Pranjali Deshmukh | Medium">
            <a:extLst>
              <a:ext uri="{FF2B5EF4-FFF2-40B4-BE49-F238E27FC236}">
                <a16:creationId xmlns:a16="http://schemas.microsoft.com/office/drawing/2014/main" id="{CF3BB944-C2E3-BB7D-F1C7-34F498137FD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67" y="2429691"/>
            <a:ext cx="5867135" cy="391631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63CDEEBA-A4E1-43EE-01D0-2D0301C5358F}"/>
              </a:ext>
            </a:extLst>
          </p:cNvPr>
          <p:cNvSpPr>
            <a:spLocks noGrp="1" noChangeArrowheads="1"/>
          </p:cNvSpPr>
          <p:nvPr>
            <p:ph idx="1"/>
          </p:nvPr>
        </p:nvSpPr>
        <p:spPr bwMode="auto">
          <a:xfrm>
            <a:off x="7507224" y="1088136"/>
            <a:ext cx="4160520" cy="52578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eaLnBrk="0" fontAlgn="base" hangingPunct="0">
              <a:spcBef>
                <a:spcPct val="0"/>
              </a:spcBef>
              <a:spcAft>
                <a:spcPts val="600"/>
              </a:spcAft>
            </a:pPr>
            <a:r>
              <a:rPr kumimoji="0" lang="en-US" altLang="en-US" sz="2000" b="1" i="0" u="none" strike="noStrike" cap="none" normalizeH="0" baseline="0" dirty="0">
                <a:ln>
                  <a:noFill/>
                </a:ln>
                <a:effectLst/>
                <a:latin typeface="Arial" panose="020B0604020202020204" pitchFamily="34" charset="0"/>
              </a:rPr>
              <a:t>The Problem:</a:t>
            </a:r>
            <a:r>
              <a:rPr kumimoji="0" lang="en-US" altLang="en-US" sz="2000" b="0" i="0" u="none" strike="noStrike" cap="none" normalizeH="0" baseline="0" dirty="0">
                <a:ln>
                  <a:noFill/>
                </a:ln>
                <a:effectLst/>
                <a:latin typeface="Arial" panose="020B0604020202020204" pitchFamily="34" charset="0"/>
              </a:rPr>
              <a:t> Machine Learning models are essentially complex math equations. You cannot multiply the word "Peshawar" by a weight.</a:t>
            </a:r>
          </a:p>
          <a:p>
            <a:pPr eaLnBrk="0" fontAlgn="base" hangingPunct="0">
              <a:spcBef>
                <a:spcPct val="0"/>
              </a:spcBef>
              <a:spcAft>
                <a:spcPts val="600"/>
              </a:spcAft>
            </a:pPr>
            <a:r>
              <a:rPr kumimoji="0" lang="en-US" altLang="en-US" sz="2000" b="1" i="0" u="none" strike="noStrike" cap="none" normalizeH="0" baseline="0" dirty="0">
                <a:ln>
                  <a:noFill/>
                </a:ln>
                <a:effectLst/>
                <a:latin typeface="Arial" panose="020B0604020202020204" pitchFamily="34" charset="0"/>
              </a:rPr>
              <a:t>The Solution:</a:t>
            </a:r>
            <a:endParaRPr kumimoji="0" lang="en-US" altLang="en-US" sz="2000" b="0" i="0" u="none" strike="noStrike" cap="none" normalizeH="0" baseline="0" dirty="0">
              <a:ln>
                <a:noFill/>
              </a:ln>
              <a:effectLst/>
              <a:latin typeface="Arial" panose="020B0604020202020204" pitchFamily="34" charset="0"/>
            </a:endParaRPr>
          </a:p>
          <a:p>
            <a:pPr lvl="1" eaLnBrk="0" fontAlgn="base" hangingPunct="0">
              <a:spcBef>
                <a:spcPct val="0"/>
              </a:spcBef>
              <a:spcAft>
                <a:spcPts val="600"/>
              </a:spcAft>
            </a:pPr>
            <a:r>
              <a:rPr kumimoji="0" lang="en-US" altLang="en-US" sz="1800" b="1" i="0" u="none" strike="noStrike" cap="none" normalizeH="0" baseline="0" dirty="0">
                <a:ln>
                  <a:noFill/>
                </a:ln>
                <a:effectLst/>
                <a:latin typeface="Arial" panose="020B0604020202020204" pitchFamily="34" charset="0"/>
              </a:rPr>
              <a:t>Label Encoding:</a:t>
            </a:r>
            <a:r>
              <a:rPr kumimoji="0" lang="en-US" altLang="en-US" sz="1800" b="0" i="0" u="none" strike="noStrike" cap="none" normalizeH="0" baseline="0" dirty="0">
                <a:ln>
                  <a:noFill/>
                </a:ln>
                <a:effectLst/>
                <a:latin typeface="Arial" panose="020B0604020202020204" pitchFamily="34" charset="0"/>
              </a:rPr>
              <a:t> Converting text to simple numbers (e.g., Yes = 1, No = 0).</a:t>
            </a:r>
          </a:p>
          <a:p>
            <a:pPr lvl="1" eaLnBrk="0" fontAlgn="base" hangingPunct="0">
              <a:spcBef>
                <a:spcPct val="0"/>
              </a:spcBef>
              <a:spcAft>
                <a:spcPts val="600"/>
              </a:spcAft>
            </a:pPr>
            <a:r>
              <a:rPr kumimoji="0" lang="en-US" altLang="en-US" sz="1800" b="1" i="0" u="none" strike="noStrike" cap="none" normalizeH="0" baseline="0" dirty="0">
                <a:ln>
                  <a:noFill/>
                </a:ln>
                <a:effectLst/>
                <a:latin typeface="Arial" panose="020B0604020202020204" pitchFamily="34" charset="0"/>
              </a:rPr>
              <a:t>One-Hot Encoding:</a:t>
            </a:r>
            <a:r>
              <a:rPr kumimoji="0" lang="en-US" altLang="en-US" sz="1800" b="0" i="0" u="none" strike="noStrike" cap="none" normalizeH="0" baseline="0" dirty="0">
                <a:ln>
                  <a:noFill/>
                </a:ln>
                <a:effectLst/>
                <a:latin typeface="Arial" panose="020B0604020202020204" pitchFamily="34" charset="0"/>
              </a:rPr>
              <a:t> Creating new binary columns for categories (e.g., </a:t>
            </a:r>
            <a:r>
              <a:rPr kumimoji="0" lang="en-US" altLang="en-US" sz="1800" b="0" i="0" u="none" strike="noStrike" cap="none" normalizeH="0" baseline="0" dirty="0" err="1">
                <a:ln>
                  <a:noFill/>
                </a:ln>
                <a:effectLst/>
                <a:latin typeface="Arial Unicode MS"/>
              </a:rPr>
              <a:t>is_Peshawar</a:t>
            </a:r>
            <a:r>
              <a:rPr kumimoji="0" lang="en-US" altLang="en-US" sz="1800" b="0" i="0" u="none" strike="noStrike" cap="none" normalizeH="0" baseline="0" dirty="0">
                <a:ln>
                  <a:noFill/>
                </a:ln>
                <a:effectLst/>
              </a:rPr>
              <a:t>, </a:t>
            </a:r>
            <a:r>
              <a:rPr kumimoji="0" lang="en-US" altLang="en-US" sz="1800" b="0" i="0" u="none" strike="noStrike" cap="none" normalizeH="0" baseline="0" dirty="0" err="1">
                <a:ln>
                  <a:noFill/>
                </a:ln>
                <a:effectLst/>
                <a:latin typeface="Arial Unicode MS"/>
              </a:rPr>
              <a:t>is_Mardan</a:t>
            </a:r>
            <a:r>
              <a:rPr kumimoji="0" lang="en-US" altLang="en-US" sz="1800" b="0" i="0" u="none" strike="noStrike" cap="none" normalizeH="0" baseline="0" dirty="0">
                <a:ln>
                  <a:noFill/>
                </a:ln>
                <a:effectLst/>
              </a:rPr>
              <a:t>) to prevent the model from thinking Mardan (encoded as 2) is "twice as big" as Peshawar (encoded as 1).</a:t>
            </a: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545255973"/>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17</TotalTime>
  <Words>299</Words>
  <Application>Microsoft Office PowerPoint</Application>
  <PresentationFormat>Widescreen</PresentationFormat>
  <Paragraphs>16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Arial Unicode MS</vt:lpstr>
      <vt:lpstr>Bierstadt</vt:lpstr>
      <vt:lpstr>GestaltVTI</vt:lpstr>
      <vt:lpstr>The ML Pipeline &amp; Data Preparation</vt:lpstr>
      <vt:lpstr>The Train / Test Split (The Golden Rule)</vt:lpstr>
      <vt:lpstr>Feature Scaling (Leveling the Playing Field)</vt:lpstr>
      <vt:lpstr>Handling Categorical Data (Translating Text)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6</cp:revision>
  <dcterms:created xsi:type="dcterms:W3CDTF">2026-05-01T05:30:57Z</dcterms:created>
  <dcterms:modified xsi:type="dcterms:W3CDTF">2026-05-01T05:48:22Z</dcterms:modified>
</cp:coreProperties>
</file>