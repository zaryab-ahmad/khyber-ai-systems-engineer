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pPr algn="l"/>
            <a:fld id="{0DCFB061-4267-4D9F-8017-6F550D3068DF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537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064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ABC0C-B6DF-45E9-B954-11C99AA62C3E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603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B71B9-2624-4F21-93EE-35A78B1A0DAD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432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37C2A-BE2E-4840-A907-3254E2916C96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376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220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63A0F-DEF3-4134-98D0-2E1276938A8B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608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fld id="{61A2E4C8-2960-4ADD-862C-4D9643CB15AC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070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fld id="{48BDEA15-09CD-4275-A8E0-385C965F48B0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977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BC61-5547-4A60-8DA1-6699760D9972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252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24B9D1C6-60D0-4CD1-8F31-F912522EB041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170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AF8082C-0922-4249-A612-B415F5231620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244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A164D6B-6878-4B9F-A2D0-985D39B17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4738AB-B6BE-4867-889A-52CE4AC8D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095508"/>
            <a:ext cx="4668819" cy="50168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89749-AA8B-C564-492C-85082DDCB3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825" y="1709530"/>
            <a:ext cx="3754671" cy="2528515"/>
          </a:xfrm>
        </p:spPr>
        <p:txBody>
          <a:bodyPr anchor="b">
            <a:normAutofit/>
          </a:bodyPr>
          <a:lstStyle/>
          <a:p>
            <a:r>
              <a:rPr lang="en-US" sz="3100">
                <a:solidFill>
                  <a:schemeClr val="bg1"/>
                </a:solidFill>
              </a:rPr>
              <a:t>Introduction to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44C6BA-72B5-BA7D-0474-F84F59A96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8166" y="4238046"/>
            <a:ext cx="3806919" cy="1741404"/>
          </a:xfrm>
        </p:spPr>
        <p:txBody>
          <a:bodyPr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400">
                <a:solidFill>
                  <a:schemeClr val="bg1"/>
                </a:solidFill>
              </a:rPr>
              <a:t>Moving from "Follow Instructions" to "Learn Patterns“</a:t>
            </a:r>
          </a:p>
          <a:p>
            <a:pPr>
              <a:lnSpc>
                <a:spcPct val="140000"/>
              </a:lnSpc>
            </a:pPr>
            <a:endParaRPr lang="en-US" sz="1400">
              <a:solidFill>
                <a:schemeClr val="bg1"/>
              </a:solidFill>
            </a:endParaRPr>
          </a:p>
          <a:p>
            <a:pPr>
              <a:lnSpc>
                <a:spcPct val="140000"/>
              </a:lnSpc>
            </a:pPr>
            <a:r>
              <a:rPr lang="en-US" sz="1400" b="1">
                <a:solidFill>
                  <a:schemeClr val="bg1"/>
                </a:solidFill>
              </a:rPr>
              <a:t>Instructor:</a:t>
            </a:r>
            <a:r>
              <a:rPr lang="en-US" sz="1400">
                <a:solidFill>
                  <a:schemeClr val="bg1"/>
                </a:solidFill>
              </a:rPr>
              <a:t> Zaryab Ahmad Khan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D49B71-B686-4DFD-93AD-40CB19B62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72066" y="0"/>
            <a:ext cx="7519934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861A5F-59DE-C159-980C-5347946C3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285" y="1390087"/>
            <a:ext cx="6236248" cy="442773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C60369F-A41B-4D6E-8990-30E2715C5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6534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46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B1CCE3-FB1D-471C-9AFE-D20E81E64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825689"/>
            <a:ext cx="6795928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D2069A-335D-D7BB-8EA5-B4AD65581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622" y="1113327"/>
            <a:ext cx="4862811" cy="201948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The ML Landscape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0F38E87-6AF8-4488-B608-9FA2F57B4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89697"/>
            <a:ext cx="1070775" cy="2466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CC3B76D-CC6E-42D0-8666-2A2164AB5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355896"/>
            <a:ext cx="679399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2BA9D6C-8214-4E25-AF8B-48762AD8D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9" y="3419903"/>
            <a:ext cx="5789163" cy="3438097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BE9B8BD-472F-4F54-AC9D-101EE3496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871A14F-64B0-4CCE-900E-695C55EFF3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25689"/>
            <a:ext cx="679399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FA6D1E-EA95-F18C-AA7A-3A98328782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34622" y="3707541"/>
            <a:ext cx="5117253" cy="284517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Traditional Programming: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You write the rules (If/Else). The computer follows them. </a:t>
            </a:r>
          </a:p>
          <a:p>
            <a:pPr marL="285750" marR="0" lvl="0" indent="-28575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Machine Learning: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You show the computer examples (Data + Answers). The computer writes the rules. </a:t>
            </a:r>
          </a:p>
          <a:p>
            <a:pPr marL="285750" marR="0" lvl="0" indent="-28575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Analogy: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Teaching a child to recognize a cat by describing it (Traditional) vs. showing them 1,000 photos of cats (ML).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FDBC76A-295F-4635-A28D-ADA24F383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7A7E7E-C18A-07EC-9833-18CB705B39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569" y="1531899"/>
            <a:ext cx="4362798" cy="373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362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18" name="Rectangle 3117">
            <a:extLst>
              <a:ext uri="{FF2B5EF4-FFF2-40B4-BE49-F238E27FC236}">
                <a16:creationId xmlns:a16="http://schemas.microsoft.com/office/drawing/2014/main" id="{C3B59E90-C2E6-4C7B-B62A-9A39E4D1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0" name="Rectangle 3119">
            <a:extLst>
              <a:ext uri="{FF2B5EF4-FFF2-40B4-BE49-F238E27FC236}">
                <a16:creationId xmlns:a16="http://schemas.microsoft.com/office/drawing/2014/main" id="{F41B2979-9B0F-4F3C-A912-A0A5339D7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16940"/>
            <a:ext cx="1000102" cy="422446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22" name="Rectangle 3121">
            <a:extLst>
              <a:ext uri="{FF2B5EF4-FFF2-40B4-BE49-F238E27FC236}">
                <a16:creationId xmlns:a16="http://schemas.microsoft.com/office/drawing/2014/main" id="{0D88D065-482C-41CF-99A2-50EFB1B94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1626" y="1616940"/>
            <a:ext cx="11190374" cy="418256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07969C-0EB8-AEFA-CFB1-CE5BCAC7E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170" y="1680947"/>
            <a:ext cx="5408670" cy="1054972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000" dirty="0"/>
              <a:t>Supervised Learning (The Guided Path)</a:t>
            </a:r>
          </a:p>
        </p:txBody>
      </p:sp>
      <p:sp>
        <p:nvSpPr>
          <p:cNvPr id="3124" name="Rectangle 3123">
            <a:extLst>
              <a:ext uri="{FF2B5EF4-FFF2-40B4-BE49-F238E27FC236}">
                <a16:creationId xmlns:a16="http://schemas.microsoft.com/office/drawing/2014/main" id="{E0B15B07-5DFC-49A7-83E7-33AE560DD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89632" y="3669992"/>
            <a:ext cx="422452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6" name="Rectangle 3125">
            <a:extLst>
              <a:ext uri="{FF2B5EF4-FFF2-40B4-BE49-F238E27FC236}">
                <a16:creationId xmlns:a16="http://schemas.microsoft.com/office/drawing/2014/main" id="{23E1A6E1-A101-407D-9872-0506425C7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4974" y="0"/>
            <a:ext cx="4667026" cy="16316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8" name="Rectangle 3127">
            <a:extLst>
              <a:ext uri="{FF2B5EF4-FFF2-40B4-BE49-F238E27FC236}">
                <a16:creationId xmlns:a16="http://schemas.microsoft.com/office/drawing/2014/main" id="{E49E4F89-BD43-4E3D-88E8-6C7E8AA9F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157405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1BA8B5-B5FC-B43C-1B90-01911B0D34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65170" y="2735919"/>
            <a:ext cx="5426595" cy="28275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285750" marR="0" lvl="0" indent="-28575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Concept: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Learning with a "Teacher". </a:t>
            </a:r>
          </a:p>
          <a:p>
            <a:pPr marL="285750" marR="0" lvl="0" indent="-28575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 Type: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Labeled (Input + Target Answer). </a:t>
            </a:r>
          </a:p>
          <a:p>
            <a:pPr marL="285750" marR="0" lvl="0" indent="-28575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Real-World Use: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285750" lvl="2" indent="-28575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	Predicting house prices based on square footage. </a:t>
            </a:r>
          </a:p>
          <a:p>
            <a:pPr marL="285750" lvl="3" indent="-28575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	Identifying if a medical scan shows a tumor or not. 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3075" name="Picture 3" descr="A Comprehensive Guide to Supervised Learning | Encord">
            <a:extLst>
              <a:ext uri="{FF2B5EF4-FFF2-40B4-BE49-F238E27FC236}">
                <a16:creationId xmlns:a16="http://schemas.microsoft.com/office/drawing/2014/main" id="{BF7778F5-6E97-57C9-1F57-88EF0F8B7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34745" y="2562657"/>
            <a:ext cx="3668998" cy="2320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30" name="Rectangle 3129">
            <a:extLst>
              <a:ext uri="{FF2B5EF4-FFF2-40B4-BE49-F238E27FC236}">
                <a16:creationId xmlns:a16="http://schemas.microsoft.com/office/drawing/2014/main" id="{71153701-84AC-48F8-BF95-FD091301A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842394"/>
            <a:ext cx="7498081" cy="1009249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2" name="Rectangle 3131">
            <a:extLst>
              <a:ext uri="{FF2B5EF4-FFF2-40B4-BE49-F238E27FC236}">
                <a16:creationId xmlns:a16="http://schemas.microsoft.com/office/drawing/2014/main" id="{025FF1E9-6522-482B-A20C-EA7AF7CAA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9808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4" name="Rectangle 3133">
            <a:extLst>
              <a:ext uri="{FF2B5EF4-FFF2-40B4-BE49-F238E27FC236}">
                <a16:creationId xmlns:a16="http://schemas.microsoft.com/office/drawing/2014/main" id="{760CEDF7-1225-4242-8C30-EA518372A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579950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847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4" name="Rectangle 4103">
            <a:extLst>
              <a:ext uri="{FF2B5EF4-FFF2-40B4-BE49-F238E27FC236}">
                <a16:creationId xmlns:a16="http://schemas.microsoft.com/office/drawing/2014/main" id="{C3B59E90-C2E6-4C7B-B62A-9A39E4D1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6" name="Rectangle 4105">
            <a:extLst>
              <a:ext uri="{FF2B5EF4-FFF2-40B4-BE49-F238E27FC236}">
                <a16:creationId xmlns:a16="http://schemas.microsoft.com/office/drawing/2014/main" id="{F41B2979-9B0F-4F3C-A912-A0A5339D7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16940"/>
            <a:ext cx="1000102" cy="422446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08" name="Rectangle 4107">
            <a:extLst>
              <a:ext uri="{FF2B5EF4-FFF2-40B4-BE49-F238E27FC236}">
                <a16:creationId xmlns:a16="http://schemas.microsoft.com/office/drawing/2014/main" id="{0D88D065-482C-41CF-99A2-50EFB1B94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1626" y="1616940"/>
            <a:ext cx="11190374" cy="418256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D65E6D-0974-6506-3294-65BC5114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170" y="1574051"/>
            <a:ext cx="5408670" cy="1054972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000" dirty="0"/>
              <a:t>Unsupervised Learning (The Explorer)</a:t>
            </a:r>
          </a:p>
        </p:txBody>
      </p:sp>
      <p:sp>
        <p:nvSpPr>
          <p:cNvPr id="4110" name="Rectangle 4109">
            <a:extLst>
              <a:ext uri="{FF2B5EF4-FFF2-40B4-BE49-F238E27FC236}">
                <a16:creationId xmlns:a16="http://schemas.microsoft.com/office/drawing/2014/main" id="{E0B15B07-5DFC-49A7-83E7-33AE560DD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89632" y="3669992"/>
            <a:ext cx="422452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2" name="Rectangle 4111">
            <a:extLst>
              <a:ext uri="{FF2B5EF4-FFF2-40B4-BE49-F238E27FC236}">
                <a16:creationId xmlns:a16="http://schemas.microsoft.com/office/drawing/2014/main" id="{23E1A6E1-A101-407D-9872-0506425C7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4974" y="0"/>
            <a:ext cx="4667026" cy="16316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4" name="Rectangle 4113">
            <a:extLst>
              <a:ext uri="{FF2B5EF4-FFF2-40B4-BE49-F238E27FC236}">
                <a16:creationId xmlns:a16="http://schemas.microsoft.com/office/drawing/2014/main" id="{E49E4F89-BD43-4E3D-88E8-6C7E8AA9F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157405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489496-049E-8785-24BF-DCA99DF786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65170" y="2629024"/>
            <a:ext cx="5426595" cy="30116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285750" marR="0" lvl="0" indent="-28575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Concept: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Finding "Hidden Structure" without help. </a:t>
            </a:r>
          </a:p>
          <a:p>
            <a:pPr marL="285750" marR="0" lvl="0" indent="-28575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 Type: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Unlabeled (Input only). </a:t>
            </a:r>
          </a:p>
          <a:p>
            <a:pPr marL="285750" marR="0" lvl="0" indent="-28575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Real-World Use: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285750" lvl="1" indent="-28575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Customer Segmentation: Grouping shoppers by spending habits. </a:t>
            </a:r>
          </a:p>
          <a:p>
            <a:pPr marL="285750" lvl="1" indent="-28575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Anomaly Detection: Finding unusual bank transactions.</a:t>
            </a:r>
          </a:p>
        </p:txBody>
      </p:sp>
      <p:pic>
        <p:nvPicPr>
          <p:cNvPr id="4099" name="Picture 3" descr="Unsupervised learning">
            <a:extLst>
              <a:ext uri="{FF2B5EF4-FFF2-40B4-BE49-F238E27FC236}">
                <a16:creationId xmlns:a16="http://schemas.microsoft.com/office/drawing/2014/main" id="{08405741-D6AA-F0EF-C71C-1A184FB83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51072" y="2423712"/>
            <a:ext cx="4527980" cy="2546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6" name="Rectangle 4115">
            <a:extLst>
              <a:ext uri="{FF2B5EF4-FFF2-40B4-BE49-F238E27FC236}">
                <a16:creationId xmlns:a16="http://schemas.microsoft.com/office/drawing/2014/main" id="{71153701-84AC-48F8-BF95-FD091301A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842394"/>
            <a:ext cx="7498081" cy="1009249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8" name="Rectangle 4117">
            <a:extLst>
              <a:ext uri="{FF2B5EF4-FFF2-40B4-BE49-F238E27FC236}">
                <a16:creationId xmlns:a16="http://schemas.microsoft.com/office/drawing/2014/main" id="{025FF1E9-6522-482B-A20C-EA7AF7CAA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9808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0" name="Rectangle 4119">
            <a:extLst>
              <a:ext uri="{FF2B5EF4-FFF2-40B4-BE49-F238E27FC236}">
                <a16:creationId xmlns:a16="http://schemas.microsoft.com/office/drawing/2014/main" id="{760CEDF7-1225-4242-8C30-EA518372A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579950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832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9557D-1E6C-1910-2F77-3CE0EAC9A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924777"/>
            <a:ext cx="3611029" cy="1862345"/>
          </a:xfrm>
        </p:spPr>
        <p:txBody>
          <a:bodyPr>
            <a:normAutofit/>
          </a:bodyPr>
          <a:lstStyle/>
          <a:p>
            <a:r>
              <a:rPr lang="en-US" dirty="0"/>
              <a:t>Why Scikit-Learn?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62F6F0-03C0-F83A-AC5C-9FAF43CD2A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7874" y="2934455"/>
            <a:ext cx="3616073" cy="29987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285750" marR="0" lvl="0" indent="-28575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Standardization: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Use the same "Fit/Predict" workflow for almost any model. </a:t>
            </a:r>
          </a:p>
          <a:p>
            <a:pPr marL="285750" marR="0" lvl="0" indent="-28575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Efficiency: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Built on NumPy and SciPy for high performance. </a:t>
            </a:r>
          </a:p>
          <a:p>
            <a:pPr marL="285750" marR="0" lvl="0" indent="-28575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Community: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 most documented ML library in the world.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0DD3BF-5DB8-4FF0-AED5-300BB7CB3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8714" y="1433944"/>
            <a:ext cx="6514470" cy="399011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17172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219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Meiryo</vt:lpstr>
      <vt:lpstr>Arial</vt:lpstr>
      <vt:lpstr>Corbel</vt:lpstr>
      <vt:lpstr>Wingdings</vt:lpstr>
      <vt:lpstr>ShojiVTI</vt:lpstr>
      <vt:lpstr>Introduction to Machine Learning</vt:lpstr>
      <vt:lpstr>The ML Landscape</vt:lpstr>
      <vt:lpstr>Supervised Learning (The Guided Path)</vt:lpstr>
      <vt:lpstr>Unsupervised Learning (The Explorer)</vt:lpstr>
      <vt:lpstr>Why Scikit-Learn?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7</cp:revision>
  <dcterms:created xsi:type="dcterms:W3CDTF">2026-05-01T05:03:40Z</dcterms:created>
  <dcterms:modified xsi:type="dcterms:W3CDTF">2026-05-01T05:19:14Z</dcterms:modified>
</cp:coreProperties>
</file>