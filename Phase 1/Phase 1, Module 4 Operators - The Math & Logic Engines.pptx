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90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5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4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0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06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1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2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6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2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2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9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uturism.com/predicting-2017-the-rise-of-synthetic-intelligence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Video 3" descr="Math And Science Formulas">
            <a:extLst>
              <a:ext uri="{FF2B5EF4-FFF2-40B4-BE49-F238E27FC236}">
                <a16:creationId xmlns:a16="http://schemas.microsoft.com/office/drawing/2014/main" id="{6F53DC2F-AE17-92E1-3603-A2CF4B9B4F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59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F719E-1005-DDB0-2024-F2DB0CD97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62067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>
                <a:solidFill>
                  <a:srgbClr val="FFFFFF"/>
                </a:solidFill>
              </a:rPr>
              <a:t>Phase 1, Module 4: Operators &amp; Logic Engines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42919-4ED2-BB0F-84BE-D2DEED429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1086" y="3599078"/>
            <a:ext cx="6272065" cy="2337903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</a:rPr>
              <a:t>Khyber AI Systems Engineer (KASE)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</a:rPr>
              <a:t>Welcome to Module 4. An AI is just a massive calculator making logical decisions millions of times per second. Today, we learn the mathematical and logical operators that drive those decisions.</a:t>
            </a:r>
          </a:p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</a:rPr>
              <a:t>Presented By: Zaryab Ahmad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5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7B4C1-79E1-0708-98B6-F0672B81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Core Arithmetic (The AI Lens)</a:t>
            </a:r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5" name="Picture 3" descr="What Is ALU (Arithmetic Logic Unit) And ...">
            <a:extLst>
              <a:ext uri="{FF2B5EF4-FFF2-40B4-BE49-F238E27FC236}">
                <a16:creationId xmlns:a16="http://schemas.microsoft.com/office/drawing/2014/main" id="{98B94A1F-F8F5-F09B-DED6-14A627BDF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207" y="2299390"/>
            <a:ext cx="5340412" cy="40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AC5371-0859-F154-462F-C2F54E4FAB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Feature Scaling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(+, −, ∗, /)</m:t>
                    </m:r>
                  </m:oMath>
                </a14:m>
                <a:endParaRPr lang="en-US" b="1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+ / −: </m:t>
                    </m:r>
                  </m:oMath>
                </a14:m>
                <a:r>
                  <a:rPr lang="en-US"/>
                  <a:t>Used for adjusting AI "Biases" or centering data.</a:t>
                </a:r>
              </a:p>
              <a:p>
                <a:r>
                  <a:rPr lang="en-US" i="1">
                    <a:latin typeface="Cambria Math" panose="02040503050406030204" pitchFamily="18" charset="0"/>
                  </a:rPr>
                  <a:t>*:</a:t>
                </a:r>
                <a:r>
                  <a:rPr lang="en-US"/>
                  <a:t> Used for applying "Weights" to data.</a:t>
                </a:r>
              </a:p>
              <a:p>
                <a:r>
                  <a:rPr lang="en-US" i="1">
                    <a:latin typeface="Cambria Math" panose="02040503050406030204" pitchFamily="18" charset="0"/>
                  </a:rPr>
                  <a:t>/:</a:t>
                </a:r>
                <a:r>
                  <a:rPr lang="en-US"/>
                  <a:t> Crucial for Normalization (e.g., dividing image pixels by 255 so the AI can process them faster).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AC5371-0859-F154-462F-C2F54E4FAB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  <a:blipFill>
                <a:blip r:embed="rId3"/>
                <a:stretch>
                  <a:fillRect l="-950" t="-451" r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94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9CEBA-86E1-57B2-D2FB-CB15EB5FC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Exponents &amp; The Cost of Being Wrong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Mathematics">
            <a:extLst>
              <a:ext uri="{FF2B5EF4-FFF2-40B4-BE49-F238E27FC236}">
                <a16:creationId xmlns:a16="http://schemas.microsoft.com/office/drawing/2014/main" id="{F4F35868-5B25-5529-8DBD-92DE255E7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24B24-F563-C4FF-928F-A5317C630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07224" y="1088136"/>
                <a:ext cx="416052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Exponentiation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∗∗)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In Python,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^</m:t>
                    </m:r>
                  </m:oMath>
                </a14:m>
                <a:r>
                  <a:rPr lang="en-US" dirty="0"/>
                  <a:t> is NOT an exponent (it's a bitwise operator).</a:t>
                </a:r>
              </a:p>
              <a:p>
                <a:r>
                  <a:rPr lang="en-US" dirty="0"/>
                  <a:t>Use </a:t>
                </a:r>
                <a:r>
                  <a:rPr lang="en-US" i="1" dirty="0">
                    <a:latin typeface="Cambria Math" panose="02040503050406030204" pitchFamily="18" charset="0"/>
                  </a:rPr>
                  <a:t>**</a:t>
                </a:r>
                <a:r>
                  <a:rPr lang="en-US" dirty="0"/>
                  <a:t>  for powers (e.g., </a:t>
                </a:r>
                <a:r>
                  <a:rPr lang="en-US" i="1" dirty="0">
                    <a:latin typeface="Cambria Math" panose="02040503050406030204" pitchFamily="18" charset="0"/>
                  </a:rPr>
                  <a:t>2 ** 3 = 8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AI Use Case: Used constantly to calculate "Mean Squared Error" — mathematically punishing the AI when it makes a wrong prediction.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24B24-F563-C4FF-928F-A5317C630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07224" y="1088136"/>
                <a:ext cx="4160520" cy="5257800"/>
              </a:xfrm>
              <a:blipFill>
                <a:blip r:embed="rId3"/>
                <a:stretch>
                  <a:fillRect l="-1320" t="-464" r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20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611F2-8960-2F83-2E34-0DBE154C9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The Math of AI (Beyond Addition)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036FD-CBEF-319E-61E6-5CC1D47EB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8" y="2453765"/>
            <a:ext cx="5639091" cy="37640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31086-6A5B-423A-EF02-AE7D82AC15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Floor Division &amp; Modulo</a:t>
                </a:r>
              </a:p>
              <a:p>
                <a:r>
                  <a:rPr lang="en-US"/>
                  <a:t>Standard Division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/>
                  <a:t>): Always returns a Float (decimal).</a:t>
                </a:r>
              </a:p>
              <a:p>
                <a:r>
                  <a:rPr lang="en-US"/>
                  <a:t>Floor Division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//</m:t>
                    </m:r>
                  </m:oMath>
                </a14:m>
                <a:r>
                  <a:rPr lang="en-US"/>
                  <a:t>): Chops off the decimal. Returns an Integer. (Crucial for splitting data into batches).</a:t>
                </a:r>
              </a:p>
              <a:p>
                <a:r>
                  <a:rPr lang="en-US"/>
                  <a:t>Modulo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/>
                  <a:t>): Returns the remainder of division. (Used to trigger events, like saving an AI model every 10 epochs).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31086-6A5B-423A-EF02-AE7D82AC15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  <a:blipFill>
                <a:blip r:embed="rId4"/>
                <a:stretch>
                  <a:fillRect l="-950" t="-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04292E-A418-1376-40FF-660236674456}"/>
              </a:ext>
            </a:extLst>
          </p:cNvPr>
          <p:cNvSpPr txBox="1"/>
          <p:nvPr/>
        </p:nvSpPr>
        <p:spPr>
          <a:xfrm>
            <a:off x="3686411" y="6017803"/>
            <a:ext cx="247054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futurism.com/predicting-2017-the-rise-of-synthetic-intelligenc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08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8D9ED-59AB-E5FB-ED16-115DA2E1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The Interview Trap (</a:t>
            </a:r>
            <a:r>
              <a:rPr lang="en-US" sz="3700" i="1">
                <a:latin typeface="Cambria Math" panose="02040503050406030204" pitchFamily="18" charset="0"/>
                <a:ea typeface="+mn-ea"/>
                <a:cs typeface="+mn-cs"/>
              </a:rPr>
              <a:t>==</a:t>
            </a:r>
            <a:r>
              <a:rPr lang="en-US" sz="3700"/>
              <a:t> vs </a:t>
            </a:r>
            <a:r>
              <a:rPr lang="en-US" sz="3700" i="1">
                <a:latin typeface="Cambria Math" panose="02040503050406030204" pitchFamily="18" charset="0"/>
                <a:ea typeface="+mn-ea"/>
                <a:cs typeface="+mn-cs"/>
              </a:rPr>
              <a:t>is</a:t>
            </a:r>
            <a:r>
              <a:rPr lang="en-US" sz="3700"/>
              <a:t>)</a:t>
            </a:r>
            <a:br>
              <a:rPr lang="en-US" sz="3700"/>
            </a:br>
            <a:endParaRPr lang="en-US" sz="3700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124" name="Picture 4" descr="in Python ...">
            <a:extLst>
              <a:ext uri="{FF2B5EF4-FFF2-40B4-BE49-F238E27FC236}">
                <a16:creationId xmlns:a16="http://schemas.microsoft.com/office/drawing/2014/main" id="{11DA79B1-AE94-3491-3F36-F01E8BF1C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429691"/>
            <a:ext cx="4934554" cy="39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B7624F-BFBD-B066-C37F-5D4702D0FC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07224" y="1088136"/>
                <a:ext cx="416052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Value Equality vs. Memory Identity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==:</m:t>
                    </m:r>
                  </m:oMath>
                </a14:m>
                <a:r>
                  <a:rPr lang="en-US" dirty="0"/>
                  <a:t> Do these two variables hold the exact same value?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</a:rPr>
                  <a:t>is</a:t>
                </a:r>
                <a:r>
                  <a:rPr lang="en-US" dirty="0"/>
                  <a:t>: Are these two variables pointing to the exact same address in RAM?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B7624F-BFBD-B066-C37F-5D4702D0F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07224" y="1088136"/>
                <a:ext cx="4160520" cy="5257800"/>
              </a:xfrm>
              <a:blipFill>
                <a:blip r:embed="rId3"/>
                <a:stretch>
                  <a:fillRect l="-1320" t="-464" r="-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75205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299</Words>
  <Application>Microsoft Office PowerPoint</Application>
  <PresentationFormat>Widescreen</PresentationFormat>
  <Paragraphs>24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Bierstadt</vt:lpstr>
      <vt:lpstr>Cambria Math</vt:lpstr>
      <vt:lpstr>GestaltVTI</vt:lpstr>
      <vt:lpstr>Phase 1, Module 4: Operators &amp; Logic Engines</vt:lpstr>
      <vt:lpstr>Core Arithmetic (The AI Lens)</vt:lpstr>
      <vt:lpstr>Exponents &amp; The Cost of Being Wrong</vt:lpstr>
      <vt:lpstr>The Math of AI (Beyond Addition)</vt:lpstr>
      <vt:lpstr>The Interview Trap (== vs is)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2026-04-20T07:24:10Z</dcterms:created>
  <dcterms:modified xsi:type="dcterms:W3CDTF">2026-04-20T07:41:50Z</dcterms:modified>
</cp:coreProperties>
</file>