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12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4/21/2026</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2571598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4/21/2026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505346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4/21/2026</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730168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4/21/2026</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407052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4/21/2026</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045568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4/21/2026</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676338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4/21/2026</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19876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4/21/2026</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87240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4/21/2026</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559011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4/21/2026</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909524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4/21/2026</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835372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4/21/2026</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466868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4" name="Picture 3">
            <a:extLst>
              <a:ext uri="{FF2B5EF4-FFF2-40B4-BE49-F238E27FC236}">
                <a16:creationId xmlns:a16="http://schemas.microsoft.com/office/drawing/2014/main" id="{38EDF484-4F3E-3C6B-FDD0-BD541097CADC}"/>
              </a:ext>
            </a:extLst>
          </p:cNvPr>
          <p:cNvPicPr>
            <a:picLocks noChangeAspect="1"/>
          </p:cNvPicPr>
          <p:nvPr/>
        </p:nvPicPr>
        <p:blipFill>
          <a:blip r:embed="rId2">
            <a:alphaModFix amt="40000"/>
          </a:blip>
          <a:srcRect t="34617" r="-1" b="9118"/>
          <a:stretch>
            <a:fillRect/>
          </a:stretch>
        </p:blipFill>
        <p:spPr>
          <a:xfrm>
            <a:off x="1525" y="10"/>
            <a:ext cx="12188951" cy="6857990"/>
          </a:xfrm>
          <a:prstGeom prst="rect">
            <a:avLst/>
          </a:prstGeom>
        </p:spPr>
      </p:pic>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2EC0B22-D4E7-A535-1EE4-18C8E539886C}"/>
              </a:ext>
            </a:extLst>
          </p:cNvPr>
          <p:cNvSpPr>
            <a:spLocks noGrp="1"/>
          </p:cNvSpPr>
          <p:nvPr>
            <p:ph type="ctrTitle"/>
          </p:nvPr>
        </p:nvSpPr>
        <p:spPr>
          <a:xfrm>
            <a:off x="2562606" y="1122363"/>
            <a:ext cx="7063739" cy="2387600"/>
          </a:xfrm>
        </p:spPr>
        <p:txBody>
          <a:bodyPr>
            <a:normAutofit/>
          </a:bodyPr>
          <a:lstStyle/>
          <a:p>
            <a:r>
              <a:rPr lang="en-US">
                <a:solidFill>
                  <a:srgbClr val="FFFFFF"/>
                </a:solidFill>
              </a:rPr>
              <a:t>Module 12: Building the Organization Layer</a:t>
            </a:r>
          </a:p>
        </p:txBody>
      </p:sp>
      <p:sp>
        <p:nvSpPr>
          <p:cNvPr id="3" name="Subtitle 2">
            <a:extLst>
              <a:ext uri="{FF2B5EF4-FFF2-40B4-BE49-F238E27FC236}">
                <a16:creationId xmlns:a16="http://schemas.microsoft.com/office/drawing/2014/main" id="{81C1B7D0-75DD-3DDE-8462-064880D12670}"/>
              </a:ext>
            </a:extLst>
          </p:cNvPr>
          <p:cNvSpPr>
            <a:spLocks noGrp="1"/>
          </p:cNvSpPr>
          <p:nvPr>
            <p:ph type="subTitle" idx="1"/>
          </p:nvPr>
        </p:nvSpPr>
        <p:spPr>
          <a:xfrm>
            <a:off x="2562606" y="3602038"/>
            <a:ext cx="7063739" cy="1655762"/>
          </a:xfrm>
        </p:spPr>
        <p:txBody>
          <a:bodyPr>
            <a:normAutofit/>
          </a:bodyPr>
          <a:lstStyle/>
          <a:p>
            <a:r>
              <a:rPr lang="en-US" sz="1900" b="1" dirty="0">
                <a:solidFill>
                  <a:srgbClr val="FFFFFF"/>
                </a:solidFill>
              </a:rPr>
              <a:t>Modules, Packages, and Project Structure</a:t>
            </a:r>
          </a:p>
          <a:p>
            <a:r>
              <a:rPr lang="en-US" sz="1900" dirty="0">
                <a:solidFill>
                  <a:srgbClr val="FFFFFF"/>
                </a:solidFill>
              </a:rPr>
              <a:t>Until now, all our code has lived in one place. But real applications have thousands of lines of code. Today, we learn how to break that code into logical pieces so it stays manageable and professional.</a:t>
            </a:r>
          </a:p>
          <a:p>
            <a:pPr algn="r"/>
            <a:r>
              <a:rPr lang="en-US" sz="1900" dirty="0">
                <a:solidFill>
                  <a:srgbClr val="FFFFFF"/>
                </a:solidFill>
              </a:rPr>
              <a:t>Presented By: Zaryab Ahmad</a:t>
            </a:r>
          </a:p>
        </p:txBody>
      </p:sp>
    </p:spTree>
    <p:extLst>
      <p:ext uri="{BB962C8B-B14F-4D97-AF65-F5344CB8AC3E}">
        <p14:creationId xmlns:p14="http://schemas.microsoft.com/office/powerpoint/2010/main" val="3177553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4" name="Rectangle 1033">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305168DE-AC59-6156-6D5A-CFC4D8CF70E2}"/>
              </a:ext>
            </a:extLst>
          </p:cNvPr>
          <p:cNvSpPr>
            <a:spLocks noGrp="1"/>
          </p:cNvSpPr>
          <p:nvPr>
            <p:ph type="title"/>
          </p:nvPr>
        </p:nvSpPr>
        <p:spPr>
          <a:xfrm>
            <a:off x="777240" y="777240"/>
            <a:ext cx="4606280" cy="2493876"/>
          </a:xfrm>
        </p:spPr>
        <p:txBody>
          <a:bodyPr anchor="b">
            <a:normAutofit/>
          </a:bodyPr>
          <a:lstStyle/>
          <a:p>
            <a:r>
              <a:rPr lang="en-US" sz="4400"/>
              <a:t>What is a Module?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610365-3749-7107-4398-53EBCB2C7713}"/>
                  </a:ext>
                </a:extLst>
              </p:cNvPr>
              <p:cNvSpPr>
                <a:spLocks noGrp="1"/>
              </p:cNvSpPr>
              <p:nvPr>
                <p:ph idx="1"/>
              </p:nvPr>
            </p:nvSpPr>
            <p:spPr>
              <a:xfrm>
                <a:off x="777240" y="3428999"/>
                <a:ext cx="4606280" cy="2747963"/>
              </a:xfrm>
            </p:spPr>
            <p:txBody>
              <a:bodyPr anchor="t">
                <a:normAutofit/>
              </a:bodyPr>
              <a:lstStyle/>
              <a:p>
                <a:pPr marL="0" indent="0">
                  <a:buNone/>
                </a:pPr>
                <a:r>
                  <a:rPr lang="en-US" sz="1700" b="1"/>
                  <a:t>The Single File Logic</a:t>
                </a:r>
              </a:p>
              <a:p>
                <a:endParaRPr lang="en-US" sz="1700"/>
              </a:p>
              <a:p>
                <a:r>
                  <a:rPr lang="en-US" sz="1700"/>
                  <a:t>A Module is simply a </a:t>
                </a:r>
                <a14:m>
                  <m:oMath xmlns:m="http://schemas.openxmlformats.org/officeDocument/2006/math">
                    <m:r>
                      <a:rPr lang="en-US" sz="1700" i="1">
                        <a:latin typeface="Cambria Math" panose="02040503050406030204" pitchFamily="18" charset="0"/>
                      </a:rPr>
                      <m:t>.</m:t>
                    </m:r>
                    <m:r>
                      <a:rPr lang="en-US" sz="1700" i="1">
                        <a:latin typeface="Cambria Math" panose="02040503050406030204" pitchFamily="18" charset="0"/>
                      </a:rPr>
                      <m:t>𝑝𝑦</m:t>
                    </m:r>
                    <m:r>
                      <a:rPr lang="en-US" sz="1700" i="1">
                        <a:latin typeface="Cambria Math" panose="02040503050406030204" pitchFamily="18" charset="0"/>
                      </a:rPr>
                      <m:t> </m:t>
                    </m:r>
                  </m:oMath>
                </a14:m>
                <a:r>
                  <a:rPr lang="en-US" sz="1700"/>
                  <a:t>file containing functions, classes, and variables.</a:t>
                </a:r>
              </a:p>
              <a:p>
                <a:r>
                  <a:rPr lang="en-US" sz="1700"/>
                  <a:t>Modularity: It allows you to separate concerns (e.g., one file for database logic, one for calculations).</a:t>
                </a:r>
              </a:p>
              <a:p>
                <a:r>
                  <a:rPr lang="en-US" sz="1700"/>
                  <a:t>Imports: Use import </a:t>
                </a:r>
                <a:r>
                  <a:rPr lang="en-US" sz="1700" i="1">
                    <a:latin typeface="Cambria Math" panose="02040503050406030204" pitchFamily="18" charset="0"/>
                  </a:rPr>
                  <a:t>module_name </a:t>
                </a:r>
                <a:r>
                  <a:rPr lang="en-US" sz="1700"/>
                  <a:t>to access its contents in another file.</a:t>
                </a:r>
              </a:p>
            </p:txBody>
          </p:sp>
        </mc:Choice>
        <mc:Fallback xmlns="">
          <p:sp>
            <p:nvSpPr>
              <p:cNvPr id="3" name="Content Placeholder 2">
                <a:extLst>
                  <a:ext uri="{FF2B5EF4-FFF2-40B4-BE49-F238E27FC236}">
                    <a16:creationId xmlns:a16="http://schemas.microsoft.com/office/drawing/2014/main" id="{67610365-3749-7107-4398-53EBCB2C7713}"/>
                  </a:ext>
                </a:extLst>
              </p:cNvPr>
              <p:cNvSpPr>
                <a:spLocks noGrp="1" noRot="1" noChangeAspect="1" noMove="1" noResize="1" noEditPoints="1" noAdjustHandles="1" noChangeArrowheads="1" noChangeShapeType="1" noTextEdit="1"/>
              </p:cNvSpPr>
              <p:nvPr>
                <p:ph idx="1"/>
              </p:nvPr>
            </p:nvSpPr>
            <p:spPr>
              <a:xfrm>
                <a:off x="777240" y="3428999"/>
                <a:ext cx="4606280" cy="2747963"/>
              </a:xfrm>
              <a:blipFill>
                <a:blip r:embed="rId2"/>
                <a:stretch>
                  <a:fillRect l="-927" t="-1552" b="-1109"/>
                </a:stretch>
              </a:blipFill>
            </p:spPr>
            <p:txBody>
              <a:bodyPr/>
              <a:lstStyle/>
              <a:p>
                <a:r>
                  <a:rPr lang="en-US">
                    <a:noFill/>
                  </a:rPr>
                  <a:t> </a:t>
                </a:r>
              </a:p>
            </p:txBody>
          </p:sp>
        </mc:Fallback>
      </mc:AlternateContent>
      <p:sp>
        <p:nvSpPr>
          <p:cNvPr id="1036"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8"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039" name="Oval 1038">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Oval 1039">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Oval 1040">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Oval 1041">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Oval 1042">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Oval 1043">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Oval 1044">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Oval 1045">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7" name="Picture 3" descr="Creating a Python Module - AskPython">
            <a:extLst>
              <a:ext uri="{FF2B5EF4-FFF2-40B4-BE49-F238E27FC236}">
                <a16:creationId xmlns:a16="http://schemas.microsoft.com/office/drawing/2014/main" id="{4DBCDC59-BDBA-BA0C-51DA-12D9F9FCC01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27371" y="1844661"/>
            <a:ext cx="4360273" cy="2836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222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0" name="Rectangle 2059">
            <a:extLst>
              <a:ext uri="{FF2B5EF4-FFF2-40B4-BE49-F238E27FC236}">
                <a16:creationId xmlns:a16="http://schemas.microsoft.com/office/drawing/2014/main" id="{8427DF8B-AF40-4916-BF81-7B4B1D6A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2" name="Rectangle 2061">
            <a:extLst>
              <a:ext uri="{FF2B5EF4-FFF2-40B4-BE49-F238E27FC236}">
                <a16:creationId xmlns:a16="http://schemas.microsoft.com/office/drawing/2014/main" id="{6AE0E191-47BD-46BD-846E-E994713F2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B996D4B0-9013-5A69-8249-C724FCC9B553}"/>
              </a:ext>
            </a:extLst>
          </p:cNvPr>
          <p:cNvSpPr>
            <a:spLocks noGrp="1"/>
          </p:cNvSpPr>
          <p:nvPr>
            <p:ph type="title"/>
          </p:nvPr>
        </p:nvSpPr>
        <p:spPr>
          <a:xfrm>
            <a:off x="777240" y="777240"/>
            <a:ext cx="4606280" cy="2493876"/>
          </a:xfrm>
        </p:spPr>
        <p:txBody>
          <a:bodyPr anchor="b">
            <a:normAutofit/>
          </a:bodyPr>
          <a:lstStyle/>
          <a:p>
            <a:r>
              <a:rPr lang="en-US" sz="4400" b="1"/>
              <a:t>What is a Package?</a:t>
            </a:r>
            <a:br>
              <a:rPr lang="en-US" sz="4400"/>
            </a:br>
            <a:endParaRPr lang="en-US" sz="44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46665A-756A-1239-3173-8585753F2351}"/>
                  </a:ext>
                </a:extLst>
              </p:cNvPr>
              <p:cNvSpPr>
                <a:spLocks noGrp="1"/>
              </p:cNvSpPr>
              <p:nvPr>
                <p:ph idx="1"/>
              </p:nvPr>
            </p:nvSpPr>
            <p:spPr>
              <a:xfrm>
                <a:off x="777239" y="2880531"/>
                <a:ext cx="5711010" cy="2820338"/>
              </a:xfrm>
            </p:spPr>
            <p:txBody>
              <a:bodyPr anchor="t">
                <a:normAutofit/>
              </a:bodyPr>
              <a:lstStyle/>
              <a:p>
                <a:pPr marL="0" indent="0">
                  <a:buNone/>
                </a:pPr>
                <a:r>
                  <a:rPr lang="en-US" sz="1800" b="1" dirty="0"/>
                  <a:t>The Folder Hierarchy</a:t>
                </a:r>
              </a:p>
              <a:p>
                <a:endParaRPr lang="en-US" sz="1800" dirty="0"/>
              </a:p>
              <a:p>
                <a:r>
                  <a:rPr lang="en-US" sz="1800" dirty="0"/>
                  <a:t>A Package is a directory containing multiple modules.</a:t>
                </a:r>
              </a:p>
              <a:p>
                <a14:m>
                  <m:oMath xmlns:m="http://schemas.openxmlformats.org/officeDocument/2006/math">
                    <m:r>
                      <a:rPr lang="en-US" sz="1800" i="1">
                        <a:latin typeface="Cambria Math" panose="02040503050406030204" pitchFamily="18" charset="0"/>
                      </a:rPr>
                      <m:t>__</m:t>
                    </m:r>
                    <m:r>
                      <a:rPr lang="en-US" sz="1800" i="1">
                        <a:latin typeface="Cambria Math" panose="02040503050406030204" pitchFamily="18" charset="0"/>
                      </a:rPr>
                      <m:t>𝑖𝑛𝑖𝑡</m:t>
                    </m:r>
                    <m:r>
                      <a:rPr lang="en-US" sz="1800" i="1">
                        <a:latin typeface="Cambria Math" panose="02040503050406030204" pitchFamily="18" charset="0"/>
                      </a:rPr>
                      <m:t>__.</m:t>
                    </m:r>
                    <m:r>
                      <a:rPr lang="en-US" sz="1800" i="1">
                        <a:latin typeface="Cambria Math" panose="02040503050406030204" pitchFamily="18" charset="0"/>
                      </a:rPr>
                      <m:t>𝑝𝑦</m:t>
                    </m:r>
                  </m:oMath>
                </a14:m>
                <a:r>
                  <a:rPr lang="en-US" sz="1800" dirty="0"/>
                  <a:t>: A special file that tells Python, 'This folder is a package.</a:t>
                </a:r>
              </a:p>
              <a:p>
                <a:r>
                  <a:rPr lang="en-US" sz="1800" dirty="0"/>
                  <a:t>'</a:t>
                </a:r>
                <a:r>
                  <a:rPr lang="en-US" sz="1800" dirty="0" err="1"/>
                  <a:t>Namespacing</a:t>
                </a:r>
                <a:r>
                  <a:rPr lang="en-US" sz="1800" dirty="0"/>
                  <a:t>: Prevents naming conflicts (e.g., </a:t>
                </a:r>
                <a:r>
                  <a:rPr lang="en-US" sz="1800" i="1" dirty="0" err="1">
                    <a:latin typeface="Cambria Math" panose="02040503050406030204" pitchFamily="18" charset="0"/>
                  </a:rPr>
                  <a:t>math_utils.add</a:t>
                </a:r>
                <a:r>
                  <a:rPr lang="en-US" sz="1800" i="1" dirty="0">
                    <a:latin typeface="Cambria Math" panose="02040503050406030204" pitchFamily="18" charset="0"/>
                  </a:rPr>
                  <a:t> </a:t>
                </a:r>
                <a:r>
                  <a:rPr lang="en-US" sz="1800" dirty="0"/>
                  <a:t>vs </a:t>
                </a:r>
                <a:r>
                  <a:rPr lang="en-US" sz="1800" i="1" dirty="0" err="1">
                    <a:latin typeface="Cambria Math" panose="02040503050406030204" pitchFamily="18" charset="0"/>
                  </a:rPr>
                  <a:t>string_utils.add</a:t>
                </a:r>
                <a:r>
                  <a:rPr lang="en-US" sz="1800" dirty="0"/>
                  <a:t>).</a:t>
                </a:r>
              </a:p>
            </p:txBody>
          </p:sp>
        </mc:Choice>
        <mc:Fallback xmlns="">
          <p:sp>
            <p:nvSpPr>
              <p:cNvPr id="3" name="Content Placeholder 2">
                <a:extLst>
                  <a:ext uri="{FF2B5EF4-FFF2-40B4-BE49-F238E27FC236}">
                    <a16:creationId xmlns:a16="http://schemas.microsoft.com/office/drawing/2014/main" id="{9046665A-756A-1239-3173-8585753F2351}"/>
                  </a:ext>
                </a:extLst>
              </p:cNvPr>
              <p:cNvSpPr>
                <a:spLocks noGrp="1" noRot="1" noChangeAspect="1" noMove="1" noResize="1" noEditPoints="1" noAdjustHandles="1" noChangeArrowheads="1" noChangeShapeType="1" noTextEdit="1"/>
              </p:cNvSpPr>
              <p:nvPr>
                <p:ph idx="1"/>
              </p:nvPr>
            </p:nvSpPr>
            <p:spPr>
              <a:xfrm>
                <a:off x="777239" y="2880531"/>
                <a:ext cx="5711010" cy="2820338"/>
              </a:xfrm>
              <a:blipFill>
                <a:blip r:embed="rId2"/>
                <a:stretch>
                  <a:fillRect l="-854" t="-2165" r="-854"/>
                </a:stretch>
              </a:blipFill>
            </p:spPr>
            <p:txBody>
              <a:bodyPr/>
              <a:lstStyle/>
              <a:p>
                <a:r>
                  <a:rPr lang="en-US">
                    <a:noFill/>
                  </a:rPr>
                  <a:t> </a:t>
                </a:r>
              </a:p>
            </p:txBody>
          </p:sp>
        </mc:Fallback>
      </mc:AlternateContent>
      <p:sp>
        <p:nvSpPr>
          <p:cNvPr id="2064" name="Oval 1">
            <a:extLst>
              <a:ext uri="{FF2B5EF4-FFF2-40B4-BE49-F238E27FC236}">
                <a16:creationId xmlns:a16="http://schemas.microsoft.com/office/drawing/2014/main" id="{D60DC0FE-B192-4898-9A42-DD3CA1061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068" y="1214970"/>
            <a:ext cx="5716933" cy="5643030"/>
          </a:xfrm>
          <a:custGeom>
            <a:avLst/>
            <a:gdLst>
              <a:gd name="connsiteX0" fmla="*/ 3371933 w 5716933"/>
              <a:gd name="connsiteY0" fmla="*/ 0 h 5643030"/>
              <a:gd name="connsiteX1" fmla="*/ 5516795 w 5716933"/>
              <a:gd name="connsiteY1" fmla="*/ 769986 h 5643030"/>
              <a:gd name="connsiteX2" fmla="*/ 5716933 w 5716933"/>
              <a:gd name="connsiteY2" fmla="*/ 951883 h 5643030"/>
              <a:gd name="connsiteX3" fmla="*/ 5716933 w 5716933"/>
              <a:gd name="connsiteY3" fmla="*/ 5643030 h 5643030"/>
              <a:gd name="connsiteX4" fmla="*/ 884716 w 5716933"/>
              <a:gd name="connsiteY4" fmla="*/ 5643030 h 5643030"/>
              <a:gd name="connsiteX5" fmla="*/ 769986 w 5716933"/>
              <a:gd name="connsiteY5" fmla="*/ 5516796 h 5643030"/>
              <a:gd name="connsiteX6" fmla="*/ 0 w 5716933"/>
              <a:gd name="connsiteY6" fmla="*/ 3371933 h 5643030"/>
              <a:gd name="connsiteX7" fmla="*/ 3371933 w 5716933"/>
              <a:gd name="connsiteY7" fmla="*/ 0 h 5643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6933" h="5643030">
                <a:moveTo>
                  <a:pt x="3371933" y="0"/>
                </a:moveTo>
                <a:cubicBezTo>
                  <a:pt x="4186675" y="0"/>
                  <a:pt x="4933927" y="288960"/>
                  <a:pt x="5516795" y="769986"/>
                </a:cubicBezTo>
                <a:lnTo>
                  <a:pt x="5716933" y="951883"/>
                </a:lnTo>
                <a:lnTo>
                  <a:pt x="5716933" y="5643030"/>
                </a:lnTo>
                <a:lnTo>
                  <a:pt x="884716" y="5643030"/>
                </a:lnTo>
                <a:lnTo>
                  <a:pt x="769986" y="5516796"/>
                </a:lnTo>
                <a:cubicBezTo>
                  <a:pt x="288960" y="4933927"/>
                  <a:pt x="0" y="4186675"/>
                  <a:pt x="0" y="3371933"/>
                </a:cubicBezTo>
                <a:cubicBezTo>
                  <a:pt x="0" y="1509666"/>
                  <a:pt x="1509666" y="0"/>
                  <a:pt x="33719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2066" name="decorative circles">
            <a:extLst>
              <a:ext uri="{FF2B5EF4-FFF2-40B4-BE49-F238E27FC236}">
                <a16:creationId xmlns:a16="http://schemas.microsoft.com/office/drawing/2014/main" id="{47154ABD-A760-4C29-A394-422706C2C0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228154" cy="5966848"/>
            <a:chOff x="6008627" y="289695"/>
            <a:chExt cx="5228154" cy="5966848"/>
          </a:xfrm>
        </p:grpSpPr>
        <p:sp>
          <p:nvSpPr>
            <p:cNvPr id="2067" name="Oval 2066">
              <a:extLst>
                <a:ext uri="{FF2B5EF4-FFF2-40B4-BE49-F238E27FC236}">
                  <a16:creationId xmlns:a16="http://schemas.microsoft.com/office/drawing/2014/main" id="{87E907A3-04C3-40DF-AF5B-74DFD9858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Oval 2067">
              <a:extLst>
                <a:ext uri="{FF2B5EF4-FFF2-40B4-BE49-F238E27FC236}">
                  <a16:creationId xmlns:a16="http://schemas.microsoft.com/office/drawing/2014/main" id="{6C341F19-78FA-4078-B1AD-5E1646DD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Oval 2068">
              <a:extLst>
                <a:ext uri="{FF2B5EF4-FFF2-40B4-BE49-F238E27FC236}">
                  <a16:creationId xmlns:a16="http://schemas.microsoft.com/office/drawing/2014/main" id="{D6E0C6E1-CEDB-4511-B675-C5C48112E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Oval 2069">
              <a:extLst>
                <a:ext uri="{FF2B5EF4-FFF2-40B4-BE49-F238E27FC236}">
                  <a16:creationId xmlns:a16="http://schemas.microsoft.com/office/drawing/2014/main" id="{C863F213-E875-41B8-A148-A90BCD837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0340" y="674287"/>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Oval 2070">
              <a:extLst>
                <a:ext uri="{FF2B5EF4-FFF2-40B4-BE49-F238E27FC236}">
                  <a16:creationId xmlns:a16="http://schemas.microsoft.com/office/drawing/2014/main" id="{26FF8E98-A1E7-49FB-95C2-4518E16B5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5" name="Picture 7" descr="Python Packages: Organizing Code for Better Development and Collaboration">
            <a:extLst>
              <a:ext uri="{FF2B5EF4-FFF2-40B4-BE49-F238E27FC236}">
                <a16:creationId xmlns:a16="http://schemas.microsoft.com/office/drawing/2014/main" id="{40F86E1B-9960-B7A0-B395-87618BB5F98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66617" y="1280627"/>
            <a:ext cx="3521514" cy="4974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5943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4" name="Rectangle 1033">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6" name="Rectangle 1035">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4289856B-7287-940C-FBD0-35217B56F43D}"/>
              </a:ext>
            </a:extLst>
          </p:cNvPr>
          <p:cNvSpPr>
            <a:spLocks noGrp="1"/>
          </p:cNvSpPr>
          <p:nvPr>
            <p:ph type="title"/>
          </p:nvPr>
        </p:nvSpPr>
        <p:spPr>
          <a:xfrm>
            <a:off x="777240" y="777240"/>
            <a:ext cx="4606280" cy="2493876"/>
          </a:xfrm>
        </p:spPr>
        <p:txBody>
          <a:bodyPr anchor="b">
            <a:normAutofit/>
          </a:bodyPr>
          <a:lstStyle/>
          <a:p>
            <a:r>
              <a:rPr lang="en-US" sz="4400"/>
              <a:t>The "Main" Guard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356634-9ACC-AAFD-200E-7B81A0230A46}"/>
                  </a:ext>
                </a:extLst>
              </p:cNvPr>
              <p:cNvSpPr>
                <a:spLocks noGrp="1"/>
              </p:cNvSpPr>
              <p:nvPr>
                <p:ph idx="1"/>
              </p:nvPr>
            </p:nvSpPr>
            <p:spPr>
              <a:xfrm>
                <a:off x="777240" y="3428999"/>
                <a:ext cx="4606280" cy="2747963"/>
              </a:xfrm>
            </p:spPr>
            <p:txBody>
              <a:bodyPr anchor="t">
                <a:normAutofit/>
              </a:bodyPr>
              <a:lstStyle/>
              <a:p>
                <a:pPr marL="0" indent="0">
                  <a:buNone/>
                </a:pPr>
                <a14:m>
                  <m:oMathPara xmlns:m="http://schemas.openxmlformats.org/officeDocument/2006/math">
                    <m:oMathParaPr>
                      <m:jc m:val="centerGroup"/>
                    </m:oMathParaPr>
                    <m:oMath xmlns:m="http://schemas.openxmlformats.org/officeDocument/2006/math">
                      <m:r>
                        <a:rPr lang="en-US" sz="1800" b="1" i="1">
                          <a:latin typeface="Cambria Math" panose="02040503050406030204" pitchFamily="18" charset="0"/>
                        </a:rPr>
                        <m:t>𝒊𝒇</m:t>
                      </m:r>
                      <m:r>
                        <a:rPr lang="en-US" sz="1800" b="1" i="1">
                          <a:latin typeface="Cambria Math" panose="02040503050406030204" pitchFamily="18" charset="0"/>
                        </a:rPr>
                        <m:t> __</m:t>
                      </m:r>
                      <m:r>
                        <a:rPr lang="en-US" sz="1800" b="1" i="1">
                          <a:latin typeface="Cambria Math" panose="02040503050406030204" pitchFamily="18" charset="0"/>
                        </a:rPr>
                        <m:t>𝒏𝒂𝒎𝒆</m:t>
                      </m:r>
                      <m:r>
                        <a:rPr lang="en-US" sz="1800" b="1" i="1">
                          <a:latin typeface="Cambria Math" panose="02040503050406030204" pitchFamily="18" charset="0"/>
                        </a:rPr>
                        <m:t>__ == "__</m:t>
                      </m:r>
                      <m:r>
                        <a:rPr lang="en-US" sz="1800" b="1" i="1">
                          <a:latin typeface="Cambria Math" panose="02040503050406030204" pitchFamily="18" charset="0"/>
                        </a:rPr>
                        <m:t>𝒎𝒂𝒊𝒏</m:t>
                      </m:r>
                      <m:r>
                        <a:rPr lang="en-US" sz="1800" b="1" i="1">
                          <a:latin typeface="Cambria Math" panose="02040503050406030204" pitchFamily="18" charset="0"/>
                        </a:rPr>
                        <m:t>__":</m:t>
                      </m:r>
                    </m:oMath>
                  </m:oMathPara>
                </a14:m>
                <a:endParaRPr lang="en-US" sz="1800"/>
              </a:p>
              <a:p>
                <a:endParaRPr lang="en-US" sz="1800"/>
              </a:p>
              <a:p>
                <a:r>
                  <a:rPr lang="en-US" sz="1800"/>
                  <a:t>Determines if a script is being run directly or imported as a library.</a:t>
                </a:r>
              </a:p>
              <a:p>
                <a:r>
                  <a:rPr lang="en-US" sz="1800"/>
                  <a:t>Prevents code from running automatically when you only want to import a function.</a:t>
                </a:r>
              </a:p>
            </p:txBody>
          </p:sp>
        </mc:Choice>
        <mc:Fallback>
          <p:sp>
            <p:nvSpPr>
              <p:cNvPr id="3" name="Content Placeholder 2">
                <a:extLst>
                  <a:ext uri="{FF2B5EF4-FFF2-40B4-BE49-F238E27FC236}">
                    <a16:creationId xmlns:a16="http://schemas.microsoft.com/office/drawing/2014/main" id="{2A356634-9ACC-AAFD-200E-7B81A0230A46}"/>
                  </a:ext>
                </a:extLst>
              </p:cNvPr>
              <p:cNvSpPr>
                <a:spLocks noGrp="1" noRot="1" noChangeAspect="1" noMove="1" noResize="1" noEditPoints="1" noAdjustHandles="1" noChangeArrowheads="1" noChangeShapeType="1" noTextEdit="1"/>
              </p:cNvSpPr>
              <p:nvPr>
                <p:ph idx="1"/>
              </p:nvPr>
            </p:nvSpPr>
            <p:spPr>
              <a:xfrm>
                <a:off x="777240" y="3428999"/>
                <a:ext cx="4606280" cy="2747963"/>
              </a:xfrm>
              <a:blipFill>
                <a:blip r:embed="rId2"/>
                <a:stretch>
                  <a:fillRect l="-927" r="-662"/>
                </a:stretch>
              </a:blipFill>
            </p:spPr>
            <p:txBody>
              <a:bodyPr/>
              <a:lstStyle/>
              <a:p>
                <a:r>
                  <a:rPr lang="en-US">
                    <a:noFill/>
                  </a:rPr>
                  <a:t> </a:t>
                </a:r>
              </a:p>
            </p:txBody>
          </p:sp>
        </mc:Fallback>
      </mc:AlternateContent>
      <p:sp>
        <p:nvSpPr>
          <p:cNvPr id="1038"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40"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041" name="Oval 1040">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Oval 1041">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Oval 1042">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Oval 1043">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Oval 1044">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Oval 1045">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Oval 1046">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Oval 1047">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9" name="Picture 5" descr="What is if __name__ == &quot;__main__&quot; in Python">
            <a:extLst>
              <a:ext uri="{FF2B5EF4-FFF2-40B4-BE49-F238E27FC236}">
                <a16:creationId xmlns:a16="http://schemas.microsoft.com/office/drawing/2014/main" id="{5B30FB9C-B8B2-F58C-CEC1-948EF9993D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25422" y="2336056"/>
            <a:ext cx="3475314" cy="2185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596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9" name="Rectangle 1048">
            <a:extLst>
              <a:ext uri="{FF2B5EF4-FFF2-40B4-BE49-F238E27FC236}">
                <a16:creationId xmlns:a16="http://schemas.microsoft.com/office/drawing/2014/main" id="{EE0B8BDA-A6D4-43D7-9EB7-2D7ABAC05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1" name="Rectangle 1050">
            <a:extLst>
              <a:ext uri="{FF2B5EF4-FFF2-40B4-BE49-F238E27FC236}">
                <a16:creationId xmlns:a16="http://schemas.microsoft.com/office/drawing/2014/main" id="{B3A37FC3-CCFC-4EEC-81EB-33CC3FECF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1053" name="Decorative Circles">
            <a:extLst>
              <a:ext uri="{FF2B5EF4-FFF2-40B4-BE49-F238E27FC236}">
                <a16:creationId xmlns:a16="http://schemas.microsoft.com/office/drawing/2014/main" id="{D480A239-E1D3-4265-911A-B0E22BFC72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4277" y="1901154"/>
            <a:ext cx="9049452" cy="891962"/>
            <a:chOff x="374277" y="1901154"/>
            <a:chExt cx="9049452" cy="891962"/>
          </a:xfrm>
        </p:grpSpPr>
        <p:sp>
          <p:nvSpPr>
            <p:cNvPr id="1054" name="Oval 1053">
              <a:extLst>
                <a:ext uri="{FF2B5EF4-FFF2-40B4-BE49-F238E27FC236}">
                  <a16:creationId xmlns:a16="http://schemas.microsoft.com/office/drawing/2014/main" id="{1F5B6676-3326-42C9-9711-A1484A3BB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06096" y="1977248"/>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Oval 1054">
              <a:extLst>
                <a:ext uri="{FF2B5EF4-FFF2-40B4-BE49-F238E27FC236}">
                  <a16:creationId xmlns:a16="http://schemas.microsoft.com/office/drawing/2014/main" id="{6E4FF066-7CB2-44AF-A8FB-998401FDB1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14015" y="2109147"/>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Oval 1055">
              <a:extLst>
                <a:ext uri="{FF2B5EF4-FFF2-40B4-BE49-F238E27FC236}">
                  <a16:creationId xmlns:a16="http://schemas.microsoft.com/office/drawing/2014/main" id="{62DF57D1-4F69-4670-921D-CB0A1C746A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10362" y="235440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Oval 1056">
              <a:extLst>
                <a:ext uri="{FF2B5EF4-FFF2-40B4-BE49-F238E27FC236}">
                  <a16:creationId xmlns:a16="http://schemas.microsoft.com/office/drawing/2014/main" id="{54B553CD-4462-471C-8BDE-3B43B3089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4277" y="1901154"/>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Oval 1057">
              <a:extLst>
                <a:ext uri="{FF2B5EF4-FFF2-40B4-BE49-F238E27FC236}">
                  <a16:creationId xmlns:a16="http://schemas.microsoft.com/office/drawing/2014/main" id="{8C1252A7-89B5-4C54-8ABB-0C1EAF645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012" y="2326675"/>
              <a:ext cx="466441" cy="466441"/>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0" name="Oval 3">
            <a:extLst>
              <a:ext uri="{FF2B5EF4-FFF2-40B4-BE49-F238E27FC236}">
                <a16:creationId xmlns:a16="http://schemas.microsoft.com/office/drawing/2014/main" id="{1FCA8005-F663-4C8D-81B1-5862A64B5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665048" y="0"/>
            <a:ext cx="4408870" cy="2474031"/>
          </a:xfrm>
          <a:custGeom>
            <a:avLst/>
            <a:gdLst>
              <a:gd name="connsiteX0" fmla="*/ 18128 w 4408870"/>
              <a:gd name="connsiteY0" fmla="*/ 0 h 2474031"/>
              <a:gd name="connsiteX1" fmla="*/ 4390742 w 4408870"/>
              <a:gd name="connsiteY1" fmla="*/ 0 h 2474031"/>
              <a:gd name="connsiteX2" fmla="*/ 4397489 w 4408870"/>
              <a:gd name="connsiteY2" fmla="*/ 44205 h 2474031"/>
              <a:gd name="connsiteX3" fmla="*/ 4408870 w 4408870"/>
              <a:gd name="connsiteY3" fmla="*/ 269596 h 2474031"/>
              <a:gd name="connsiteX4" fmla="*/ 2204435 w 4408870"/>
              <a:gd name="connsiteY4" fmla="*/ 2474031 h 2474031"/>
              <a:gd name="connsiteX5" fmla="*/ 0 w 4408870"/>
              <a:gd name="connsiteY5" fmla="*/ 269596 h 2474031"/>
              <a:gd name="connsiteX6" fmla="*/ 11381 w 4408870"/>
              <a:gd name="connsiteY6" fmla="*/ 44205 h 247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870" h="2474031">
                <a:moveTo>
                  <a:pt x="18128" y="0"/>
                </a:moveTo>
                <a:lnTo>
                  <a:pt x="4390742" y="0"/>
                </a:lnTo>
                <a:lnTo>
                  <a:pt x="4397489" y="44205"/>
                </a:lnTo>
                <a:cubicBezTo>
                  <a:pt x="4405015" y="118312"/>
                  <a:pt x="4408870" y="193504"/>
                  <a:pt x="4408870" y="269596"/>
                </a:cubicBezTo>
                <a:cubicBezTo>
                  <a:pt x="4408870" y="1487072"/>
                  <a:pt x="3421911" y="2474031"/>
                  <a:pt x="2204435" y="2474031"/>
                </a:cubicBezTo>
                <a:cubicBezTo>
                  <a:pt x="986959" y="2474031"/>
                  <a:pt x="0" y="1487072"/>
                  <a:pt x="0" y="269596"/>
                </a:cubicBezTo>
                <a:cubicBezTo>
                  <a:pt x="0" y="193504"/>
                  <a:pt x="3855" y="118312"/>
                  <a:pt x="11381" y="4420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2" name="Graphic 1061">
            <a:extLst>
              <a:ext uri="{FF2B5EF4-FFF2-40B4-BE49-F238E27FC236}">
                <a16:creationId xmlns:a16="http://schemas.microsoft.com/office/drawing/2014/main" id="{39D9F1AB-3EB3-41DE-A991-97CBE9A69E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2"/>
              </a:ext>
            </a:extLst>
          </a:blip>
          <a:srcRect l="14832" t="48467" r="13582" b="10444"/>
          <a:stretch/>
        </p:blipFill>
        <p:spPr>
          <a:xfrm>
            <a:off x="688614" y="0"/>
            <a:ext cx="4368276" cy="2507327"/>
          </a:xfrm>
          <a:prstGeom prst="rect">
            <a:avLst/>
          </a:prstGeom>
        </p:spPr>
      </p:pic>
      <p:sp>
        <p:nvSpPr>
          <p:cNvPr id="1064" name="Oval 4">
            <a:extLst>
              <a:ext uri="{FF2B5EF4-FFF2-40B4-BE49-F238E27FC236}">
                <a16:creationId xmlns:a16="http://schemas.microsoft.com/office/drawing/2014/main" id="{80535765-91A2-4416-9DF0-5A8806BBD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15166" y="94983"/>
            <a:ext cx="3441339" cy="3441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DEF85D-169D-CAA8-872A-AB18D2A47B15}"/>
              </a:ext>
            </a:extLst>
          </p:cNvPr>
          <p:cNvSpPr>
            <a:spLocks noGrp="1"/>
          </p:cNvSpPr>
          <p:nvPr>
            <p:ph type="title"/>
          </p:nvPr>
        </p:nvSpPr>
        <p:spPr>
          <a:xfrm>
            <a:off x="4525553" y="3275099"/>
            <a:ext cx="7323152" cy="949050"/>
          </a:xfrm>
        </p:spPr>
        <p:txBody>
          <a:bodyPr anchor="b">
            <a:normAutofit/>
          </a:bodyPr>
          <a:lstStyle/>
          <a:p>
            <a:r>
              <a:rPr lang="en-US" sz="4400" dirty="0"/>
              <a:t>The Standard Library &amp; Pip</a:t>
            </a:r>
          </a:p>
        </p:txBody>
      </p:sp>
      <p:sp>
        <p:nvSpPr>
          <p:cNvPr id="1066" name="Oval 2">
            <a:extLst>
              <a:ext uri="{FF2B5EF4-FFF2-40B4-BE49-F238E27FC236}">
                <a16:creationId xmlns:a16="http://schemas.microsoft.com/office/drawing/2014/main" id="{6E11A1E8-7E48-444A-96C1-DB715EC2B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326987" y="0"/>
            <a:ext cx="2865013" cy="3133761"/>
          </a:xfrm>
          <a:custGeom>
            <a:avLst/>
            <a:gdLst>
              <a:gd name="connsiteX0" fmla="*/ 152193 w 2976254"/>
              <a:gd name="connsiteY0" fmla="*/ 0 h 3258904"/>
              <a:gd name="connsiteX1" fmla="*/ 2976254 w 2976254"/>
              <a:gd name="connsiteY1" fmla="*/ 0 h 3258904"/>
              <a:gd name="connsiteX2" fmla="*/ 2976254 w 2976254"/>
              <a:gd name="connsiteY2" fmla="*/ 3192289 h 3258904"/>
              <a:gd name="connsiteX3" fmla="*/ 2908439 w 2976254"/>
              <a:gd name="connsiteY3" fmla="*/ 3209726 h 3258904"/>
              <a:gd name="connsiteX4" fmla="*/ 2420603 w 2976254"/>
              <a:gd name="connsiteY4" fmla="*/ 3258904 h 3258904"/>
              <a:gd name="connsiteX5" fmla="*/ 0 w 2976254"/>
              <a:gd name="connsiteY5" fmla="*/ 838301 h 3258904"/>
              <a:gd name="connsiteX6" fmla="*/ 108826 w 2976254"/>
              <a:gd name="connsiteY6" fmla="*/ 118488 h 3258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6254" h="3258904">
                <a:moveTo>
                  <a:pt x="152193" y="0"/>
                </a:moveTo>
                <a:lnTo>
                  <a:pt x="2976254" y="0"/>
                </a:lnTo>
                <a:lnTo>
                  <a:pt x="2976254" y="3192289"/>
                </a:lnTo>
                <a:lnTo>
                  <a:pt x="2908439" y="3209726"/>
                </a:lnTo>
                <a:cubicBezTo>
                  <a:pt x="2750864" y="3241971"/>
                  <a:pt x="2587711" y="3258904"/>
                  <a:pt x="2420603" y="3258904"/>
                </a:cubicBezTo>
                <a:cubicBezTo>
                  <a:pt x="1083741" y="3258904"/>
                  <a:pt x="0" y="2175163"/>
                  <a:pt x="0" y="838301"/>
                </a:cubicBezTo>
                <a:cubicBezTo>
                  <a:pt x="0" y="587639"/>
                  <a:pt x="38100" y="345877"/>
                  <a:pt x="108826" y="118488"/>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pic>
        <p:nvPicPr>
          <p:cNvPr id="1068" name="Graphic 1067">
            <a:extLst>
              <a:ext uri="{FF2B5EF4-FFF2-40B4-BE49-F238E27FC236}">
                <a16:creationId xmlns:a16="http://schemas.microsoft.com/office/drawing/2014/main" id="{C3756511-CF50-459F-A622-474890D5F8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a:biLevel thresh="2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l="35917" t="40037" r="12288" b="12942"/>
          <a:stretch/>
        </p:blipFill>
        <p:spPr>
          <a:xfrm rot="5400000">
            <a:off x="9239834" y="142588"/>
            <a:ext cx="3094752" cy="2809578"/>
          </a:xfrm>
          <a:prstGeom prst="rect">
            <a:avLst/>
          </a:prstGeom>
        </p:spPr>
      </p:pic>
      <p:sp>
        <p:nvSpPr>
          <p:cNvPr id="1070" name="Oval 1">
            <a:extLst>
              <a:ext uri="{FF2B5EF4-FFF2-40B4-BE49-F238E27FC236}">
                <a16:creationId xmlns:a16="http://schemas.microsoft.com/office/drawing/2014/main" id="{7263BF3B-928D-488C-BCD1-8EBBC246DC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19078"/>
            <a:ext cx="3186814" cy="3638922"/>
          </a:xfrm>
          <a:custGeom>
            <a:avLst/>
            <a:gdLst>
              <a:gd name="connsiteX0" fmla="*/ 1156116 w 3186814"/>
              <a:gd name="connsiteY0" fmla="*/ 0 h 3638922"/>
              <a:gd name="connsiteX1" fmla="*/ 3186814 w 3186814"/>
              <a:gd name="connsiteY1" fmla="*/ 2030698 h 3638922"/>
              <a:gd name="connsiteX2" fmla="*/ 2447829 w 3186814"/>
              <a:gd name="connsiteY2" fmla="*/ 3597684 h 3638922"/>
              <a:gd name="connsiteX3" fmla="*/ 2392682 w 3186814"/>
              <a:gd name="connsiteY3" fmla="*/ 3638922 h 3638922"/>
              <a:gd name="connsiteX4" fmla="*/ 0 w 3186814"/>
              <a:gd name="connsiteY4" fmla="*/ 3638922 h 3638922"/>
              <a:gd name="connsiteX5" fmla="*/ 0 w 3186814"/>
              <a:gd name="connsiteY5" fmla="*/ 362315 h 3638922"/>
              <a:gd name="connsiteX6" fmla="*/ 20733 w 3186814"/>
              <a:gd name="connsiteY6" fmla="*/ 346811 h 3638922"/>
              <a:gd name="connsiteX7" fmla="*/ 1156116 w 3186814"/>
              <a:gd name="connsiteY7" fmla="*/ 0 h 3638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6814" h="3638922">
                <a:moveTo>
                  <a:pt x="1156116" y="0"/>
                </a:moveTo>
                <a:cubicBezTo>
                  <a:pt x="2277640" y="0"/>
                  <a:pt x="3186814" y="909174"/>
                  <a:pt x="3186814" y="2030698"/>
                </a:cubicBezTo>
                <a:cubicBezTo>
                  <a:pt x="3186814" y="2661556"/>
                  <a:pt x="2899146" y="3225224"/>
                  <a:pt x="2447829" y="3597684"/>
                </a:cubicBezTo>
                <a:lnTo>
                  <a:pt x="2392682" y="3638922"/>
                </a:lnTo>
                <a:lnTo>
                  <a:pt x="0" y="3638922"/>
                </a:lnTo>
                <a:lnTo>
                  <a:pt x="0" y="362315"/>
                </a:lnTo>
                <a:lnTo>
                  <a:pt x="20733" y="346811"/>
                </a:lnTo>
                <a:cubicBezTo>
                  <a:pt x="344835" y="127853"/>
                  <a:pt x="735545" y="0"/>
                  <a:pt x="115611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C1C774F-D5A2-08AD-8053-309AE578A7EA}"/>
                  </a:ext>
                </a:extLst>
              </p:cNvPr>
              <p:cNvSpPr>
                <a:spLocks noGrp="1"/>
              </p:cNvSpPr>
              <p:nvPr>
                <p:ph idx="1"/>
              </p:nvPr>
            </p:nvSpPr>
            <p:spPr>
              <a:xfrm>
                <a:off x="4525552" y="4483330"/>
                <a:ext cx="7323153" cy="1689475"/>
              </a:xfrm>
            </p:spPr>
            <p:txBody>
              <a:bodyPr anchor="t">
                <a:normAutofit/>
              </a:bodyPr>
              <a:lstStyle/>
              <a:p>
                <a:pPr marL="0" indent="0">
                  <a:buNone/>
                </a:pPr>
                <a:r>
                  <a:rPr lang="en-US" sz="1700" b="1" dirty="0"/>
                  <a:t>Standing on the Shoulders of Giants</a:t>
                </a:r>
              </a:p>
              <a:p>
                <a:r>
                  <a:rPr lang="en-US" sz="1700" dirty="0"/>
                  <a:t>Standard Library: Batteries included (e.g., </a:t>
                </a:r>
                <a14:m>
                  <m:oMath xmlns:m="http://schemas.openxmlformats.org/officeDocument/2006/math">
                    <m:r>
                      <a:rPr lang="en-US" sz="1700" i="1">
                        <a:latin typeface="Cambria Math" panose="02040503050406030204" pitchFamily="18" charset="0"/>
                      </a:rPr>
                      <m:t>𝑚𝑎𝑡h</m:t>
                    </m:r>
                  </m:oMath>
                </a14:m>
                <a:r>
                  <a:rPr lang="en-US" sz="1700" dirty="0"/>
                  <a:t>,</a:t>
                </a:r>
                <a:r>
                  <a:rPr lang="en-US" sz="1700" i="1" dirty="0">
                    <a:latin typeface="Cambria Math" panose="02040503050406030204" pitchFamily="18" charset="0"/>
                  </a:rPr>
                  <a:t> </a:t>
                </a:r>
                <a:r>
                  <a:rPr lang="en-US" sz="1700" i="1" dirty="0" err="1">
                    <a:latin typeface="Cambria Math" panose="02040503050406030204" pitchFamily="18" charset="0"/>
                  </a:rPr>
                  <a:t>os</a:t>
                </a:r>
                <a:r>
                  <a:rPr lang="en-US" sz="1700" dirty="0"/>
                  <a:t>, </a:t>
                </a:r>
                <a:r>
                  <a:rPr lang="en-US" sz="1700" i="1" dirty="0">
                    <a:latin typeface="Cambria Math" panose="02040503050406030204" pitchFamily="18" charset="0"/>
                  </a:rPr>
                  <a:t>sys</a:t>
                </a:r>
                <a:r>
                  <a:rPr lang="en-US" sz="1700" dirty="0"/>
                  <a:t>, </a:t>
                </a:r>
                <a:r>
                  <a:rPr lang="en-US" sz="1700" i="1" dirty="0">
                    <a:latin typeface="Cambria Math" panose="02040503050406030204" pitchFamily="18" charset="0"/>
                  </a:rPr>
                  <a:t>datetime</a:t>
                </a:r>
                <a:r>
                  <a:rPr lang="en-US" sz="1700" dirty="0"/>
                  <a:t>, </a:t>
                </a:r>
                <a:r>
                  <a:rPr lang="en-US" sz="1700" i="1" dirty="0" err="1">
                    <a:latin typeface="Cambria Math" panose="02040503050406030204" pitchFamily="18" charset="0"/>
                  </a:rPr>
                  <a:t>itertools</a:t>
                </a:r>
                <a:r>
                  <a:rPr lang="en-US" sz="1700" dirty="0"/>
                  <a:t>).</a:t>
                </a:r>
              </a:p>
              <a:p>
                <a:r>
                  <a:rPr lang="en-US" sz="1700" dirty="0"/>
                  <a:t>Pip: The Python Package Index. How we install external tools.</a:t>
                </a:r>
              </a:p>
              <a:p>
                <a:r>
                  <a:rPr lang="en-US" sz="1700" i="1" dirty="0">
                    <a:latin typeface="Cambria Math" panose="02040503050406030204" pitchFamily="18" charset="0"/>
                  </a:rPr>
                  <a:t>requirements.txt</a:t>
                </a:r>
                <a:r>
                  <a:rPr lang="en-US" sz="1700" dirty="0"/>
                  <a:t>: The shopping list for your project’s environment.</a:t>
                </a:r>
              </a:p>
            </p:txBody>
          </p:sp>
        </mc:Choice>
        <mc:Fallback>
          <p:sp>
            <p:nvSpPr>
              <p:cNvPr id="3" name="Content Placeholder 2">
                <a:extLst>
                  <a:ext uri="{FF2B5EF4-FFF2-40B4-BE49-F238E27FC236}">
                    <a16:creationId xmlns:a16="http://schemas.microsoft.com/office/drawing/2014/main" id="{AC1C774F-D5A2-08AD-8053-309AE578A7EA}"/>
                  </a:ext>
                </a:extLst>
              </p:cNvPr>
              <p:cNvSpPr>
                <a:spLocks noGrp="1" noRot="1" noChangeAspect="1" noMove="1" noResize="1" noEditPoints="1" noAdjustHandles="1" noChangeArrowheads="1" noChangeShapeType="1" noTextEdit="1"/>
              </p:cNvSpPr>
              <p:nvPr>
                <p:ph idx="1"/>
              </p:nvPr>
            </p:nvSpPr>
            <p:spPr>
              <a:xfrm>
                <a:off x="4525552" y="4483330"/>
                <a:ext cx="7323153" cy="1689475"/>
              </a:xfrm>
              <a:blipFill>
                <a:blip r:embed="rId4"/>
                <a:stretch>
                  <a:fillRect l="-499" t="-2518"/>
                </a:stretch>
              </a:blipFill>
            </p:spPr>
            <p:txBody>
              <a:bodyPr/>
              <a:lstStyle/>
              <a:p>
                <a:r>
                  <a:rPr lang="en-US">
                    <a:noFill/>
                  </a:rPr>
                  <a:t> </a:t>
                </a:r>
              </a:p>
            </p:txBody>
          </p:sp>
        </mc:Fallback>
      </mc:AlternateContent>
      <p:pic>
        <p:nvPicPr>
          <p:cNvPr id="1031" name="Picture 7" descr="What the pip!? | Towards Data Science">
            <a:extLst>
              <a:ext uri="{FF2B5EF4-FFF2-40B4-BE49-F238E27FC236}">
                <a16:creationId xmlns:a16="http://schemas.microsoft.com/office/drawing/2014/main" id="{B3571C34-6DC5-C6CD-4AB7-E849FD2749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6446" y="117846"/>
            <a:ext cx="5964119" cy="3209597"/>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6 Python Built-Ins That Can Replace Entire Libraries (And Make Your Code  Faster)">
            <a:extLst>
              <a:ext uri="{FF2B5EF4-FFF2-40B4-BE49-F238E27FC236}">
                <a16:creationId xmlns:a16="http://schemas.microsoft.com/office/drawing/2014/main" id="{1BA17928-DB7A-6EF4-CCF7-2E86319F36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315" y="3656973"/>
            <a:ext cx="4066606" cy="2287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885341"/>
      </p:ext>
    </p:extLst>
  </p:cSld>
  <p:clrMapOvr>
    <a:masterClrMapping/>
  </p:clrMapOvr>
</p:sld>
</file>

<file path=ppt/theme/theme1.xml><?xml version="1.0" encoding="utf-8"?>
<a:theme xmlns:a="http://schemas.openxmlformats.org/drawingml/2006/main" name="ConfettiVTI">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docProps/app.xml><?xml version="1.0" encoding="utf-8"?>
<Properties xmlns="http://schemas.openxmlformats.org/officeDocument/2006/extended-properties" xmlns:vt="http://schemas.openxmlformats.org/officeDocument/2006/docPropsVTypes">
  <TotalTime>16</TotalTime>
  <Words>279</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 Math</vt:lpstr>
      <vt:lpstr>Gill Sans Nova</vt:lpstr>
      <vt:lpstr>ConfettiVTI</vt:lpstr>
      <vt:lpstr>Module 12: Building the Organization Layer</vt:lpstr>
      <vt:lpstr>What is a Module?</vt:lpstr>
      <vt:lpstr>What is a Package? </vt:lpstr>
      <vt:lpstr>The "Main" Guard</vt:lpstr>
      <vt:lpstr>The Standard Library &amp; Pip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7</cp:revision>
  <dcterms:created xsi:type="dcterms:W3CDTF">2026-04-21T06:39:48Z</dcterms:created>
  <dcterms:modified xsi:type="dcterms:W3CDTF">2026-04-21T07:03:36Z</dcterms:modified>
</cp:coreProperties>
</file>