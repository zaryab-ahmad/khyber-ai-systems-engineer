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6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3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4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9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4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2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4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35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0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Blue blocks and networks technology background">
            <a:extLst>
              <a:ext uri="{FF2B5EF4-FFF2-40B4-BE49-F238E27FC236}">
                <a16:creationId xmlns:a16="http://schemas.microsoft.com/office/drawing/2014/main" id="{6F887B6A-5728-C0E7-904F-74DBC24C6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4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B24FE-260B-2514-37CE-A739AAE5A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541" y="277838"/>
            <a:ext cx="10270814" cy="3836962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Phase 1, Module 6: Control Flow &amp; System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4C9E9-9DC5-FF11-B3E4-D92A42235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257" y="4025590"/>
            <a:ext cx="11355027" cy="2666110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Khyber AI Systems Engineer (KASE)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Welcome to Module 6. Until now, our code runs top-to-bottom and stops. Today, we give our systems the ability to make decisions and automate repetitive tasks. This is where your code becomes a 'System’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  <a:p>
            <a:pPr algn="r">
              <a:lnSpc>
                <a:spcPct val="100000"/>
              </a:lnSpc>
            </a:pPr>
            <a:r>
              <a:rPr lang="en-US" sz="2400" dirty="0"/>
              <a:t>Presented By: Zaryab Ahmad</a:t>
            </a:r>
          </a:p>
        </p:txBody>
      </p:sp>
    </p:spTree>
    <p:extLst>
      <p:ext uri="{BB962C8B-B14F-4D97-AF65-F5344CB8AC3E}">
        <p14:creationId xmlns:p14="http://schemas.microsoft.com/office/powerpoint/2010/main" val="4162095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C03CD-26BC-5C88-BC5A-BBD0F8D8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Conditionals (The System Router)</a:t>
            </a:r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027" name="Picture 3" descr="If Elif Else (Selection)">
            <a:extLst>
              <a:ext uri="{FF2B5EF4-FFF2-40B4-BE49-F238E27FC236}">
                <a16:creationId xmlns:a16="http://schemas.microsoft.com/office/drawing/2014/main" id="{2FBA30D8-80E4-C2A5-F23A-930AC4594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771439"/>
            <a:ext cx="6281928" cy="357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953CB-3DC1-8DEC-3126-4DA36D49B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𝑒𝑙𝑖𝑓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The brain's routing mechanism.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𝑖𝑓</m:t>
                    </m:r>
                  </m:oMath>
                </a14:m>
                <a:r>
                  <a:rPr lang="en-US" dirty="0"/>
                  <a:t>: The primary check.</a:t>
                </a:r>
              </a:p>
              <a:p>
                <a:r>
                  <a:rPr lang="en-US" dirty="0" err="1"/>
                  <a:t>elif</a:t>
                </a:r>
                <a:r>
                  <a:rPr lang="en-US" dirty="0"/>
                  <a:t>: The secondary check (only runs if the first fails).</a:t>
                </a:r>
              </a:p>
              <a:p>
                <a:r>
                  <a:rPr lang="en-US" dirty="0"/>
                  <a:t>else: The default fallback (prevents system crashes).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8953CB-3DC1-8DEC-3126-4DA36D49B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  <a:blipFill>
                <a:blip r:embed="rId3"/>
                <a:stretch>
                  <a:fillRect l="-1026" r="-1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36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D81CB-1C8C-AFF6-85B6-E145835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for Loop (Batch Processing)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Python Nested Loops - GeeksforGeeks">
            <a:extLst>
              <a:ext uri="{FF2B5EF4-FFF2-40B4-BE49-F238E27FC236}">
                <a16:creationId xmlns:a16="http://schemas.microsoft.com/office/drawing/2014/main" id="{C98E640C-6B3B-1AB0-00FC-339CD48D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3239322"/>
            <a:ext cx="5639091" cy="219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1AA0-970D-6DEB-D222-BD9177B3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Predictable Automation</a:t>
            </a:r>
          </a:p>
          <a:p>
            <a:r>
              <a:rPr lang="en-US" dirty="0"/>
              <a:t>Use a for loop when you know exactly how much data you have.</a:t>
            </a:r>
          </a:p>
          <a:p>
            <a:r>
              <a:rPr lang="en-US" dirty="0"/>
              <a:t>Perfect for iterating through Lists (datasets) and Dictionaries (JSON).</a:t>
            </a:r>
          </a:p>
        </p:txBody>
      </p:sp>
    </p:spTree>
    <p:extLst>
      <p:ext uri="{BB962C8B-B14F-4D97-AF65-F5344CB8AC3E}">
        <p14:creationId xmlns:p14="http://schemas.microsoft.com/office/powerpoint/2010/main" val="120865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2D8BF-0BE8-51BF-3B34-7EA5374D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while Loop (The Server Engine)</a:t>
            </a:r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Python while Loop (With Examples)">
            <a:extLst>
              <a:ext uri="{FF2B5EF4-FFF2-40B4-BE49-F238E27FC236}">
                <a16:creationId xmlns:a16="http://schemas.microsoft.com/office/drawing/2014/main" id="{34743487-5D33-4880-E40E-8A7F47086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6489" y="2299390"/>
            <a:ext cx="4201848" cy="40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C7AB0-1E9E-02C7-F70F-E77DEAC4B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104" y="2304288"/>
            <a:ext cx="5129784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Unpredictable Automation &amp; Retries</a:t>
            </a:r>
          </a:p>
          <a:p>
            <a:r>
              <a:rPr lang="en-US" dirty="0"/>
              <a:t>Use a while loop when you don't know when the task will end.</a:t>
            </a:r>
          </a:p>
          <a:p>
            <a:r>
              <a:rPr lang="en-US" dirty="0"/>
              <a:t>Danger: Infinite loops will crash your RAM.</a:t>
            </a:r>
          </a:p>
          <a:p>
            <a:r>
              <a:rPr lang="en-US" dirty="0"/>
              <a:t>AI Use Case: "Retry connecting to the database while the connection is False."</a:t>
            </a:r>
          </a:p>
        </p:txBody>
      </p:sp>
    </p:spTree>
    <p:extLst>
      <p:ext uri="{BB962C8B-B14F-4D97-AF65-F5344CB8AC3E}">
        <p14:creationId xmlns:p14="http://schemas.microsoft.com/office/powerpoint/2010/main" val="100388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8D556B-8B4A-0A1D-BC65-93146D1D72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21208" y="978408"/>
                <a:ext cx="11155680" cy="11155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Compute Efficiency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𝑏𝑟𝑒𝑎𝑘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𝑐𝑜𝑛𝑡𝑖𝑛𝑢𝑒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C8D556B-8B4A-0A1D-BC65-93146D1D7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1208" y="978408"/>
                <a:ext cx="11155680" cy="1115568"/>
              </a:xfrm>
              <a:blipFill>
                <a:blip r:embed="rId2"/>
                <a:stretch>
                  <a:fillRect l="-2240" t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6" name="Freeform: Shape 4105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9" name="Picture 3" descr="Break vs Continue Statement in ...">
            <a:extLst>
              <a:ext uri="{FF2B5EF4-FFF2-40B4-BE49-F238E27FC236}">
                <a16:creationId xmlns:a16="http://schemas.microsoft.com/office/drawing/2014/main" id="{DE62EFB7-D8AE-8B82-631D-44A7DB01E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3012001"/>
            <a:ext cx="5639091" cy="264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F49FD-ADB9-EBAA-F33C-E7AE6B42D2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Saving GPU Cycles</a:t>
                </a:r>
              </a:p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𝒄𝒐𝒏𝒕𝒊𝒏𝒖𝒆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Skip this specific item, but keep the loop running. (e.g., skip a corrupted image).</a:t>
                </a:r>
              </a:p>
              <a:p>
                <a:r>
                  <a:rPr lang="en-US" b="1" i="1" dirty="0">
                    <a:latin typeface="Cambria Math" panose="02040503050406030204" pitchFamily="18" charset="0"/>
                  </a:rPr>
                  <a:t>break: </a:t>
                </a:r>
                <a:r>
                  <a:rPr lang="en-US" dirty="0"/>
                  <a:t>Kill the loop entirely. (e.g., Target found, stop searching).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7F49FD-ADB9-EBAA-F33C-E7AE6B42D2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7104" y="2304288"/>
                <a:ext cx="5129784" cy="4050792"/>
              </a:xfrm>
              <a:blipFill>
                <a:blip r:embed="rId4"/>
                <a:stretch>
                  <a:fillRect l="-950" t="-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13259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246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Bierstadt</vt:lpstr>
      <vt:lpstr>Cambria Math</vt:lpstr>
      <vt:lpstr>GestaltVTI</vt:lpstr>
      <vt:lpstr>Phase 1, Module 6: Control Flow &amp; System Automation</vt:lpstr>
      <vt:lpstr>Conditionals (The System Router)</vt:lpstr>
      <vt:lpstr>The for Loop (Batch Processing)</vt:lpstr>
      <vt:lpstr>The while Loop (The Server Engine)</vt:lpstr>
      <vt:lpstr>Compute Efficiency (break &amp; continue)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2026-04-20T08:01:32Z</dcterms:created>
  <dcterms:modified xsi:type="dcterms:W3CDTF">2026-04-20T09:32:27Z</dcterms:modified>
</cp:coreProperties>
</file>