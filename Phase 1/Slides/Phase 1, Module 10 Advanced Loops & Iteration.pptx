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3" d="100"/>
          <a:sy n="53" d="100"/>
        </p:scale>
        <p:origin x="1152" y="1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4/21/2026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41790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4/21/2026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42730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4/21/2026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59074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4/21/2026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80719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4/21/2026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8695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4/21/2026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67539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4/21/2026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54361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4/21/2026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90640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4/21/2026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53090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4/21/2026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6057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4/21/2026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8035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4/21/2026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818803254"/>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descr="Metal pendulum">
            <a:extLst>
              <a:ext uri="{FF2B5EF4-FFF2-40B4-BE49-F238E27FC236}">
                <a16:creationId xmlns:a16="http://schemas.microsoft.com/office/drawing/2014/main" id="{8351184B-E38D-1787-AC3B-C95B30F55A2F}"/>
              </a:ext>
            </a:extLst>
          </p:cNvPr>
          <p:cNvPicPr>
            <a:picLocks noChangeAspect="1"/>
          </p:cNvPicPr>
          <p:nvPr/>
        </p:nvPicPr>
        <p:blipFill>
          <a:blip r:embed="rId2"/>
          <a:srcRect t="10000"/>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DF15DF8A-891A-1965-E372-1BA1F3B94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515572E-D3FA-D843-9935-FBE554801952}"/>
              </a:ext>
            </a:extLst>
          </p:cNvPr>
          <p:cNvSpPr>
            <a:spLocks noGrp="1"/>
          </p:cNvSpPr>
          <p:nvPr>
            <p:ph type="ctrTitle"/>
          </p:nvPr>
        </p:nvSpPr>
        <p:spPr>
          <a:xfrm>
            <a:off x="3187360" y="402770"/>
            <a:ext cx="9004620" cy="2174179"/>
          </a:xfrm>
        </p:spPr>
        <p:txBody>
          <a:bodyPr anchor="b">
            <a:normAutofit/>
          </a:bodyPr>
          <a:lstStyle/>
          <a:p>
            <a:pPr algn="l"/>
            <a:r>
              <a:rPr lang="en-US" sz="4900" dirty="0"/>
              <a:t>Phase 1, Module 10: Advanced Loops &amp; Iteration</a:t>
            </a:r>
          </a:p>
        </p:txBody>
      </p:sp>
      <p:sp>
        <p:nvSpPr>
          <p:cNvPr id="3" name="Subtitle 2">
            <a:extLst>
              <a:ext uri="{FF2B5EF4-FFF2-40B4-BE49-F238E27FC236}">
                <a16:creationId xmlns:a16="http://schemas.microsoft.com/office/drawing/2014/main" id="{4158A576-C1BB-4B69-71C8-A21CCED41333}"/>
              </a:ext>
            </a:extLst>
          </p:cNvPr>
          <p:cNvSpPr>
            <a:spLocks noGrp="1"/>
          </p:cNvSpPr>
          <p:nvPr>
            <p:ph type="subTitle" idx="1"/>
          </p:nvPr>
        </p:nvSpPr>
        <p:spPr>
          <a:xfrm>
            <a:off x="3679372" y="4133006"/>
            <a:ext cx="8257142" cy="2322224"/>
          </a:xfrm>
        </p:spPr>
        <p:txBody>
          <a:bodyPr anchor="t">
            <a:normAutofit lnSpcReduction="10000"/>
          </a:bodyPr>
          <a:lstStyle/>
          <a:p>
            <a:pPr algn="l">
              <a:lnSpc>
                <a:spcPct val="110000"/>
              </a:lnSpc>
            </a:pPr>
            <a:r>
              <a:rPr lang="en-US" sz="2000" b="1" dirty="0"/>
              <a:t>Khyber AI Systems Engineer (KASE)</a:t>
            </a:r>
          </a:p>
          <a:p>
            <a:pPr algn="l">
              <a:lnSpc>
                <a:spcPct val="110000"/>
              </a:lnSpc>
            </a:pPr>
            <a:r>
              <a:rPr lang="en-US" sz="2000" dirty="0"/>
              <a:t>Welcome to Module 10. Today, we go beyond the basic 'for' loop. We will learn how to handle parallel data streams, how to track indexes without manual counters, and how to write powerful one-line data transformations.</a:t>
            </a:r>
          </a:p>
          <a:p>
            <a:pPr algn="r">
              <a:lnSpc>
                <a:spcPct val="110000"/>
              </a:lnSpc>
            </a:pPr>
            <a:r>
              <a:rPr lang="en-US" sz="2000" dirty="0"/>
              <a:t>Presented By: Zaryab Ahmad</a:t>
            </a:r>
          </a:p>
        </p:txBody>
      </p:sp>
    </p:spTree>
    <p:extLst>
      <p:ext uri="{BB962C8B-B14F-4D97-AF65-F5344CB8AC3E}">
        <p14:creationId xmlns:p14="http://schemas.microsoft.com/office/powerpoint/2010/main" val="152094175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1" name="Rectangle 1040">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DBBD44-1FA1-EDC5-54D5-5F6472849952}"/>
              </a:ext>
            </a:extLst>
          </p:cNvPr>
          <p:cNvSpPr>
            <a:spLocks noGrp="1"/>
          </p:cNvSpPr>
          <p:nvPr>
            <p:ph type="title"/>
          </p:nvPr>
        </p:nvSpPr>
        <p:spPr>
          <a:xfrm>
            <a:off x="614677" y="603504"/>
            <a:ext cx="10872216" cy="1527048"/>
          </a:xfrm>
        </p:spPr>
        <p:txBody>
          <a:bodyPr anchor="b">
            <a:normAutofit/>
          </a:bodyPr>
          <a:lstStyle/>
          <a:p>
            <a:r>
              <a:rPr lang="en-US" dirty="0" err="1"/>
              <a:t>Iterables</a:t>
            </a:r>
            <a:r>
              <a:rPr lang="en-US" dirty="0"/>
              <a:t> vs. Iterators</a:t>
            </a:r>
          </a:p>
        </p:txBody>
      </p:sp>
      <p:pic>
        <p:nvPicPr>
          <p:cNvPr id="1030" name="Picture 6" descr="Iterators in Python | Board Infinity">
            <a:extLst>
              <a:ext uri="{FF2B5EF4-FFF2-40B4-BE49-F238E27FC236}">
                <a16:creationId xmlns:a16="http://schemas.microsoft.com/office/drawing/2014/main" id="{7AD9B4F6-4189-DECA-9983-39E825242CD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4678" y="2441274"/>
            <a:ext cx="5173647" cy="289724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FE6C93A-5561-08D7-A4A6-2F980274FC82}"/>
              </a:ext>
            </a:extLst>
          </p:cNvPr>
          <p:cNvSpPr>
            <a:spLocks noGrp="1"/>
          </p:cNvSpPr>
          <p:nvPr>
            <p:ph idx="1"/>
          </p:nvPr>
        </p:nvSpPr>
        <p:spPr>
          <a:xfrm>
            <a:off x="6096000" y="2441273"/>
            <a:ext cx="5385816" cy="3817942"/>
          </a:xfrm>
        </p:spPr>
        <p:txBody>
          <a:bodyPr anchor="t">
            <a:normAutofit/>
          </a:bodyPr>
          <a:lstStyle/>
          <a:p>
            <a:pPr marL="0" indent="0">
              <a:buNone/>
            </a:pPr>
            <a:r>
              <a:rPr lang="en-US" sz="1800" b="1" dirty="0"/>
              <a:t>What’s Under the Hood?</a:t>
            </a:r>
          </a:p>
          <a:p>
            <a:endParaRPr lang="en-US" sz="1800" dirty="0"/>
          </a:p>
          <a:p>
            <a:r>
              <a:rPr lang="en-US" sz="1800" b="1"/>
              <a:t>Iterable</a:t>
            </a:r>
            <a:r>
              <a:rPr lang="en-US" sz="1800" dirty="0"/>
              <a:t>: Any object you can loop over (List, String, Dictionary).</a:t>
            </a:r>
          </a:p>
          <a:p>
            <a:r>
              <a:rPr lang="en-US" sz="1800" b="1" dirty="0"/>
              <a:t>Iterator: </a:t>
            </a:r>
            <a:r>
              <a:rPr lang="en-US" sz="1800" dirty="0"/>
              <a:t>The actual object that tracks the "current position" and fetches the next item.</a:t>
            </a:r>
          </a:p>
          <a:p>
            <a:r>
              <a:rPr lang="en-US" sz="1800" b="1" dirty="0"/>
              <a:t>The next() Function: </a:t>
            </a:r>
            <a:r>
              <a:rPr lang="en-US" sz="1800" dirty="0"/>
              <a:t>How Python moves through a sequence.</a:t>
            </a:r>
          </a:p>
        </p:txBody>
      </p:sp>
    </p:spTree>
    <p:extLst>
      <p:ext uri="{BB962C8B-B14F-4D97-AF65-F5344CB8AC3E}">
        <p14:creationId xmlns:p14="http://schemas.microsoft.com/office/powerpoint/2010/main" val="1601349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9" name="Rectangle 2058">
            <a:extLst>
              <a:ext uri="{FF2B5EF4-FFF2-40B4-BE49-F238E27FC236}">
                <a16:creationId xmlns:a16="http://schemas.microsoft.com/office/drawing/2014/main" id="{F6E37E9F-0D7B-3A32-831F-F60BBD6B9B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2B8DA7-F16B-9ADC-DCD1-11AD1B86848D}"/>
              </a:ext>
            </a:extLst>
          </p:cNvPr>
          <p:cNvSpPr>
            <a:spLocks noGrp="1"/>
          </p:cNvSpPr>
          <p:nvPr>
            <p:ph type="title"/>
          </p:nvPr>
        </p:nvSpPr>
        <p:spPr>
          <a:xfrm>
            <a:off x="1179576" y="1069848"/>
            <a:ext cx="4916424" cy="1353312"/>
          </a:xfrm>
        </p:spPr>
        <p:txBody>
          <a:bodyPr anchor="b">
            <a:normAutofit/>
          </a:bodyPr>
          <a:lstStyle/>
          <a:p>
            <a:r>
              <a:rPr lang="en-US" dirty="0"/>
              <a:t>Parallel &amp; Indexed Iteration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CF1A419-1F6A-7178-F8C3-A4755F411FDF}"/>
                  </a:ext>
                </a:extLst>
              </p:cNvPr>
              <p:cNvSpPr>
                <a:spLocks noGrp="1"/>
              </p:cNvSpPr>
              <p:nvPr>
                <p:ph idx="1"/>
              </p:nvPr>
            </p:nvSpPr>
            <p:spPr>
              <a:xfrm>
                <a:off x="1172509" y="2510288"/>
                <a:ext cx="4916424" cy="3454933"/>
              </a:xfrm>
            </p:spPr>
            <p:txBody>
              <a:bodyPr>
                <a:normAutofit/>
              </a:bodyPr>
              <a:lstStyle/>
              <a:p>
                <a14:m>
                  <m:oMath xmlns:m="http://schemas.openxmlformats.org/officeDocument/2006/math">
                    <m:r>
                      <a:rPr lang="en-US" sz="1800" b="1" i="1">
                        <a:latin typeface="Cambria Math" panose="02040503050406030204" pitchFamily="18" charset="0"/>
                      </a:rPr>
                      <m:t>𝒆𝒏𝒖𝒎𝒆𝒓𝒂𝒕𝒆</m:t>
                    </m:r>
                    <m:r>
                      <a:rPr lang="en-US" sz="1800" b="1" i="1">
                        <a:latin typeface="Cambria Math" panose="02040503050406030204" pitchFamily="18" charset="0"/>
                      </a:rPr>
                      <m:t>() </m:t>
                    </m:r>
                  </m:oMath>
                </a14:m>
                <a:r>
                  <a:rPr lang="en-US" sz="1800" b="1"/>
                  <a:t>and </a:t>
                </a:r>
                <a:r>
                  <a:rPr lang="en-US" sz="1800" b="1" i="1">
                    <a:latin typeface="Cambria Math" panose="02040503050406030204" pitchFamily="18" charset="0"/>
                  </a:rPr>
                  <a:t>zip()</a:t>
                </a:r>
              </a:p>
              <a:p>
                <a:endParaRPr lang="en-US" sz="1800"/>
              </a:p>
              <a:p>
                <a14:m>
                  <m:oMath xmlns:m="http://schemas.openxmlformats.org/officeDocument/2006/math">
                    <m:r>
                      <a:rPr lang="en-US" sz="1800" b="1" i="1">
                        <a:latin typeface="Cambria Math" panose="02040503050406030204" pitchFamily="18" charset="0"/>
                      </a:rPr>
                      <m:t>𝒆𝒏𝒖𝒎𝒆𝒓𝒂𝒕𝒆</m:t>
                    </m:r>
                    <m:r>
                      <a:rPr lang="en-US" sz="1800" b="1" i="1">
                        <a:latin typeface="Cambria Math" panose="02040503050406030204" pitchFamily="18" charset="0"/>
                      </a:rPr>
                      <m:t>(): </m:t>
                    </m:r>
                  </m:oMath>
                </a14:m>
                <a:r>
                  <a:rPr lang="en-US" sz="1800"/>
                  <a:t>Automatically tracks the index count while looping. No more i = 0 and i += 1.</a:t>
                </a:r>
              </a:p>
              <a:p>
                <a:r>
                  <a:rPr lang="en-US" sz="1800" b="1" i="1">
                    <a:latin typeface="Cambria Math" panose="02040503050406030204" pitchFamily="18" charset="0"/>
                  </a:rPr>
                  <a:t>zip(): </a:t>
                </a:r>
                <a:r>
                  <a:rPr lang="en-US" sz="1800"/>
                  <a:t>Sews two or more lists together to process them in parallel.</a:t>
                </a:r>
              </a:p>
            </p:txBody>
          </p:sp>
        </mc:Choice>
        <mc:Fallback>
          <p:sp>
            <p:nvSpPr>
              <p:cNvPr id="3" name="Content Placeholder 2">
                <a:extLst>
                  <a:ext uri="{FF2B5EF4-FFF2-40B4-BE49-F238E27FC236}">
                    <a16:creationId xmlns:a16="http://schemas.microsoft.com/office/drawing/2014/main" id="{3CF1A419-1F6A-7178-F8C3-A4755F411FDF}"/>
                  </a:ext>
                </a:extLst>
              </p:cNvPr>
              <p:cNvSpPr>
                <a:spLocks noGrp="1" noRot="1" noChangeAspect="1" noMove="1" noResize="1" noEditPoints="1" noAdjustHandles="1" noChangeArrowheads="1" noChangeShapeType="1" noTextEdit="1"/>
              </p:cNvSpPr>
              <p:nvPr>
                <p:ph idx="1"/>
              </p:nvPr>
            </p:nvSpPr>
            <p:spPr>
              <a:xfrm>
                <a:off x="1172509" y="2510288"/>
                <a:ext cx="4916424" cy="3454933"/>
              </a:xfrm>
              <a:blipFill>
                <a:blip r:embed="rId2"/>
                <a:stretch>
                  <a:fillRect l="-743" t="-353"/>
                </a:stretch>
              </a:blipFill>
            </p:spPr>
            <p:txBody>
              <a:bodyPr/>
              <a:lstStyle/>
              <a:p>
                <a:r>
                  <a:rPr lang="en-US">
                    <a:noFill/>
                  </a:rPr>
                  <a:t> </a:t>
                </a:r>
              </a:p>
            </p:txBody>
          </p:sp>
        </mc:Fallback>
      </mc:AlternateContent>
      <p:pic>
        <p:nvPicPr>
          <p:cNvPr id="2052" name="Picture 4" descr="Python: Enumerate() and Sort ...">
            <a:extLst>
              <a:ext uri="{FF2B5EF4-FFF2-40B4-BE49-F238E27FC236}">
                <a16:creationId xmlns:a16="http://schemas.microsoft.com/office/drawing/2014/main" id="{D85B7F2C-BF7F-5CFB-46B7-252E9682D8F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924262" y="882111"/>
            <a:ext cx="3195739" cy="242777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Python - Iterate over multiple lists in ...">
            <a:extLst>
              <a:ext uri="{FF2B5EF4-FFF2-40B4-BE49-F238E27FC236}">
                <a16:creationId xmlns:a16="http://schemas.microsoft.com/office/drawing/2014/main" id="{8F5939B0-8715-B93D-BCC2-219F1B3B2211}"/>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924261" y="3539091"/>
            <a:ext cx="4088161" cy="2361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61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4D9257-4A7B-4FD9-98A1-31A12DD1CC86}"/>
              </a:ext>
            </a:extLst>
          </p:cNvPr>
          <p:cNvSpPr>
            <a:spLocks noGrp="1"/>
          </p:cNvSpPr>
          <p:nvPr>
            <p:ph type="title"/>
          </p:nvPr>
        </p:nvSpPr>
        <p:spPr>
          <a:xfrm>
            <a:off x="614677" y="603504"/>
            <a:ext cx="10872216" cy="1527048"/>
          </a:xfrm>
        </p:spPr>
        <p:txBody>
          <a:bodyPr anchor="b">
            <a:normAutofit/>
          </a:bodyPr>
          <a:lstStyle/>
          <a:p>
            <a:r>
              <a:rPr lang="en-US" dirty="0"/>
              <a:t>List Comprehensions (Clean Code)</a:t>
            </a:r>
          </a:p>
        </p:txBody>
      </p:sp>
      <p:pic>
        <p:nvPicPr>
          <p:cNvPr id="3076" name="Picture 4" descr="List Comprehensions Confusing ...">
            <a:extLst>
              <a:ext uri="{FF2B5EF4-FFF2-40B4-BE49-F238E27FC236}">
                <a16:creationId xmlns:a16="http://schemas.microsoft.com/office/drawing/2014/main" id="{F61AAFE1-648D-F82B-61F4-D2554E1BC04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4678" y="2441274"/>
            <a:ext cx="5173647" cy="160472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2717DE7-A3F2-79A3-8DEE-E3A43FCFDAE7}"/>
                  </a:ext>
                </a:extLst>
              </p:cNvPr>
              <p:cNvSpPr>
                <a:spLocks noGrp="1"/>
              </p:cNvSpPr>
              <p:nvPr>
                <p:ph idx="1"/>
              </p:nvPr>
            </p:nvSpPr>
            <p:spPr>
              <a:xfrm>
                <a:off x="6096000" y="2441273"/>
                <a:ext cx="5385816" cy="3817942"/>
              </a:xfrm>
            </p:spPr>
            <p:txBody>
              <a:bodyPr anchor="t">
                <a:normAutofit/>
              </a:bodyPr>
              <a:lstStyle/>
              <a:p>
                <a:pPr marL="0" indent="0">
                  <a:buNone/>
                </a:pPr>
                <a:r>
                  <a:rPr lang="en-US" sz="1800" b="1" dirty="0"/>
                  <a:t>The Power of the One-Liner</a:t>
                </a:r>
              </a:p>
              <a:p>
                <a:r>
                  <a:rPr lang="en-US" sz="1800" dirty="0"/>
                  <a:t>A compact way to create new lists from old ones.</a:t>
                </a:r>
              </a:p>
              <a:p>
                <a:r>
                  <a:rPr lang="en-US" sz="1800" b="1" dirty="0"/>
                  <a:t>Syntax: </a:t>
                </a:r>
                <a14:m>
                  <m:oMath xmlns:m="http://schemas.openxmlformats.org/officeDocument/2006/math">
                    <m:r>
                      <a:rPr lang="en-US" sz="1800" i="1" dirty="0" smtClean="0">
                        <a:latin typeface="Cambria Math" panose="02040503050406030204" pitchFamily="18" charset="0"/>
                      </a:rPr>
                      <m:t>[</m:t>
                    </m:r>
                    <m:r>
                      <a:rPr lang="en-US" sz="1800" i="1" dirty="0" smtClean="0">
                        <a:latin typeface="Cambria Math" panose="02040503050406030204" pitchFamily="18" charset="0"/>
                      </a:rPr>
                      <m:t>𝑒𝑥𝑝𝑟𝑒𝑠𝑠𝑖𝑜𝑛</m:t>
                    </m:r>
                    <m:r>
                      <a:rPr lang="en-US" sz="1800" i="1" dirty="0" smtClean="0">
                        <a:latin typeface="Cambria Math" panose="02040503050406030204" pitchFamily="18" charset="0"/>
                      </a:rPr>
                      <m:t> </m:t>
                    </m:r>
                    <m:r>
                      <a:rPr lang="en-US" sz="1800" i="1" dirty="0" smtClean="0">
                        <a:latin typeface="Cambria Math" panose="02040503050406030204" pitchFamily="18" charset="0"/>
                      </a:rPr>
                      <m:t>𝑓𝑜𝑟</m:t>
                    </m:r>
                    <m:r>
                      <a:rPr lang="en-US" sz="1800" i="1" dirty="0" smtClean="0">
                        <a:latin typeface="Cambria Math" panose="02040503050406030204" pitchFamily="18" charset="0"/>
                      </a:rPr>
                      <m:t> </m:t>
                    </m:r>
                    <m:r>
                      <a:rPr lang="en-US" sz="1800" i="1" dirty="0" smtClean="0">
                        <a:latin typeface="Cambria Math" panose="02040503050406030204" pitchFamily="18" charset="0"/>
                      </a:rPr>
                      <m:t>𝑖𝑡𝑒𝑚</m:t>
                    </m:r>
                    <m:r>
                      <a:rPr lang="en-US" sz="1800" i="1" dirty="0" smtClean="0">
                        <a:latin typeface="Cambria Math" panose="02040503050406030204" pitchFamily="18" charset="0"/>
                      </a:rPr>
                      <m:t> </m:t>
                    </m:r>
                    <m:r>
                      <a:rPr lang="en-US" sz="1800" i="1" dirty="0" smtClean="0">
                        <a:latin typeface="Cambria Math" panose="02040503050406030204" pitchFamily="18" charset="0"/>
                      </a:rPr>
                      <m:t>𝑖𝑛</m:t>
                    </m:r>
                    <m:r>
                      <a:rPr lang="en-US" sz="1800" i="1" dirty="0" smtClean="0">
                        <a:latin typeface="Cambria Math" panose="02040503050406030204" pitchFamily="18" charset="0"/>
                      </a:rPr>
                      <m:t> </m:t>
                    </m:r>
                    <m:r>
                      <a:rPr lang="en-US" sz="1800" i="1" dirty="0" err="1">
                        <a:latin typeface="Cambria Math" panose="02040503050406030204" pitchFamily="18" charset="0"/>
                      </a:rPr>
                      <m:t>𝑖𝑡𝑒𝑟𝑎𝑏𝑙𝑒</m:t>
                    </m:r>
                    <m:r>
                      <a:rPr lang="en-US" sz="1800" i="1" dirty="0">
                        <a:latin typeface="Cambria Math" panose="02040503050406030204" pitchFamily="18" charset="0"/>
                      </a:rPr>
                      <m:t> </m:t>
                    </m:r>
                    <m:r>
                      <a:rPr lang="en-US" sz="1800" i="1" dirty="0">
                        <a:latin typeface="Cambria Math" panose="02040503050406030204" pitchFamily="18" charset="0"/>
                      </a:rPr>
                      <m:t>𝑖𝑓</m:t>
                    </m:r>
                    <m:r>
                      <a:rPr lang="en-US" sz="1800" i="1" dirty="0">
                        <a:latin typeface="Cambria Math" panose="02040503050406030204" pitchFamily="18" charset="0"/>
                      </a:rPr>
                      <m:t> </m:t>
                    </m:r>
                    <m:r>
                      <a:rPr lang="en-US" sz="1800" i="1" dirty="0">
                        <a:latin typeface="Cambria Math" panose="02040503050406030204" pitchFamily="18" charset="0"/>
                      </a:rPr>
                      <m:t>𝑐𝑜𝑛𝑑𝑖𝑡𝑖𝑜𝑛</m:t>
                    </m:r>
                    <m:r>
                      <a:rPr lang="en-US" sz="1800" i="1" dirty="0">
                        <a:latin typeface="Cambria Math" panose="02040503050406030204" pitchFamily="18" charset="0"/>
                      </a:rPr>
                      <m:t>]</m:t>
                    </m:r>
                  </m:oMath>
                </a14:m>
                <a:endParaRPr lang="en-US" sz="1800" dirty="0"/>
              </a:p>
              <a:p>
                <a:r>
                  <a:rPr lang="en-US" sz="1800" b="1" dirty="0"/>
                  <a:t>Performance: </a:t>
                </a:r>
                <a:r>
                  <a:rPr lang="en-US" sz="1800" dirty="0"/>
                  <a:t>They are executed at near-C speeds, making them faster than standard loops.</a:t>
                </a:r>
              </a:p>
            </p:txBody>
          </p:sp>
        </mc:Choice>
        <mc:Fallback>
          <p:sp>
            <p:nvSpPr>
              <p:cNvPr id="3" name="Content Placeholder 2">
                <a:extLst>
                  <a:ext uri="{FF2B5EF4-FFF2-40B4-BE49-F238E27FC236}">
                    <a16:creationId xmlns:a16="http://schemas.microsoft.com/office/drawing/2014/main" id="{72717DE7-A3F2-79A3-8DEE-E3A43FCFDAE7}"/>
                  </a:ext>
                </a:extLst>
              </p:cNvPr>
              <p:cNvSpPr>
                <a:spLocks noGrp="1" noRot="1" noChangeAspect="1" noMove="1" noResize="1" noEditPoints="1" noAdjustHandles="1" noChangeArrowheads="1" noChangeShapeType="1" noTextEdit="1"/>
              </p:cNvSpPr>
              <p:nvPr>
                <p:ph idx="1"/>
              </p:nvPr>
            </p:nvSpPr>
            <p:spPr>
              <a:xfrm>
                <a:off x="6096000" y="2441273"/>
                <a:ext cx="5385816" cy="3817942"/>
              </a:xfrm>
              <a:blipFill>
                <a:blip r:embed="rId3"/>
                <a:stretch>
                  <a:fillRect l="-905"/>
                </a:stretch>
              </a:blipFill>
            </p:spPr>
            <p:txBody>
              <a:bodyPr/>
              <a:lstStyle/>
              <a:p>
                <a:r>
                  <a:rPr lang="en-US">
                    <a:noFill/>
                  </a:rPr>
                  <a:t> </a:t>
                </a:r>
              </a:p>
            </p:txBody>
          </p:sp>
        </mc:Fallback>
      </mc:AlternateContent>
    </p:spTree>
    <p:extLst>
      <p:ext uri="{BB962C8B-B14F-4D97-AF65-F5344CB8AC3E}">
        <p14:creationId xmlns:p14="http://schemas.microsoft.com/office/powerpoint/2010/main" val="2983644869"/>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21</TotalTime>
  <Words>211</Words>
  <Application>Microsoft Office PowerPoint</Application>
  <PresentationFormat>Widescreen</PresentationFormat>
  <Paragraphs>20</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Cambria Math</vt:lpstr>
      <vt:lpstr>Neue Haas Grotesk Text Pro</vt:lpstr>
      <vt:lpstr>VanillaVTI</vt:lpstr>
      <vt:lpstr>Phase 1, Module 10: Advanced Loops &amp; Iteration</vt:lpstr>
      <vt:lpstr>Iterables vs. Iterators</vt:lpstr>
      <vt:lpstr>Parallel &amp; Indexed Iteration</vt:lpstr>
      <vt:lpstr>List Comprehensions (Clean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zaryab ahmad khan</dc:creator>
  <cp:lastModifiedBy>zaryab ahmad khan</cp:lastModifiedBy>
  <cp:revision>3</cp:revision>
  <dcterms:created xsi:type="dcterms:W3CDTF">2026-04-21T05:24:33Z</dcterms:created>
  <dcterms:modified xsi:type="dcterms:W3CDTF">2026-04-21T05:45:34Z</dcterms:modified>
</cp:coreProperties>
</file>