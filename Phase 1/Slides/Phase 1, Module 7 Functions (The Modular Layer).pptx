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8" d="100"/>
          <a:sy n="58" d="100"/>
        </p:scale>
        <p:origin x="92"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4/20/2026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19856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4/20/2026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41083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4/20/2026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8910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4/20/2026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017929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4/20/2026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53858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4/20/2026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85066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4/20/2026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1060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4/20/2026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61826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4/20/2026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30314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4/20/2026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1461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4/20/2026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6587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4/20/2026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26727360"/>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Video 3" descr="Vital Signs Line">
            <a:extLst>
              <a:ext uri="{FF2B5EF4-FFF2-40B4-BE49-F238E27FC236}">
                <a16:creationId xmlns:a16="http://schemas.microsoft.com/office/drawing/2014/main" id="{B803FE7A-9746-5A69-3AB5-207D45C157D1}"/>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259" r="-1" b="-1"/>
          <a:stretch>
            <a:fillRect/>
          </a:stretch>
        </p:blipFill>
        <p:spPr>
          <a:xfrm>
            <a:off x="20" y="10"/>
            <a:ext cx="12188932" cy="6857990"/>
          </a:xfrm>
          <a:prstGeom prst="rect">
            <a:avLst/>
          </a:prstGeom>
        </p:spPr>
      </p:pic>
      <p:sp>
        <p:nvSpPr>
          <p:cNvPr id="11" name="Rectangle 10">
            <a:extLst>
              <a:ext uri="{FF2B5EF4-FFF2-40B4-BE49-F238E27FC236}">
                <a16:creationId xmlns:a16="http://schemas.microsoft.com/office/drawing/2014/main" id="{7508F7DC-CA28-4ACE-AF79-D7E98ED1B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AB20218-A500-457C-B65C-F3D198B1F7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1524" y="0"/>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817108-F783-5EEC-CC1E-89F8430D3333}"/>
              </a:ext>
            </a:extLst>
          </p:cNvPr>
          <p:cNvSpPr>
            <a:spLocks noGrp="1"/>
          </p:cNvSpPr>
          <p:nvPr>
            <p:ph type="ctrTitle"/>
          </p:nvPr>
        </p:nvSpPr>
        <p:spPr>
          <a:xfrm>
            <a:off x="517870" y="978408"/>
            <a:ext cx="8686796" cy="2334247"/>
          </a:xfrm>
        </p:spPr>
        <p:txBody>
          <a:bodyPr anchor="t">
            <a:normAutofit/>
          </a:bodyPr>
          <a:lstStyle/>
          <a:p>
            <a:pPr>
              <a:lnSpc>
                <a:spcPct val="90000"/>
              </a:lnSpc>
            </a:pPr>
            <a:r>
              <a:rPr lang="en-US" sz="5000">
                <a:solidFill>
                  <a:srgbClr val="FFFFFF"/>
                </a:solidFill>
              </a:rPr>
              <a:t>Phase 1, Module 7: Functions &amp; The Modular Layer</a:t>
            </a:r>
          </a:p>
        </p:txBody>
      </p:sp>
      <p:sp>
        <p:nvSpPr>
          <p:cNvPr id="3" name="Subtitle 2">
            <a:extLst>
              <a:ext uri="{FF2B5EF4-FFF2-40B4-BE49-F238E27FC236}">
                <a16:creationId xmlns:a16="http://schemas.microsoft.com/office/drawing/2014/main" id="{258FD462-770A-5B8D-48F5-98A5A97C5642}"/>
              </a:ext>
            </a:extLst>
          </p:cNvPr>
          <p:cNvSpPr>
            <a:spLocks noGrp="1"/>
          </p:cNvSpPr>
          <p:nvPr>
            <p:ph type="subTitle" idx="1"/>
          </p:nvPr>
        </p:nvSpPr>
        <p:spPr>
          <a:xfrm>
            <a:off x="3276123" y="3652126"/>
            <a:ext cx="8720710" cy="2653653"/>
          </a:xfrm>
        </p:spPr>
        <p:txBody>
          <a:bodyPr anchor="t">
            <a:normAutofit/>
          </a:bodyPr>
          <a:lstStyle/>
          <a:p>
            <a:r>
              <a:rPr lang="en-US" b="1" dirty="0">
                <a:solidFill>
                  <a:srgbClr val="FFFFFF"/>
                </a:solidFill>
              </a:rPr>
              <a:t>Khyber AI Systems Engineer (KASE)</a:t>
            </a:r>
          </a:p>
          <a:p>
            <a:r>
              <a:rPr lang="en-US" dirty="0">
                <a:solidFill>
                  <a:srgbClr val="FFFFFF"/>
                </a:solidFill>
              </a:rPr>
              <a:t>Welcome to Module 7. Today, we stop writing scripts and start writing Software. We are going to build isolated, reusable 'blocks' of code called Functions. In Phase 6, these functions will literally become the 'Hands' of your AI Agents.</a:t>
            </a:r>
          </a:p>
          <a:p>
            <a:pPr algn="r"/>
            <a:r>
              <a:rPr lang="en-US" dirty="0">
                <a:solidFill>
                  <a:srgbClr val="FFFFFF"/>
                </a:solidFill>
              </a:rPr>
              <a:t>Presented By: Zaryab Ahmad</a:t>
            </a:r>
          </a:p>
        </p:txBody>
      </p:sp>
      <p:sp>
        <p:nvSpPr>
          <p:cNvPr id="15" name="Rectangle 14">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686800"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548369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93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1A5B1A0-3F68-5CCA-5B34-C70B41A26BED}"/>
              </a:ext>
            </a:extLst>
          </p:cNvPr>
          <p:cNvSpPr>
            <a:spLocks noGrp="1"/>
          </p:cNvSpPr>
          <p:nvPr>
            <p:ph type="title"/>
          </p:nvPr>
        </p:nvSpPr>
        <p:spPr>
          <a:xfrm>
            <a:off x="521208" y="978408"/>
            <a:ext cx="6300216" cy="1325880"/>
          </a:xfrm>
        </p:spPr>
        <p:txBody>
          <a:bodyPr>
            <a:normAutofit/>
          </a:bodyPr>
          <a:lstStyle/>
          <a:p>
            <a:r>
              <a:rPr lang="en-US" dirty="0"/>
              <a:t>What is a Function?</a:t>
            </a:r>
          </a:p>
        </p:txBody>
      </p:sp>
      <p:sp>
        <p:nvSpPr>
          <p:cNvPr id="1035" name="Rectangle 1034">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1028" name="Picture 4" descr="Essential Programming | An Introduction ...">
            <a:extLst>
              <a:ext uri="{FF2B5EF4-FFF2-40B4-BE49-F238E27FC236}">
                <a16:creationId xmlns:a16="http://schemas.microsoft.com/office/drawing/2014/main" id="{4190D75F-AFC0-3F29-93F0-6789D79437C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7867" y="2429691"/>
            <a:ext cx="5960542" cy="391631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0775FD82-CD9B-E96D-08A8-C26725A53F54}"/>
              </a:ext>
            </a:extLst>
          </p:cNvPr>
          <p:cNvSpPr>
            <a:spLocks noGrp="1"/>
          </p:cNvSpPr>
          <p:nvPr>
            <p:ph idx="1"/>
          </p:nvPr>
        </p:nvSpPr>
        <p:spPr>
          <a:xfrm>
            <a:off x="7507224" y="1088136"/>
            <a:ext cx="4160520" cy="5257800"/>
          </a:xfrm>
        </p:spPr>
        <p:txBody>
          <a:bodyPr>
            <a:normAutofit/>
          </a:bodyPr>
          <a:lstStyle/>
          <a:p>
            <a:pPr marL="0" indent="0">
              <a:buNone/>
            </a:pPr>
            <a:r>
              <a:rPr lang="en-US" b="1"/>
              <a:t>What is a Function?</a:t>
            </a:r>
          </a:p>
          <a:p>
            <a:r>
              <a:rPr lang="en-US" dirty="0"/>
              <a:t>A function is a named, isolated block of code that performs exactly one specific task.</a:t>
            </a:r>
          </a:p>
          <a:p>
            <a:r>
              <a:rPr lang="en-US" dirty="0"/>
              <a:t>It acts like a mini-machine: Data goes in, it gets processed, and new data comes out.</a:t>
            </a:r>
          </a:p>
          <a:p>
            <a:r>
              <a:rPr lang="en-US" dirty="0"/>
              <a:t>AI Context: In Phase 6, your AI Agents will use these functions as their "Hands" (e.g., a function to search the web, a function to calculate math).</a:t>
            </a:r>
          </a:p>
        </p:txBody>
      </p:sp>
    </p:spTree>
    <p:extLst>
      <p:ext uri="{BB962C8B-B14F-4D97-AF65-F5344CB8AC3E}">
        <p14:creationId xmlns:p14="http://schemas.microsoft.com/office/powerpoint/2010/main" val="1253376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6" name="Rectangle 2055">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BA7C243-E5DC-5EC9-EA28-6E57ED3EAD9C}"/>
              </a:ext>
            </a:extLst>
          </p:cNvPr>
          <p:cNvSpPr>
            <a:spLocks noGrp="1"/>
          </p:cNvSpPr>
          <p:nvPr>
            <p:ph type="title"/>
          </p:nvPr>
        </p:nvSpPr>
        <p:spPr>
          <a:xfrm>
            <a:off x="521208" y="978408"/>
            <a:ext cx="6300216" cy="1325880"/>
          </a:xfrm>
        </p:spPr>
        <p:txBody>
          <a:bodyPr>
            <a:normAutofit/>
          </a:bodyPr>
          <a:lstStyle/>
          <a:p>
            <a:pPr>
              <a:lnSpc>
                <a:spcPct val="90000"/>
              </a:lnSpc>
            </a:pPr>
            <a:r>
              <a:rPr lang="en-US" dirty="0"/>
              <a:t>How Does It Work? (The Anatomy)</a:t>
            </a:r>
            <a:endParaRPr lang="en-US"/>
          </a:p>
        </p:txBody>
      </p:sp>
      <p:sp>
        <p:nvSpPr>
          <p:cNvPr id="2058" name="Rectangle 2057">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0" name="Rectangle 2059">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2051" name="Picture 3" descr="Python Function | Board Infinity">
            <a:extLst>
              <a:ext uri="{FF2B5EF4-FFF2-40B4-BE49-F238E27FC236}">
                <a16:creationId xmlns:a16="http://schemas.microsoft.com/office/drawing/2014/main" id="{37828D59-72CE-8B8B-0582-A7E4F4A8EB9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7867" y="2828125"/>
            <a:ext cx="6281928" cy="351787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8F55B6D-8FE2-B308-168C-7205C757EF7D}"/>
                  </a:ext>
                </a:extLst>
              </p:cNvPr>
              <p:cNvSpPr>
                <a:spLocks noGrp="1"/>
              </p:cNvSpPr>
              <p:nvPr>
                <p:ph idx="1"/>
              </p:nvPr>
            </p:nvSpPr>
            <p:spPr>
              <a:xfrm>
                <a:off x="7507224" y="1088136"/>
                <a:ext cx="4160520" cy="5257800"/>
              </a:xfrm>
            </p:spPr>
            <p:txBody>
              <a:bodyPr>
                <a:normAutofit/>
              </a:bodyPr>
              <a:lstStyle/>
              <a:p>
                <a:pPr marL="0" indent="0">
                  <a:buNone/>
                </a:pPr>
                <a14:m>
                  <m:oMath xmlns:m="http://schemas.openxmlformats.org/officeDocument/2006/math">
                    <m:r>
                      <a:rPr lang="en-US" b="1" i="1" dirty="0" smtClean="0">
                        <a:latin typeface="Cambria Math" panose="02040503050406030204" pitchFamily="18" charset="0"/>
                      </a:rPr>
                      <m:t>𝒅𝒆𝒇</m:t>
                    </m:r>
                  </m:oMath>
                </a14:m>
                <a:r>
                  <a:rPr lang="en-US" b="1"/>
                  <a:t>, Inputs, and Outputs</a:t>
                </a:r>
              </a:p>
              <a:p>
                <a:r>
                  <a:rPr lang="en-US" b="1" i="1" dirty="0">
                    <a:latin typeface="Cambria Math" panose="02040503050406030204" pitchFamily="18" charset="0"/>
                  </a:rPr>
                  <a:t>def</a:t>
                </a:r>
                <a:r>
                  <a:rPr lang="en-US" dirty="0">
                    <a:latin typeface="Cambria Math" panose="02040503050406030204" pitchFamily="18" charset="0"/>
                  </a:rPr>
                  <a:t>: The keyword that creates the function.</a:t>
                </a:r>
              </a:p>
              <a:p>
                <a:r>
                  <a:rPr lang="en-US" dirty="0">
                    <a:latin typeface="Cambria Math" panose="02040503050406030204" pitchFamily="18" charset="0"/>
                  </a:rPr>
                  <a:t>Parameters (I</a:t>
                </a:r>
                <a:r>
                  <a:rPr lang="en-US" b="1" i="1" dirty="0">
                    <a:latin typeface="Cambria Math" panose="02040503050406030204" pitchFamily="18" charset="0"/>
                  </a:rPr>
                  <a:t>nputs</a:t>
                </a:r>
                <a:r>
                  <a:rPr lang="en-US" dirty="0">
                    <a:latin typeface="Cambria Math" panose="02040503050406030204" pitchFamily="18" charset="0"/>
                  </a:rPr>
                  <a:t>): The variables the function needs to do its job.</a:t>
                </a:r>
              </a:p>
              <a:p>
                <a:r>
                  <a:rPr lang="en-US" dirty="0">
                    <a:latin typeface="Cambria Math" panose="02040503050406030204" pitchFamily="18" charset="0"/>
                  </a:rPr>
                  <a:t>return (</a:t>
                </a:r>
                <a:r>
                  <a:rPr lang="en-US" b="1" i="1" dirty="0">
                    <a:latin typeface="Cambria Math" panose="02040503050406030204" pitchFamily="18" charset="0"/>
                  </a:rPr>
                  <a:t>Output</a:t>
                </a:r>
                <a:r>
                  <a:rPr lang="en-US" dirty="0">
                    <a:latin typeface="Cambria Math" panose="02040503050406030204" pitchFamily="18" charset="0"/>
                  </a:rPr>
                  <a:t>): The final result the function hands back to the main system.</a:t>
                </a:r>
              </a:p>
              <a:p>
                <a:r>
                  <a:rPr lang="en-US" dirty="0">
                    <a:latin typeface="Cambria Math" panose="02040503050406030204" pitchFamily="18" charset="0"/>
                  </a:rPr>
                  <a:t>Type Hints: (: </a:t>
                </a:r>
                <a:r>
                  <a:rPr lang="en-US" b="1" i="1" dirty="0">
                    <a:latin typeface="Cambria Math" panose="02040503050406030204" pitchFamily="18" charset="0"/>
                  </a:rPr>
                  <a:t>int</a:t>
                </a:r>
                <a:r>
                  <a:rPr lang="en-US" dirty="0">
                    <a:latin typeface="Cambria Math" panose="02040503050406030204" pitchFamily="18" charset="0"/>
                  </a:rPr>
                  <a:t>, </a:t>
                </a:r>
                <a:r>
                  <a:rPr lang="en-US" b="1" i="1" dirty="0">
                    <a:latin typeface="Cambria Math" panose="02040503050406030204" pitchFamily="18" charset="0"/>
                  </a:rPr>
                  <a:t>-&gt;</a:t>
                </a:r>
                <a:r>
                  <a:rPr lang="en-US" dirty="0">
                    <a:latin typeface="Cambria Math" panose="02040503050406030204" pitchFamily="18" charset="0"/>
                  </a:rPr>
                  <a:t> </a:t>
                </a:r>
                <a:r>
                  <a:rPr lang="en-US" b="1" i="1" dirty="0">
                    <a:latin typeface="Cambria Math" panose="02040503050406030204" pitchFamily="18" charset="0"/>
                  </a:rPr>
                  <a:t>str</a:t>
                </a:r>
                <a:r>
                  <a:rPr lang="en-US" dirty="0">
                    <a:latin typeface="Cambria Math" panose="02040503050406030204" pitchFamily="18" charset="0"/>
                  </a:rPr>
                  <a:t>) Telling the system what data types to expect.</a:t>
                </a:r>
              </a:p>
            </p:txBody>
          </p:sp>
        </mc:Choice>
        <mc:Fallback>
          <p:sp>
            <p:nvSpPr>
              <p:cNvPr id="3" name="Content Placeholder 2">
                <a:extLst>
                  <a:ext uri="{FF2B5EF4-FFF2-40B4-BE49-F238E27FC236}">
                    <a16:creationId xmlns:a16="http://schemas.microsoft.com/office/drawing/2014/main" id="{78F55B6D-8FE2-B308-168C-7205C757EF7D}"/>
                  </a:ext>
                </a:extLst>
              </p:cNvPr>
              <p:cNvSpPr>
                <a:spLocks noGrp="1" noRot="1" noChangeAspect="1" noMove="1" noResize="1" noEditPoints="1" noAdjustHandles="1" noChangeArrowheads="1" noChangeShapeType="1" noTextEdit="1"/>
              </p:cNvSpPr>
              <p:nvPr>
                <p:ph idx="1"/>
              </p:nvPr>
            </p:nvSpPr>
            <p:spPr>
              <a:xfrm>
                <a:off x="7507224" y="1088136"/>
                <a:ext cx="4160520" cy="5257800"/>
              </a:xfrm>
              <a:blipFill>
                <a:blip r:embed="rId3"/>
                <a:stretch>
                  <a:fillRect l="-1026" t="-464"/>
                </a:stretch>
              </a:blipFill>
            </p:spPr>
            <p:txBody>
              <a:bodyPr/>
              <a:lstStyle/>
              <a:p>
                <a:r>
                  <a:rPr lang="en-US">
                    <a:noFill/>
                  </a:rPr>
                  <a:t> </a:t>
                </a:r>
              </a:p>
            </p:txBody>
          </p:sp>
        </mc:Fallback>
      </mc:AlternateContent>
    </p:spTree>
    <p:extLst>
      <p:ext uri="{BB962C8B-B14F-4D97-AF65-F5344CB8AC3E}">
        <p14:creationId xmlns:p14="http://schemas.microsoft.com/office/powerpoint/2010/main" val="3659726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0" name="Rectangle 3079">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1CFB234-7B77-6692-E8DA-0F66CFEFBF9D}"/>
              </a:ext>
            </a:extLst>
          </p:cNvPr>
          <p:cNvSpPr>
            <a:spLocks noGrp="1"/>
          </p:cNvSpPr>
          <p:nvPr>
            <p:ph type="title"/>
          </p:nvPr>
        </p:nvSpPr>
        <p:spPr>
          <a:xfrm>
            <a:off x="521208" y="978408"/>
            <a:ext cx="6300216" cy="1325880"/>
          </a:xfrm>
        </p:spPr>
        <p:txBody>
          <a:bodyPr>
            <a:normAutofit/>
          </a:bodyPr>
          <a:lstStyle/>
          <a:p>
            <a:pPr>
              <a:lnSpc>
                <a:spcPct val="90000"/>
              </a:lnSpc>
            </a:pPr>
            <a:r>
              <a:rPr lang="en-US" dirty="0"/>
              <a:t>Types of Functions &amp; Arguments</a:t>
            </a:r>
            <a:endParaRPr lang="en-US"/>
          </a:p>
        </p:txBody>
      </p:sp>
      <p:sp>
        <p:nvSpPr>
          <p:cNvPr id="3082" name="Rectangle 3081">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4" name="Rectangle 3083">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3075" name="Picture 3" descr="Python Function Tutorial - Type of ...">
            <a:extLst>
              <a:ext uri="{FF2B5EF4-FFF2-40B4-BE49-F238E27FC236}">
                <a16:creationId xmlns:a16="http://schemas.microsoft.com/office/drawing/2014/main" id="{4FD2858E-2163-DB69-0A3E-21335B60AF4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7867" y="3073745"/>
            <a:ext cx="6281928" cy="327225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E78601A-BA95-AEC1-C100-66BF73829A9F}"/>
              </a:ext>
            </a:extLst>
          </p:cNvPr>
          <p:cNvSpPr>
            <a:spLocks noGrp="1"/>
          </p:cNvSpPr>
          <p:nvPr>
            <p:ph idx="1"/>
          </p:nvPr>
        </p:nvSpPr>
        <p:spPr>
          <a:xfrm>
            <a:off x="7507224" y="1088136"/>
            <a:ext cx="4160520" cy="5257800"/>
          </a:xfrm>
        </p:spPr>
        <p:txBody>
          <a:bodyPr>
            <a:normAutofit/>
          </a:bodyPr>
          <a:lstStyle/>
          <a:p>
            <a:pPr marL="0" indent="0">
              <a:buNone/>
            </a:pPr>
            <a:r>
              <a:rPr lang="en-US" b="1"/>
              <a:t>Built-in vs. Custom</a:t>
            </a:r>
          </a:p>
          <a:p>
            <a:r>
              <a:rPr lang="en-US" b="1" dirty="0"/>
              <a:t>Built-in: </a:t>
            </a:r>
            <a:r>
              <a:rPr lang="en-US" dirty="0"/>
              <a:t>Functions Python wrote for you (print(), </a:t>
            </a:r>
            <a:r>
              <a:rPr lang="en-US" dirty="0" err="1"/>
              <a:t>len</a:t>
            </a:r>
            <a:r>
              <a:rPr lang="en-US" dirty="0"/>
              <a:t>(), type()).</a:t>
            </a:r>
          </a:p>
          <a:p>
            <a:r>
              <a:rPr lang="en-US" b="1" dirty="0"/>
              <a:t>Custom: </a:t>
            </a:r>
            <a:r>
              <a:rPr lang="en-US" dirty="0"/>
              <a:t>Functions you design.</a:t>
            </a:r>
          </a:p>
          <a:p>
            <a:r>
              <a:rPr lang="en-US" b="1" dirty="0"/>
              <a:t>Argument Types</a:t>
            </a:r>
            <a:r>
              <a:rPr lang="en-US" dirty="0"/>
              <a:t>:</a:t>
            </a:r>
          </a:p>
          <a:p>
            <a:pPr lvl="1"/>
            <a:r>
              <a:rPr lang="en-US" b="1" dirty="0"/>
              <a:t>Positional: </a:t>
            </a:r>
            <a:r>
              <a:rPr lang="en-US" dirty="0"/>
              <a:t>Order matters.</a:t>
            </a:r>
          </a:p>
          <a:p>
            <a:pPr lvl="1"/>
            <a:r>
              <a:rPr lang="en-US" b="1" dirty="0"/>
              <a:t>Keyword: </a:t>
            </a:r>
            <a:r>
              <a:rPr lang="en-US" dirty="0"/>
              <a:t>Specifically naming the input (age=25).</a:t>
            </a:r>
          </a:p>
          <a:p>
            <a:pPr lvl="1"/>
            <a:r>
              <a:rPr lang="en-US" b="1" dirty="0"/>
              <a:t>Default: </a:t>
            </a:r>
            <a:r>
              <a:rPr lang="en-US" dirty="0"/>
              <a:t>Giving the parameter a fallback value if the user forgets to provide one.</a:t>
            </a:r>
          </a:p>
        </p:txBody>
      </p:sp>
    </p:spTree>
    <p:extLst>
      <p:ext uri="{BB962C8B-B14F-4D97-AF65-F5344CB8AC3E}">
        <p14:creationId xmlns:p14="http://schemas.microsoft.com/office/powerpoint/2010/main" val="13322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9" name="Rectangle 4108">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137A133-6964-E1F7-C331-B480A9EF2CE3}"/>
              </a:ext>
            </a:extLst>
          </p:cNvPr>
          <p:cNvSpPr>
            <a:spLocks noGrp="1"/>
          </p:cNvSpPr>
          <p:nvPr>
            <p:ph type="title"/>
          </p:nvPr>
        </p:nvSpPr>
        <p:spPr>
          <a:xfrm>
            <a:off x="521208" y="978408"/>
            <a:ext cx="11155680" cy="1115568"/>
          </a:xfrm>
        </p:spPr>
        <p:txBody>
          <a:bodyPr>
            <a:normAutofit/>
          </a:bodyPr>
          <a:lstStyle/>
          <a:p>
            <a:r>
              <a:rPr lang="en-US"/>
              <a:t>The DRY Principle (Why we use them)</a:t>
            </a:r>
            <a:endParaRPr lang="en-US" dirty="0"/>
          </a:p>
        </p:txBody>
      </p:sp>
      <p:sp>
        <p:nvSpPr>
          <p:cNvPr id="4110" name="Freeform: Shape 4109">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098" name="Picture 2" descr="Python Tutorial: DRY and &quot;Do One Thing ...">
            <a:extLst>
              <a:ext uri="{FF2B5EF4-FFF2-40B4-BE49-F238E27FC236}">
                <a16:creationId xmlns:a16="http://schemas.microsoft.com/office/drawing/2014/main" id="{8828725F-62FE-01A3-92A4-330BD269D3E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7868" y="2756867"/>
            <a:ext cx="5639091" cy="315789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A7D1D4CE-CAAF-E35D-2750-D2318430271C}"/>
              </a:ext>
            </a:extLst>
          </p:cNvPr>
          <p:cNvSpPr>
            <a:spLocks noGrp="1"/>
          </p:cNvSpPr>
          <p:nvPr>
            <p:ph idx="1"/>
          </p:nvPr>
        </p:nvSpPr>
        <p:spPr>
          <a:xfrm>
            <a:off x="6547104" y="2304288"/>
            <a:ext cx="5129784" cy="4050792"/>
          </a:xfrm>
        </p:spPr>
        <p:txBody>
          <a:bodyPr>
            <a:normAutofit/>
          </a:bodyPr>
          <a:lstStyle/>
          <a:p>
            <a:pPr marL="0" indent="0">
              <a:buNone/>
            </a:pPr>
            <a:r>
              <a:rPr lang="en-US" b="1"/>
              <a:t>Don't Repeat Yourself</a:t>
            </a:r>
          </a:p>
          <a:p>
            <a:endParaRPr lang="en-US" dirty="0"/>
          </a:p>
          <a:p>
            <a:r>
              <a:rPr lang="en-US" b="1" dirty="0"/>
              <a:t>The Problem: </a:t>
            </a:r>
            <a:r>
              <a:rPr lang="en-US" dirty="0"/>
              <a:t>If you copy and paste the same 10 lines of code in 3 different places, you now have 3 places for a bug to hide.</a:t>
            </a:r>
          </a:p>
          <a:p>
            <a:r>
              <a:rPr lang="en-US" b="1" dirty="0"/>
              <a:t>The Solution: </a:t>
            </a:r>
            <a:r>
              <a:rPr lang="en-US" dirty="0"/>
              <a:t>Write the code once inside a function, and call it 3 times.</a:t>
            </a:r>
          </a:p>
          <a:p>
            <a:r>
              <a:rPr lang="en-US" b="1" dirty="0"/>
              <a:t>Result: </a:t>
            </a:r>
            <a:r>
              <a:rPr lang="en-US" dirty="0"/>
              <a:t>If you need to fix a bug, you only fix it in one place.</a:t>
            </a:r>
          </a:p>
        </p:txBody>
      </p:sp>
    </p:spTree>
    <p:extLst>
      <p:ext uri="{BB962C8B-B14F-4D97-AF65-F5344CB8AC3E}">
        <p14:creationId xmlns:p14="http://schemas.microsoft.com/office/powerpoint/2010/main" val="2748813892"/>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21</TotalTime>
  <Words>368</Words>
  <Application>Microsoft Office PowerPoint</Application>
  <PresentationFormat>Widescreen</PresentationFormat>
  <Paragraphs>29</Paragraphs>
  <Slides>5</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Bierstadt</vt:lpstr>
      <vt:lpstr>Cambria Math</vt:lpstr>
      <vt:lpstr>GestaltVTI</vt:lpstr>
      <vt:lpstr>Phase 1, Module 7: Functions &amp; The Modular Layer</vt:lpstr>
      <vt:lpstr>What is a Function?</vt:lpstr>
      <vt:lpstr>How Does It Work? (The Anatomy)</vt:lpstr>
      <vt:lpstr>Types of Functions &amp; Arguments</vt:lpstr>
      <vt:lpstr>The DRY Principle (Why we use them)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zaryab ahmad khan</dc:creator>
  <cp:lastModifiedBy>zaryab ahmad khan</cp:lastModifiedBy>
  <cp:revision>2</cp:revision>
  <dcterms:created xsi:type="dcterms:W3CDTF">2026-04-20T09:36:10Z</dcterms:created>
  <dcterms:modified xsi:type="dcterms:W3CDTF">2026-04-20T09:57:55Z</dcterms:modified>
</cp:coreProperties>
</file>