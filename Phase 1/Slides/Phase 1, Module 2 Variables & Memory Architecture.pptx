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8" d="100"/>
          <a:sy n="58" d="100"/>
        </p:scale>
        <p:origin x="9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255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006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20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302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9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537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354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686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859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678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349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880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sbooks.library.upei.ca/montelpare/chapter/components-of-a-sas-session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.bilateria.org/e02_print.htm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5A5C29-03E8-60F9-B8EB-05FE522C87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103FDB8-D911-F8F8-F9EC-FB7FF5435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4324"/>
            <a:ext cx="12192000" cy="2573677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17000"/>
                </a:schemeClr>
              </a:gs>
              <a:gs pos="65000">
                <a:schemeClr val="bg1">
                  <a:alpha val="29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CD69A0E-D80B-1383-5965-DEE05CAEDFD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320040" y="796173"/>
            <a:ext cx="9422674" cy="1881713"/>
          </a:xfrm>
          <a:prstGeom prst="rect">
            <a:avLst/>
          </a:prstGeom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dirty="0"/>
              <a:t>Phase 1, Module 2: Variables &amp; Memory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8964B9-1CF0-EF4A-B05D-645BAD3CF0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3772" y="3309977"/>
            <a:ext cx="7765799" cy="3336150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b="1" dirty="0"/>
              <a:t>Khyber AI Systems Engineer (KASE)</a:t>
            </a:r>
          </a:p>
          <a:p>
            <a:pPr>
              <a:lnSpc>
                <a:spcPct val="100000"/>
              </a:lnSpc>
            </a:pPr>
            <a:r>
              <a:rPr lang="en-US" dirty="0"/>
              <a:t>Welcome back. Today we look under the hood of Python. To build AI systems that don't crash the server, you must understand how Python manages memory in your RAM.</a:t>
            </a:r>
          </a:p>
          <a:p>
            <a:pPr algn="r">
              <a:lnSpc>
                <a:spcPct val="100000"/>
              </a:lnSpc>
            </a:pPr>
            <a:r>
              <a:rPr lang="en-US" b="1" dirty="0"/>
              <a:t>Presented By: Zaryab Ahmad</a:t>
            </a:r>
          </a:p>
        </p:txBody>
      </p:sp>
    </p:spTree>
    <p:extLst>
      <p:ext uri="{BB962C8B-B14F-4D97-AF65-F5344CB8AC3E}">
        <p14:creationId xmlns:p14="http://schemas.microsoft.com/office/powerpoint/2010/main" val="40819543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9095E8-840D-D0DF-7286-F6D9C8DE7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>
            <a:normAutofit/>
          </a:bodyPr>
          <a:lstStyle/>
          <a:p>
            <a:r>
              <a:rPr lang="en-US" dirty="0"/>
              <a:t>The 'Label' Theory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1E479708-97DD-DD75-AB7D-DBC07F6F2B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00100" y="2517555"/>
            <a:ext cx="6072188" cy="349150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7C07B-2F6C-483A-2AFB-2752B4DCF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0" y="1849121"/>
            <a:ext cx="4191001" cy="4139626"/>
          </a:xfrm>
        </p:spPr>
        <p:txBody>
          <a:bodyPr anchor="b">
            <a:normAutofit/>
          </a:bodyPr>
          <a:lstStyle/>
          <a:p>
            <a:pPr marL="0" indent="0">
              <a:buNone/>
            </a:pPr>
            <a:r>
              <a:rPr lang="en-US" b="1"/>
              <a:t>Variables are Labels, Not Boxes</a:t>
            </a:r>
          </a:p>
          <a:p>
            <a:r>
              <a:rPr lang="en-US"/>
              <a:t>In C++, a variable is a physical box in memory.</a:t>
            </a:r>
          </a:p>
          <a:p>
            <a:r>
              <a:rPr lang="en-US"/>
              <a:t>In Python, a variable is just a "name tag" tied to an object in memory.</a:t>
            </a:r>
          </a:p>
          <a:p>
            <a:r>
              <a:rPr lang="en-US"/>
              <a:t>Multiple name tags can be tied to the exact same object.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0223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A21FC5-3CC5-53C0-C751-2FA4A140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>
            <a:normAutofit/>
          </a:bodyPr>
          <a:lstStyle/>
          <a:p>
            <a:r>
              <a:rPr lang="en-US" dirty="0"/>
              <a:t>Dynamic Typing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6C6F3202-237E-B2C0-0B02-BA83CA4B86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00100" y="2669361"/>
            <a:ext cx="6072188" cy="333970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300E4-03F5-C619-1788-1B0F7FA40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0" y="1849121"/>
            <a:ext cx="4191001" cy="4139626"/>
          </a:xfrm>
        </p:spPr>
        <p:txBody>
          <a:bodyPr anchor="b">
            <a:normAutofit/>
          </a:bodyPr>
          <a:lstStyle/>
          <a:p>
            <a:pPr marL="0" indent="0">
              <a:buNone/>
            </a:pPr>
            <a:r>
              <a:rPr lang="en-US" b="1"/>
              <a:t>Python's Superpower (And Danger)</a:t>
            </a:r>
          </a:p>
          <a:p>
            <a:r>
              <a:rPr lang="en-US"/>
              <a:t>You do not need to declare data types (e.g., int x = 10).</a:t>
            </a:r>
          </a:p>
          <a:p>
            <a:r>
              <a:rPr lang="en-US"/>
              <a:t>Python figures out the type at runtime.</a:t>
            </a:r>
          </a:p>
          <a:p>
            <a:r>
              <a:rPr lang="en-US"/>
              <a:t>A variable can change from a Number to a String instantly.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A9D4FE7-7FFB-A8A2-8E59-9810C831EB94}"/>
              </a:ext>
            </a:extLst>
          </p:cNvPr>
          <p:cNvSpPr txBox="1"/>
          <p:nvPr/>
        </p:nvSpPr>
        <p:spPr>
          <a:xfrm>
            <a:off x="4348841" y="5809008"/>
            <a:ext cx="2523447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 tooltip="https://python.bilateria.org/e02_print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6399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2B36E9-32D2-CECA-69CF-C8854ABA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>
            <a:normAutofit/>
          </a:bodyPr>
          <a:lstStyle/>
          <a:p>
            <a:r>
              <a:rPr lang="en-US" dirty="0"/>
              <a:t>Looking at RAM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Employee Badge">
            <a:extLst>
              <a:ext uri="{FF2B5EF4-FFF2-40B4-BE49-F238E27FC236}">
                <a16:creationId xmlns:a16="http://schemas.microsoft.com/office/drawing/2014/main" id="{A79C0A45-319E-8D02-836E-94995A3872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66381" y="1869439"/>
            <a:ext cx="4139625" cy="413962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9BAF5-7AF1-290B-BEE7-79AF2B42C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0" y="1849121"/>
            <a:ext cx="4191001" cy="4139626"/>
          </a:xfrm>
        </p:spPr>
        <p:txBody>
          <a:bodyPr anchor="b">
            <a:normAutofit/>
          </a:bodyPr>
          <a:lstStyle/>
          <a:p>
            <a:pPr marL="0" indent="0">
              <a:buNone/>
            </a:pPr>
            <a:r>
              <a:rPr lang="en-US" b="1" dirty="0"/>
              <a:t>The id() Function</a:t>
            </a:r>
          </a:p>
          <a:p>
            <a:r>
              <a:rPr lang="en-US" dirty="0"/>
              <a:t>Every object created in Python gets a unique ID.</a:t>
            </a:r>
          </a:p>
          <a:p>
            <a:r>
              <a:rPr lang="en-US" dirty="0"/>
              <a:t>This ID represents its physical address in your RAM.</a:t>
            </a:r>
          </a:p>
          <a:p>
            <a:r>
              <a:rPr lang="en-US" dirty="0"/>
              <a:t>Use id(</a:t>
            </a:r>
            <a:r>
              <a:rPr lang="en-US" dirty="0" err="1"/>
              <a:t>variable_name</a:t>
            </a:r>
            <a:r>
              <a:rPr lang="en-US" dirty="0"/>
              <a:t>) to track where data lives.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6220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D3587A-1325-C74D-4DDA-087C37615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>
            <a:normAutofit/>
          </a:bodyPr>
          <a:lstStyle/>
          <a:p>
            <a:r>
              <a:rPr lang="en-US" dirty="0"/>
              <a:t>The Janitor (Garbage Collection)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Barcode">
            <a:extLst>
              <a:ext uri="{FF2B5EF4-FFF2-40B4-BE49-F238E27FC236}">
                <a16:creationId xmlns:a16="http://schemas.microsoft.com/office/drawing/2014/main" id="{C31B9E6B-007E-F702-77C8-AB5F0FBAE6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66381" y="1869439"/>
            <a:ext cx="4139625" cy="413962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84084-A2F2-2343-BFF8-2AC3AA99E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0" y="1849121"/>
            <a:ext cx="4191001" cy="4139626"/>
          </a:xfrm>
        </p:spPr>
        <p:txBody>
          <a:bodyPr anchor="b">
            <a:normAutofit/>
          </a:bodyPr>
          <a:lstStyle/>
          <a:p>
            <a:pPr marL="0" indent="0">
              <a:buNone/>
            </a:pPr>
            <a:r>
              <a:rPr lang="en-US" dirty="0"/>
              <a:t>Automated Memory Management</a:t>
            </a:r>
          </a:p>
          <a:p>
            <a:r>
              <a:rPr lang="en-US" dirty="0"/>
              <a:t>Reference Counting: Python counts how many "labels" are attached to an object.</a:t>
            </a:r>
          </a:p>
          <a:p>
            <a:r>
              <a:rPr lang="en-US" dirty="0"/>
              <a:t>If the count drops to zero, the object is deleted to free up RAM.</a:t>
            </a:r>
          </a:p>
          <a:p>
            <a:r>
              <a:rPr lang="en-US" dirty="0"/>
              <a:t>This prevents "Memory Leaks" automatically.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0627966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253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Calisto MT</vt:lpstr>
      <vt:lpstr>Univers Condensed</vt:lpstr>
      <vt:lpstr>ChronicleVTI</vt:lpstr>
      <vt:lpstr>Phase 1, Module 2: Variables &amp; Memory Architecture</vt:lpstr>
      <vt:lpstr>The 'Label' Theory</vt:lpstr>
      <vt:lpstr>Dynamic Typing</vt:lpstr>
      <vt:lpstr>Looking at RAM</vt:lpstr>
      <vt:lpstr>The Janitor (Garbage Collection)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3</cp:revision>
  <dcterms:created xsi:type="dcterms:W3CDTF">2026-04-20T06:22:42Z</dcterms:created>
  <dcterms:modified xsi:type="dcterms:W3CDTF">2026-04-20T06:50:06Z</dcterms:modified>
</cp:coreProperties>
</file>