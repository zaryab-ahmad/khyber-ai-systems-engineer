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C2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8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4/20/2026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58283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4/20/2026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79252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4/20/2026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64315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4/20/2026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31224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4/20/2026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02122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4/20/2026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6993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4/20/2026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53616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4/20/2026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37984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4/20/2026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85186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4/20/2026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88857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4/20/2026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09189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4/20/2026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50023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Complex math formulas on a blackboard">
            <a:extLst>
              <a:ext uri="{FF2B5EF4-FFF2-40B4-BE49-F238E27FC236}">
                <a16:creationId xmlns:a16="http://schemas.microsoft.com/office/drawing/2014/main" id="{FDB81984-959C-8AF1-D0CC-CD5ED17139FF}"/>
              </a:ext>
            </a:extLst>
          </p:cNvPr>
          <p:cNvPicPr>
            <a:picLocks noChangeAspect="1"/>
          </p:cNvPicPr>
          <p:nvPr/>
        </p:nvPicPr>
        <p:blipFill>
          <a:blip r:embed="rId2"/>
          <a:srcRect t="22945"/>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1103FDB8-D911-F8F8-F9EC-FB7FF5435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4324"/>
            <a:ext cx="12192000" cy="2573677"/>
          </a:xfrm>
          <a:prstGeom prst="rect">
            <a:avLst/>
          </a:prstGeom>
          <a:gradFill>
            <a:gsLst>
              <a:gs pos="0">
                <a:schemeClr val="bg1">
                  <a:alpha val="0"/>
                </a:schemeClr>
              </a:gs>
              <a:gs pos="46000">
                <a:schemeClr val="bg1">
                  <a:alpha val="17000"/>
                </a:schemeClr>
              </a:gs>
              <a:gs pos="65000">
                <a:schemeClr val="bg1">
                  <a:alpha val="29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927F77F5-B1C1-0CE6-E85E-5561A37BA0DD}"/>
              </a:ext>
            </a:extLst>
          </p:cNvPr>
          <p:cNvSpPr>
            <a:spLocks noGrp="1"/>
          </p:cNvSpPr>
          <p:nvPr>
            <p:ph type="ctrTitle"/>
          </p:nvPr>
        </p:nvSpPr>
        <p:spPr>
          <a:xfrm>
            <a:off x="396239" y="825910"/>
            <a:ext cx="8497389" cy="2004376"/>
          </a:xfrm>
          <a:ln>
            <a:noFill/>
          </a:ln>
          <a:effectLst>
            <a:glow rad="139700">
              <a:schemeClr val="accent5">
                <a:satMod val="175000"/>
                <a:alpha val="40000"/>
              </a:schemeClr>
            </a:glow>
          </a:effectLst>
        </p:spPr>
        <p:txBody>
          <a:bodyPr anchor="ctr">
            <a:normAutofit/>
          </a:bodyPr>
          <a:lstStyle/>
          <a:p>
            <a:pPr>
              <a:lnSpc>
                <a:spcPct val="90000"/>
              </a:lnSpc>
            </a:pPr>
            <a:r>
              <a:rPr lang="en-US" sz="4800" dirty="0">
                <a:solidFill>
                  <a:schemeClr val="accent5">
                    <a:lumMod val="60000"/>
                    <a:lumOff val="40000"/>
                  </a:schemeClr>
                </a:solidFill>
              </a:rPr>
              <a:t>Phase 1, Module 9: Advanced Functions &amp; Performance</a:t>
            </a:r>
          </a:p>
        </p:txBody>
      </p:sp>
      <p:sp>
        <p:nvSpPr>
          <p:cNvPr id="3" name="Subtitle 2">
            <a:extLst>
              <a:ext uri="{FF2B5EF4-FFF2-40B4-BE49-F238E27FC236}">
                <a16:creationId xmlns:a16="http://schemas.microsoft.com/office/drawing/2014/main" id="{D5FA94C9-2222-6B46-A2A8-0B1B200845FD}"/>
              </a:ext>
            </a:extLst>
          </p:cNvPr>
          <p:cNvSpPr>
            <a:spLocks noGrp="1"/>
          </p:cNvSpPr>
          <p:nvPr>
            <p:ph type="subTitle" idx="1"/>
          </p:nvPr>
        </p:nvSpPr>
        <p:spPr>
          <a:xfrm>
            <a:off x="4484914" y="3080658"/>
            <a:ext cx="7451729" cy="3596400"/>
          </a:xfrm>
          <a:effectLst>
            <a:glow rad="101600">
              <a:schemeClr val="accent5">
                <a:satMod val="175000"/>
                <a:alpha val="40000"/>
              </a:schemeClr>
            </a:glow>
          </a:effectLst>
        </p:spPr>
        <p:txBody>
          <a:bodyPr anchor="ctr">
            <a:normAutofit/>
          </a:bodyPr>
          <a:lstStyle/>
          <a:p>
            <a:pPr>
              <a:lnSpc>
                <a:spcPct val="100000"/>
              </a:lnSpc>
            </a:pPr>
            <a:r>
              <a:rPr lang="en-US" b="1" dirty="0">
                <a:solidFill>
                  <a:srgbClr val="E9C2BC"/>
                </a:solidFill>
              </a:rPr>
              <a:t>Khyber AI Systems Engineer (KASE)</a:t>
            </a:r>
          </a:p>
          <a:p>
            <a:pPr>
              <a:lnSpc>
                <a:spcPct val="100000"/>
              </a:lnSpc>
            </a:pPr>
            <a:r>
              <a:rPr lang="en-US" dirty="0">
                <a:solidFill>
                  <a:srgbClr val="E9C2BC"/>
                </a:solidFill>
              </a:rPr>
              <a:t>Welcome to Module 9. Today we move beyond basic functions. We will learn how to write code that can handle any amount of data, add features to existing functions automatically, and process massive datasets without running out of memory.</a:t>
            </a:r>
          </a:p>
          <a:p>
            <a:pPr algn="r">
              <a:lnSpc>
                <a:spcPct val="100000"/>
              </a:lnSpc>
            </a:pPr>
            <a:r>
              <a:rPr lang="en-US" dirty="0">
                <a:solidFill>
                  <a:srgbClr val="E9C2BC"/>
                </a:solidFill>
              </a:rPr>
              <a:t>Presented Zaryab Ahmad</a:t>
            </a:r>
          </a:p>
        </p:txBody>
      </p:sp>
    </p:spTree>
    <p:extLst>
      <p:ext uri="{BB962C8B-B14F-4D97-AF65-F5344CB8AC3E}">
        <p14:creationId xmlns:p14="http://schemas.microsoft.com/office/powerpoint/2010/main" val="217778070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3" name="Rectangle 206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228F430-2DA0-56DF-D659-B1FF1E83F2CA}"/>
                  </a:ext>
                </a:extLst>
              </p:cNvPr>
              <p:cNvSpPr>
                <a:spLocks noGrp="1"/>
              </p:cNvSpPr>
              <p:nvPr>
                <p:ph type="title"/>
              </p:nvPr>
            </p:nvSpPr>
            <p:spPr>
              <a:xfrm>
                <a:off x="704088" y="914400"/>
                <a:ext cx="6001512" cy="1307592"/>
              </a:xfrm>
            </p:spPr>
            <p:txBody>
              <a:bodyPr>
                <a:normAutofit/>
              </a:bodyPr>
              <a:lstStyle/>
              <a:p>
                <a:pPr>
                  <a:lnSpc>
                    <a:spcPct val="90000"/>
                  </a:lnSpc>
                </a:pPr>
                <a:r>
                  <a:rPr lang="en-US" dirty="0"/>
                  <a:t>Flexible Inputs (</a:t>
                </a:r>
                <a14:m>
                  <m:oMath xmlns:m="http://schemas.openxmlformats.org/officeDocument/2006/math">
                    <m:r>
                      <a:rPr lang="en-US" i="1" dirty="0" smtClean="0">
                        <a:latin typeface="Cambria Math" panose="02040503050406030204" pitchFamily="18" charset="0"/>
                      </a:rPr>
                      <m:t>∗</m:t>
                    </m:r>
                    <m:r>
                      <a:rPr lang="en-US" i="1" dirty="0" err="1">
                        <a:latin typeface="Cambria Math" panose="02040503050406030204" pitchFamily="18" charset="0"/>
                      </a:rPr>
                      <m:t>𝑎𝑟𝑔𝑠</m:t>
                    </m:r>
                    <m:r>
                      <a:rPr lang="en-US" i="1" dirty="0">
                        <a:latin typeface="Cambria Math" panose="02040503050406030204" pitchFamily="18" charset="0"/>
                      </a:rPr>
                      <m:t> </m:t>
                    </m:r>
                  </m:oMath>
                </a14:m>
                <a:r>
                  <a:rPr lang="en-US" dirty="0"/>
                  <a:t>and </a:t>
                </a:r>
                <a:r>
                  <a:rPr lang="en-US" i="1" dirty="0">
                    <a:latin typeface="Cambria Math" panose="02040503050406030204" pitchFamily="18" charset="0"/>
                  </a:rPr>
                  <a:t>**</a:t>
                </a:r>
                <a:r>
                  <a:rPr lang="en-US" i="1" dirty="0" err="1">
                    <a:latin typeface="Cambria Math" panose="02040503050406030204" pitchFamily="18" charset="0"/>
                  </a:rPr>
                  <a:t>kwargs</a:t>
                </a:r>
                <a:r>
                  <a:rPr lang="en-US" i="1" dirty="0">
                    <a:latin typeface="Cambria Math" panose="02040503050406030204" pitchFamily="18" charset="0"/>
                  </a:rPr>
                  <a:t> </a:t>
                </a:r>
                <a:r>
                  <a:rPr lang="en-US" dirty="0"/>
                  <a:t>)</a:t>
                </a:r>
              </a:p>
            </p:txBody>
          </p:sp>
        </mc:Choice>
        <mc:Fallback xmlns="">
          <p:sp>
            <p:nvSpPr>
              <p:cNvPr id="2" name="Title 1">
                <a:extLst>
                  <a:ext uri="{FF2B5EF4-FFF2-40B4-BE49-F238E27FC236}">
                    <a16:creationId xmlns:a16="http://schemas.microsoft.com/office/drawing/2014/main" id="{F228F430-2DA0-56DF-D659-B1FF1E83F2CA}"/>
                  </a:ext>
                </a:extLst>
              </p:cNvPr>
              <p:cNvSpPr>
                <a:spLocks noGrp="1" noRot="1" noChangeAspect="1" noMove="1" noResize="1" noEditPoints="1" noAdjustHandles="1" noChangeArrowheads="1" noChangeShapeType="1" noTextEdit="1"/>
              </p:cNvSpPr>
              <p:nvPr>
                <p:ph type="title"/>
              </p:nvPr>
            </p:nvSpPr>
            <p:spPr>
              <a:xfrm>
                <a:off x="704088" y="914400"/>
                <a:ext cx="6001512" cy="1307592"/>
              </a:xfrm>
              <a:blipFill>
                <a:blip r:embed="rId2"/>
                <a:stretch>
                  <a:fillRect l="-3659" t="-13023" b="-10698"/>
                </a:stretch>
              </a:blipFill>
            </p:spPr>
            <p:txBody>
              <a:bodyPr/>
              <a:lstStyle/>
              <a:p>
                <a:r>
                  <a:rPr lang="en-US">
                    <a:noFill/>
                  </a:rPr>
                  <a:t> </a:t>
                </a:r>
              </a:p>
            </p:txBody>
          </p:sp>
        </mc:Fallback>
      </mc:AlternateContent>
      <p:cxnSp>
        <p:nvCxnSpPr>
          <p:cNvPr id="2065" name="Straight Connector 2064">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42D919-9003-B930-2A92-06E9F13D9CD8}"/>
                  </a:ext>
                </a:extLst>
              </p:cNvPr>
              <p:cNvSpPr>
                <a:spLocks noGrp="1"/>
              </p:cNvSpPr>
              <p:nvPr>
                <p:ph idx="1"/>
              </p:nvPr>
            </p:nvSpPr>
            <p:spPr>
              <a:xfrm>
                <a:off x="704088" y="2231136"/>
                <a:ext cx="6001512" cy="3931920"/>
              </a:xfrm>
            </p:spPr>
            <p:txBody>
              <a:bodyPr>
                <a:normAutofit/>
              </a:bodyPr>
              <a:lstStyle/>
              <a:p>
                <a:pPr marL="0" indent="0">
                  <a:buNone/>
                </a:pPr>
                <a:r>
                  <a:rPr lang="en-US" b="1"/>
                  <a:t>The "Packing" Mechanism</a:t>
                </a:r>
              </a:p>
              <a:p>
                <a:endParaRPr lang="en-US" dirty="0"/>
              </a:p>
              <a:p>
                <a14:m>
                  <m:oMath xmlns:m="http://schemas.openxmlformats.org/officeDocument/2006/math">
                    <m:r>
                      <a:rPr lang="en-US" b="1" i="1" dirty="0" smtClean="0">
                        <a:latin typeface="Cambria Math" panose="02040503050406030204" pitchFamily="18" charset="0"/>
                      </a:rPr>
                      <m:t>∗</m:t>
                    </m:r>
                    <m:r>
                      <a:rPr lang="en-US" b="1" i="1" dirty="0" err="1" smtClean="0">
                        <a:latin typeface="Cambria Math" panose="02040503050406030204" pitchFamily="18" charset="0"/>
                      </a:rPr>
                      <m:t>𝒂𝒓𝒈𝒔</m:t>
                    </m:r>
                    <m:r>
                      <a:rPr lang="en-US" b="1" i="1" dirty="0" smtClean="0">
                        <a:latin typeface="Cambria Math" panose="02040503050406030204" pitchFamily="18" charset="0"/>
                      </a:rPr>
                      <m:t>: </m:t>
                    </m:r>
                  </m:oMath>
                </a14:m>
                <a:r>
                  <a:rPr lang="en-US" dirty="0"/>
                  <a:t>Collects extra positional arguments into a Tuple.</a:t>
                </a:r>
              </a:p>
              <a:p>
                <a:r>
                  <a:rPr lang="en-US" b="1" i="1" dirty="0">
                    <a:latin typeface="Cambria Math" panose="02040503050406030204" pitchFamily="18" charset="0"/>
                  </a:rPr>
                  <a:t>**</a:t>
                </a:r>
                <a:r>
                  <a:rPr lang="en-US" b="1" i="1" dirty="0" err="1">
                    <a:latin typeface="Cambria Math" panose="02040503050406030204" pitchFamily="18" charset="0"/>
                  </a:rPr>
                  <a:t>kwargs</a:t>
                </a:r>
                <a:r>
                  <a:rPr lang="en-US" b="1" i="1" dirty="0">
                    <a:latin typeface="Cambria Math" panose="02040503050406030204" pitchFamily="18" charset="0"/>
                  </a:rPr>
                  <a:t>: </a:t>
                </a:r>
                <a:r>
                  <a:rPr lang="en-US" dirty="0"/>
                  <a:t>Collects extra keyword arguments into a Dictionary.</a:t>
                </a:r>
              </a:p>
              <a:p>
                <a:r>
                  <a:rPr lang="en-US" b="1" dirty="0"/>
                  <a:t>Why: </a:t>
                </a:r>
                <a:r>
                  <a:rPr lang="en-US" dirty="0"/>
                  <a:t>In AI development, your model might have 5 settings today and 50 settings tomorrow. These tools allow your functions to adapt without breaking.</a:t>
                </a:r>
              </a:p>
            </p:txBody>
          </p:sp>
        </mc:Choice>
        <mc:Fallback xmlns="">
          <p:sp>
            <p:nvSpPr>
              <p:cNvPr id="3" name="Content Placeholder 2">
                <a:extLst>
                  <a:ext uri="{FF2B5EF4-FFF2-40B4-BE49-F238E27FC236}">
                    <a16:creationId xmlns:a16="http://schemas.microsoft.com/office/drawing/2014/main" id="{6E42D919-9003-B930-2A92-06E9F13D9CD8}"/>
                  </a:ext>
                </a:extLst>
              </p:cNvPr>
              <p:cNvSpPr>
                <a:spLocks noGrp="1" noRot="1" noChangeAspect="1" noMove="1" noResize="1" noEditPoints="1" noAdjustHandles="1" noChangeArrowheads="1" noChangeShapeType="1" noTextEdit="1"/>
              </p:cNvSpPr>
              <p:nvPr>
                <p:ph idx="1"/>
              </p:nvPr>
            </p:nvSpPr>
            <p:spPr>
              <a:xfrm>
                <a:off x="704088" y="2231136"/>
                <a:ext cx="6001512" cy="3931920"/>
              </a:xfrm>
              <a:blipFill>
                <a:blip r:embed="rId3"/>
                <a:stretch>
                  <a:fillRect l="-1118" t="-620" r="-2033"/>
                </a:stretch>
              </a:blipFill>
            </p:spPr>
            <p:txBody>
              <a:bodyPr/>
              <a:lstStyle/>
              <a:p>
                <a:r>
                  <a:rPr lang="en-US">
                    <a:noFill/>
                  </a:rPr>
                  <a:t> </a:t>
                </a:r>
              </a:p>
            </p:txBody>
          </p:sp>
        </mc:Fallback>
      </mc:AlternateContent>
      <p:pic>
        <p:nvPicPr>
          <p:cNvPr id="2053" name="Picture 5" descr="args and **kwargs in Python | Python ...">
            <a:extLst>
              <a:ext uri="{FF2B5EF4-FFF2-40B4-BE49-F238E27FC236}">
                <a16:creationId xmlns:a16="http://schemas.microsoft.com/office/drawing/2014/main" id="{D4B28E1C-AB86-2ECD-C793-77EF9B2D304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274560" y="1951854"/>
            <a:ext cx="4202057" cy="4202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839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0603E5-A280-DE36-21A8-2DB20935B78A}"/>
              </a:ext>
            </a:extLst>
          </p:cNvPr>
          <p:cNvSpPr>
            <a:spLocks noGrp="1"/>
          </p:cNvSpPr>
          <p:nvPr>
            <p:ph type="title"/>
          </p:nvPr>
        </p:nvSpPr>
        <p:spPr>
          <a:xfrm>
            <a:off x="704088" y="914400"/>
            <a:ext cx="10780776" cy="1180210"/>
          </a:xfrm>
        </p:spPr>
        <p:txBody>
          <a:bodyPr>
            <a:normAutofit/>
          </a:bodyPr>
          <a:lstStyle/>
          <a:p>
            <a:r>
              <a:rPr lang="en-US" dirty="0"/>
              <a:t>Decorators (The System Wrapper)</a:t>
            </a:r>
          </a:p>
        </p:txBody>
      </p:sp>
      <p:cxnSp>
        <p:nvCxnSpPr>
          <p:cNvPr id="3081" name="Straight Connector 3080">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3074" name="Picture 2" descr="Python Decorators Introduction ...">
            <a:extLst>
              <a:ext uri="{FF2B5EF4-FFF2-40B4-BE49-F238E27FC236}">
                <a16:creationId xmlns:a16="http://schemas.microsoft.com/office/drawing/2014/main" id="{410EFFB0-DCC2-ABC6-1936-DE906BD52CA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0098" y="3132515"/>
            <a:ext cx="5549902" cy="30305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151802-7CE0-1372-64F3-267B82F8EE1D}"/>
                  </a:ext>
                </a:extLst>
              </p:cNvPr>
              <p:cNvSpPr>
                <a:spLocks noGrp="1"/>
              </p:cNvSpPr>
              <p:nvPr>
                <p:ph idx="1"/>
              </p:nvPr>
            </p:nvSpPr>
            <p:spPr>
              <a:xfrm>
                <a:off x="6664960" y="2346960"/>
                <a:ext cx="4819903" cy="3775456"/>
              </a:xfrm>
            </p:spPr>
            <p:txBody>
              <a:bodyPr>
                <a:normAutofit/>
              </a:bodyPr>
              <a:lstStyle/>
              <a:p>
                <a:pPr marL="0" indent="0">
                  <a:lnSpc>
                    <a:spcPct val="100000"/>
                  </a:lnSpc>
                  <a:buNone/>
                </a:pPr>
                <a:r>
                  <a:rPr lang="en-US" sz="1700" b="1"/>
                  <a:t>Modifying Behavior Without Changing Code</a:t>
                </a:r>
              </a:p>
              <a:p>
                <a:pPr>
                  <a:lnSpc>
                    <a:spcPct val="100000"/>
                  </a:lnSpc>
                </a:pPr>
                <a:endParaRPr lang="en-US" sz="1700"/>
              </a:p>
              <a:p>
                <a:pPr>
                  <a:lnSpc>
                    <a:spcPct val="100000"/>
                  </a:lnSpc>
                </a:pPr>
                <a:r>
                  <a:rPr lang="en-US" sz="1700"/>
                  <a:t>A function that takes another function as an input and "wraps" it with new logic.</a:t>
                </a:r>
              </a:p>
              <a:p>
                <a:pPr>
                  <a:lnSpc>
                    <a:spcPct val="100000"/>
                  </a:lnSpc>
                </a:pPr>
                <a:r>
                  <a:rPr lang="en-US" sz="1700" b="1"/>
                  <a:t>AI Use Case: </a:t>
                </a:r>
                <a14:m>
                  <m:oMath xmlns:m="http://schemas.openxmlformats.org/officeDocument/2006/math">
                    <m:r>
                      <a:rPr lang="en-US" sz="1700" i="1" dirty="0" smtClean="0">
                        <a:latin typeface="Cambria Math" panose="02040503050406030204" pitchFamily="18" charset="0"/>
                      </a:rPr>
                      <m:t>@</m:t>
                    </m:r>
                    <m:r>
                      <a:rPr lang="en-US" sz="1700" i="1" dirty="0" smtClean="0">
                        <a:latin typeface="Cambria Math" panose="02040503050406030204" pitchFamily="18" charset="0"/>
                      </a:rPr>
                      <m:t>𝑡𝑖𝑚𝑒𝑟</m:t>
                    </m:r>
                    <m:r>
                      <a:rPr lang="en-US" sz="1700" i="1" dirty="0" smtClean="0">
                        <a:latin typeface="Cambria Math" panose="02040503050406030204" pitchFamily="18" charset="0"/>
                      </a:rPr>
                      <m:t> </m:t>
                    </m:r>
                  </m:oMath>
                </a14:m>
                <a:r>
                  <a:rPr lang="en-US" sz="1700"/>
                  <a:t>– Automatically measuring how long an AI model takes to make a prediction.</a:t>
                </a:r>
              </a:p>
              <a:p>
                <a:pPr>
                  <a:lnSpc>
                    <a:spcPct val="100000"/>
                  </a:lnSpc>
                </a:pPr>
                <a:r>
                  <a:rPr lang="en-US" sz="1700" b="1"/>
                  <a:t>System Use Case: </a:t>
                </a:r>
                <a14:m>
                  <m:oMath xmlns:m="http://schemas.openxmlformats.org/officeDocument/2006/math">
                    <m:r>
                      <a:rPr lang="en-US" sz="1700" i="1" dirty="0" smtClean="0">
                        <a:latin typeface="Cambria Math" panose="02040503050406030204" pitchFamily="18" charset="0"/>
                      </a:rPr>
                      <m:t>@</m:t>
                    </m:r>
                    <m:r>
                      <m:rPr>
                        <m:sty m:val="p"/>
                      </m:rPr>
                      <a:rPr lang="en-US" sz="1700" i="1" dirty="0" smtClean="0">
                        <a:latin typeface="Cambria Math" panose="02040503050406030204" pitchFamily="18" charset="0"/>
                      </a:rPr>
                      <m:t>log</m:t>
                    </m:r>
                    <m:r>
                      <a:rPr lang="en-US" sz="1700" i="1" dirty="0" smtClean="0">
                        <a:latin typeface="Cambria Math" panose="02040503050406030204" pitchFamily="18" charset="0"/>
                      </a:rPr>
                      <m:t>⁡</m:t>
                    </m:r>
                  </m:oMath>
                </a14:m>
                <a:r>
                  <a:rPr lang="en-US" sz="1700"/>
                  <a:t>– Automatically saving a record every time a function is called.</a:t>
                </a:r>
              </a:p>
            </p:txBody>
          </p:sp>
        </mc:Choice>
        <mc:Fallback xmlns="">
          <p:sp>
            <p:nvSpPr>
              <p:cNvPr id="3" name="Content Placeholder 2">
                <a:extLst>
                  <a:ext uri="{FF2B5EF4-FFF2-40B4-BE49-F238E27FC236}">
                    <a16:creationId xmlns:a16="http://schemas.microsoft.com/office/drawing/2014/main" id="{B9151802-7CE0-1372-64F3-267B82F8EE1D}"/>
                  </a:ext>
                </a:extLst>
              </p:cNvPr>
              <p:cNvSpPr>
                <a:spLocks noGrp="1" noRot="1" noChangeAspect="1" noMove="1" noResize="1" noEditPoints="1" noAdjustHandles="1" noChangeArrowheads="1" noChangeShapeType="1" noTextEdit="1"/>
              </p:cNvSpPr>
              <p:nvPr>
                <p:ph idx="1"/>
              </p:nvPr>
            </p:nvSpPr>
            <p:spPr>
              <a:xfrm>
                <a:off x="6664960" y="2346960"/>
                <a:ext cx="4819903" cy="3775456"/>
              </a:xfrm>
              <a:blipFill>
                <a:blip r:embed="rId3"/>
                <a:stretch>
                  <a:fillRect l="-759" t="-485" r="-1517"/>
                </a:stretch>
              </a:blipFill>
            </p:spPr>
            <p:txBody>
              <a:bodyPr/>
              <a:lstStyle/>
              <a:p>
                <a:r>
                  <a:rPr lang="en-US">
                    <a:noFill/>
                  </a:rPr>
                  <a:t> </a:t>
                </a:r>
              </a:p>
            </p:txBody>
          </p:sp>
        </mc:Fallback>
      </mc:AlternateContent>
    </p:spTree>
    <p:extLst>
      <p:ext uri="{BB962C8B-B14F-4D97-AF65-F5344CB8AC3E}">
        <p14:creationId xmlns:p14="http://schemas.microsoft.com/office/powerpoint/2010/main" val="829991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9406EB-59B7-B39C-8690-A115AB4F1A66}"/>
              </a:ext>
            </a:extLst>
          </p:cNvPr>
          <p:cNvSpPr>
            <a:spLocks noGrp="1"/>
          </p:cNvSpPr>
          <p:nvPr>
            <p:ph type="title"/>
          </p:nvPr>
        </p:nvSpPr>
        <p:spPr>
          <a:xfrm>
            <a:off x="704088" y="914400"/>
            <a:ext cx="6001512" cy="1307592"/>
          </a:xfrm>
        </p:spPr>
        <p:txBody>
          <a:bodyPr>
            <a:normAutofit/>
          </a:bodyPr>
          <a:lstStyle/>
          <a:p>
            <a:pPr>
              <a:lnSpc>
                <a:spcPct val="90000"/>
              </a:lnSpc>
            </a:pPr>
            <a:r>
              <a:rPr lang="en-US" dirty="0"/>
              <a:t>Generators (Memory Efficiency)</a:t>
            </a:r>
            <a:endParaRPr lang="en-US"/>
          </a:p>
        </p:txBody>
      </p:sp>
      <p:cxnSp>
        <p:nvCxnSpPr>
          <p:cNvPr id="1033" name="Straight Connector 1032">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E5647D2-40AF-7EC3-6DC9-DBEA04C1D779}"/>
                  </a:ext>
                </a:extLst>
              </p:cNvPr>
              <p:cNvSpPr>
                <a:spLocks noGrp="1"/>
              </p:cNvSpPr>
              <p:nvPr>
                <p:ph idx="1"/>
              </p:nvPr>
            </p:nvSpPr>
            <p:spPr>
              <a:xfrm>
                <a:off x="704088" y="2231136"/>
                <a:ext cx="6001512" cy="3931920"/>
              </a:xfrm>
            </p:spPr>
            <p:txBody>
              <a:bodyPr>
                <a:normAutofit/>
              </a:bodyPr>
              <a:lstStyle/>
              <a:p>
                <a:pPr marL="0" indent="0">
                  <a:buNone/>
                </a:pPr>
                <a:r>
                  <a:rPr lang="en-US" b="1" i="1">
                    <a:latin typeface="Cambria Math" panose="02040503050406030204" pitchFamily="18" charset="0"/>
                  </a:rPr>
                  <a:t>yield</a:t>
                </a:r>
                <a:r>
                  <a:rPr lang="en-US" b="1"/>
                  <a:t> vs </a:t>
                </a:r>
                <a14:m>
                  <m:oMath xmlns:m="http://schemas.openxmlformats.org/officeDocument/2006/math">
                    <m:r>
                      <a:rPr lang="en-US" b="1" i="1" dirty="0" smtClean="0">
                        <a:latin typeface="Cambria Math" panose="02040503050406030204" pitchFamily="18" charset="0"/>
                      </a:rPr>
                      <m:t>𝒓𝒆𝒕𝒖𝒓𝒏</m:t>
                    </m:r>
                  </m:oMath>
                </a14:m>
                <a:endParaRPr lang="en-US" b="1"/>
              </a:p>
              <a:p>
                <a:endParaRPr lang="en-US" dirty="0"/>
              </a:p>
              <a:p>
                <a14:m>
                  <m:oMath xmlns:m="http://schemas.openxmlformats.org/officeDocument/2006/math">
                    <m:r>
                      <a:rPr lang="en-US" i="1" dirty="0" smtClean="0">
                        <a:latin typeface="Cambria Math" panose="02040503050406030204" pitchFamily="18" charset="0"/>
                      </a:rPr>
                      <m:t>𝑟𝑒𝑡𝑢𝑟𝑛</m:t>
                    </m:r>
                  </m:oMath>
                </a14:m>
                <a:r>
                  <a:rPr lang="en-US" dirty="0"/>
                  <a:t>: Hands back the whole list at once (Uses lots of RAM).</a:t>
                </a:r>
              </a:p>
              <a:p>
                <a:r>
                  <a:rPr lang="en-US" i="1" dirty="0">
                    <a:latin typeface="Cambria Math" panose="02040503050406030204" pitchFamily="18" charset="0"/>
                  </a:rPr>
                  <a:t>yield</a:t>
                </a:r>
                <a:r>
                  <a:rPr lang="en-US" dirty="0"/>
                  <a:t>: Hands back one item at a time, only when asked (Uses almost zero RAM).</a:t>
                </a:r>
              </a:p>
              <a:p>
                <a:r>
                  <a:rPr lang="en-US" dirty="0"/>
                  <a:t>AI Use Case: Streaming a 50GB dataset into a model.</a:t>
                </a:r>
              </a:p>
            </p:txBody>
          </p:sp>
        </mc:Choice>
        <mc:Fallback>
          <p:sp>
            <p:nvSpPr>
              <p:cNvPr id="3" name="Content Placeholder 2">
                <a:extLst>
                  <a:ext uri="{FF2B5EF4-FFF2-40B4-BE49-F238E27FC236}">
                    <a16:creationId xmlns:a16="http://schemas.microsoft.com/office/drawing/2014/main" id="{EE5647D2-40AF-7EC3-6DC9-DBEA04C1D779}"/>
                  </a:ext>
                </a:extLst>
              </p:cNvPr>
              <p:cNvSpPr>
                <a:spLocks noGrp="1" noRot="1" noChangeAspect="1" noMove="1" noResize="1" noEditPoints="1" noAdjustHandles="1" noChangeArrowheads="1" noChangeShapeType="1" noTextEdit="1"/>
              </p:cNvSpPr>
              <p:nvPr>
                <p:ph idx="1"/>
              </p:nvPr>
            </p:nvSpPr>
            <p:spPr>
              <a:xfrm>
                <a:off x="704088" y="2231136"/>
                <a:ext cx="6001512" cy="3931920"/>
              </a:xfrm>
              <a:blipFill>
                <a:blip r:embed="rId2"/>
                <a:stretch>
                  <a:fillRect l="-1118" t="-775"/>
                </a:stretch>
              </a:blipFill>
            </p:spPr>
            <p:txBody>
              <a:bodyPr/>
              <a:lstStyle/>
              <a:p>
                <a:r>
                  <a:rPr lang="en-US">
                    <a:noFill/>
                  </a:rPr>
                  <a:t> </a:t>
                </a:r>
              </a:p>
            </p:txBody>
          </p:sp>
        </mc:Fallback>
      </mc:AlternateContent>
      <p:pic>
        <p:nvPicPr>
          <p:cNvPr id="1026" name="Picture 2" descr="Yield and Return in Python ...">
            <a:extLst>
              <a:ext uri="{FF2B5EF4-FFF2-40B4-BE49-F238E27FC236}">
                <a16:creationId xmlns:a16="http://schemas.microsoft.com/office/drawing/2014/main" id="{D161808D-AAF2-227B-CD9F-BEF29680C40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274560" y="2275090"/>
            <a:ext cx="4202057" cy="3878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611580"/>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23</TotalTime>
  <Words>250</Words>
  <Application>Microsoft Office PowerPoint</Application>
  <PresentationFormat>Widescreen</PresentationFormat>
  <Paragraphs>22</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Calisto MT</vt:lpstr>
      <vt:lpstr>Cambria Math</vt:lpstr>
      <vt:lpstr>Univers Condensed</vt:lpstr>
      <vt:lpstr>ChronicleVTI</vt:lpstr>
      <vt:lpstr>Phase 1, Module 9: Advanced Functions &amp; Performance</vt:lpstr>
      <vt:lpstr>Flexible Inputs (∗args and **kwargs )</vt:lpstr>
      <vt:lpstr>Decorators (The System Wrapper)</vt:lpstr>
      <vt:lpstr>Generators (Memory Efficiency)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3</cp:revision>
  <dcterms:created xsi:type="dcterms:W3CDTF">2026-04-20T10:23:19Z</dcterms:created>
  <dcterms:modified xsi:type="dcterms:W3CDTF">2026-04-20T10:49:20Z</dcterms:modified>
</cp:coreProperties>
</file>