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1C7F9-5A5D-A037-E5F9-46FB08D35C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9166F8-7AF6-1847-4436-BBFD0D53EF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939F6D-F12D-F487-3025-C25F77C49ED3}"/>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5" name="Footer Placeholder 4">
            <a:extLst>
              <a:ext uri="{FF2B5EF4-FFF2-40B4-BE49-F238E27FC236}">
                <a16:creationId xmlns:a16="http://schemas.microsoft.com/office/drawing/2014/main" id="{5A55923A-4CCA-EC67-64AE-79858AC523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700A6C-7987-A6A3-7390-1961B4F6722D}"/>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3713544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9BC9-20D5-4656-7DD0-FC3A73F34D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D2A39-E610-3D59-A69A-3B58A9B73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87605-B2BB-7E28-9D3F-892EF99A2C9D}"/>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5" name="Footer Placeholder 4">
            <a:extLst>
              <a:ext uri="{FF2B5EF4-FFF2-40B4-BE49-F238E27FC236}">
                <a16:creationId xmlns:a16="http://schemas.microsoft.com/office/drawing/2014/main" id="{3B413603-A38F-5914-5597-5E9A5388D5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333AA8-5B7F-22FD-9A7E-8305B8A2FBD1}"/>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2408030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FCFA-33A5-00A5-A58A-966847D48A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FE2042-B666-1004-5931-6B9AA32638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0F516B-5247-F41F-BADC-810CA34F627B}"/>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5" name="Footer Placeholder 4">
            <a:extLst>
              <a:ext uri="{FF2B5EF4-FFF2-40B4-BE49-F238E27FC236}">
                <a16:creationId xmlns:a16="http://schemas.microsoft.com/office/drawing/2014/main" id="{E4541211-93FA-38C8-5DE0-B2941B7CC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DC43AD-75B5-6FAB-A246-9815AF60BB80}"/>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3440444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3A689-CAB7-308D-00AD-835137A6D3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54E70C-EC11-2E75-FEC8-BD1212C5E0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BDFCA9-37A3-ED1F-B572-CD13CEE14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490A1B-779A-5805-08C6-DD3CE8F82B71}"/>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6" name="Footer Placeholder 5">
            <a:extLst>
              <a:ext uri="{FF2B5EF4-FFF2-40B4-BE49-F238E27FC236}">
                <a16:creationId xmlns:a16="http://schemas.microsoft.com/office/drawing/2014/main" id="{6502F022-AB85-DB1D-92B7-6D4E43B6A2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2F0232-A2E2-5CAC-FB45-AB497FAD7FBA}"/>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322320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D3A9-C098-8B6A-77B8-70AA68F73E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966475-9848-894F-8433-1424B08FF9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5061AF-D512-AEFE-C965-E723B8221F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7F7A10-AAA6-0429-B67C-A83D55217E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E25A37-DE9D-8486-5D22-EA7476281D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3911D3-B1C2-0682-79EB-0BE68851CCDF}"/>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8" name="Footer Placeholder 7">
            <a:extLst>
              <a:ext uri="{FF2B5EF4-FFF2-40B4-BE49-F238E27FC236}">
                <a16:creationId xmlns:a16="http://schemas.microsoft.com/office/drawing/2014/main" id="{92001D02-12DF-496E-77E3-00019A13A7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0102A2-59CA-9716-567D-F5E7EA6B793C}"/>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2280733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AC11C-366C-A30E-371D-FAEA4D1329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8B14C3-FF26-A0C5-BB9C-954527AB91A8}"/>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4" name="Footer Placeholder 3">
            <a:extLst>
              <a:ext uri="{FF2B5EF4-FFF2-40B4-BE49-F238E27FC236}">
                <a16:creationId xmlns:a16="http://schemas.microsoft.com/office/drawing/2014/main" id="{76574183-362A-6F47-AF3A-1D82AD7F96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22D545-599F-0897-6A6C-82C7FE082956}"/>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930288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788A97-3F2B-1C81-C33C-B3E1F2679216}"/>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3" name="Footer Placeholder 2">
            <a:extLst>
              <a:ext uri="{FF2B5EF4-FFF2-40B4-BE49-F238E27FC236}">
                <a16:creationId xmlns:a16="http://schemas.microsoft.com/office/drawing/2014/main" id="{7F5C3B02-40AD-5B14-7BBD-D5D4BEAA90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28FD01-580B-5389-F3AC-3CF8845E2578}"/>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4200413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17C2F-0BED-9B27-0047-65BB336E7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274D51-7F9E-1250-A572-E3F14DCA4B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3D6614-BE82-612B-8240-50C8BE170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A47C14-2B81-6687-99D1-4DB6FA4CE8D3}"/>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6" name="Footer Placeholder 5">
            <a:extLst>
              <a:ext uri="{FF2B5EF4-FFF2-40B4-BE49-F238E27FC236}">
                <a16:creationId xmlns:a16="http://schemas.microsoft.com/office/drawing/2014/main" id="{49D908E3-9529-DF53-4D75-CA52150648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998989-4CC9-6EEB-1884-B880736ECACD}"/>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3430201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566C1-8161-2DFC-41DD-AA9D14522C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CEDBB0-6422-ECAE-7B09-6354D2E401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E127DF-F941-4DB5-B18A-FF066D9E62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51B51B-ACD0-5E3D-A5FD-5385EA3E7CD3}"/>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6" name="Footer Placeholder 5">
            <a:extLst>
              <a:ext uri="{FF2B5EF4-FFF2-40B4-BE49-F238E27FC236}">
                <a16:creationId xmlns:a16="http://schemas.microsoft.com/office/drawing/2014/main" id="{E5E39883-1191-B9ED-6C49-2D8578EA7C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DF6C89-4598-5B6B-A87A-E40F1123F2E5}"/>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105549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FE962-D428-BAEC-8B41-EC92615DFD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358E31-BA06-0956-5023-2276AE1000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1BC8BE-EE3E-A5F3-20E9-CFF24C6C19F3}"/>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5" name="Footer Placeholder 4">
            <a:extLst>
              <a:ext uri="{FF2B5EF4-FFF2-40B4-BE49-F238E27FC236}">
                <a16:creationId xmlns:a16="http://schemas.microsoft.com/office/drawing/2014/main" id="{79490455-22AF-0260-B2C8-349E3ADF02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3A535C-29B9-2386-568E-88F8309B340C}"/>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10535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846D63-9BC1-4869-A350-5FB9EEDB80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11B5F6-A530-5777-3524-61B148B09B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09CBE1-9952-D198-DC82-8FB8E731A09C}"/>
              </a:ext>
            </a:extLst>
          </p:cNvPr>
          <p:cNvSpPr>
            <a:spLocks noGrp="1"/>
          </p:cNvSpPr>
          <p:nvPr>
            <p:ph type="dt" sz="half" idx="10"/>
          </p:nvPr>
        </p:nvSpPr>
        <p:spPr/>
        <p:txBody>
          <a:bodyPr/>
          <a:lstStyle/>
          <a:p>
            <a:fld id="{D54490E5-A29C-4C6F-89C3-82E3F439CBAC}" type="datetimeFigureOut">
              <a:rPr lang="en-US" smtClean="0"/>
              <a:t>4/20/2026</a:t>
            </a:fld>
            <a:endParaRPr lang="en-US"/>
          </a:p>
        </p:txBody>
      </p:sp>
      <p:sp>
        <p:nvSpPr>
          <p:cNvPr id="5" name="Footer Placeholder 4">
            <a:extLst>
              <a:ext uri="{FF2B5EF4-FFF2-40B4-BE49-F238E27FC236}">
                <a16:creationId xmlns:a16="http://schemas.microsoft.com/office/drawing/2014/main" id="{12C518D7-A1CF-2765-2D1D-F19FC48109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9CCFF7-05AE-D25D-72A7-825D793471D6}"/>
              </a:ext>
            </a:extLst>
          </p:cNvPr>
          <p:cNvSpPr>
            <a:spLocks noGrp="1"/>
          </p:cNvSpPr>
          <p:nvPr>
            <p:ph type="sldNum" sz="quarter" idx="12"/>
          </p:nvPr>
        </p:nvSpPr>
        <p:spPr/>
        <p:txBody>
          <a:bodyPr/>
          <a:lstStyle/>
          <a:p>
            <a:fld id="{5661A104-00EC-4D0D-875C-DA78631BCC0E}" type="slidenum">
              <a:rPr lang="en-US" smtClean="0"/>
              <a:t>‹#›</a:t>
            </a:fld>
            <a:endParaRPr lang="en-US"/>
          </a:p>
        </p:txBody>
      </p:sp>
    </p:spTree>
    <p:extLst>
      <p:ext uri="{BB962C8B-B14F-4D97-AF65-F5344CB8AC3E}">
        <p14:creationId xmlns:p14="http://schemas.microsoft.com/office/powerpoint/2010/main" val="2153512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CB8705-0BC5-0B74-760B-B1BDC995D2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081DC0-AD38-048B-087B-1620818E4B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79C1A-1E5F-73A0-0332-12D2E7724F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4490E5-A29C-4C6F-89C3-82E3F439CBAC}" type="datetimeFigureOut">
              <a:rPr lang="en-US" smtClean="0"/>
              <a:t>4/20/2026</a:t>
            </a:fld>
            <a:endParaRPr lang="en-US"/>
          </a:p>
        </p:txBody>
      </p:sp>
      <p:sp>
        <p:nvSpPr>
          <p:cNvPr id="5" name="Footer Placeholder 4">
            <a:extLst>
              <a:ext uri="{FF2B5EF4-FFF2-40B4-BE49-F238E27FC236}">
                <a16:creationId xmlns:a16="http://schemas.microsoft.com/office/drawing/2014/main" id="{146A5B19-3DCD-7F6E-A608-64097D59A0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876E6FE-1FC0-0C86-BFDB-E08758216F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61A104-00EC-4D0D-875C-DA78631BCC0E}" type="slidenum">
              <a:rPr lang="en-US" smtClean="0"/>
              <a:t>‹#›</a:t>
            </a:fld>
            <a:endParaRPr lang="en-US"/>
          </a:p>
        </p:txBody>
      </p:sp>
    </p:spTree>
    <p:extLst>
      <p:ext uri="{BB962C8B-B14F-4D97-AF65-F5344CB8AC3E}">
        <p14:creationId xmlns:p14="http://schemas.microsoft.com/office/powerpoint/2010/main" val="250189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lectronics protoboard">
            <a:extLst>
              <a:ext uri="{FF2B5EF4-FFF2-40B4-BE49-F238E27FC236}">
                <a16:creationId xmlns:a16="http://schemas.microsoft.com/office/drawing/2014/main" id="{56B533E3-DA16-0CA0-4700-784CD43B952D}"/>
              </a:ext>
            </a:extLst>
          </p:cNvPr>
          <p:cNvPicPr>
            <a:picLocks noChangeAspect="1"/>
          </p:cNvPicPr>
          <p:nvPr/>
        </p:nvPicPr>
        <p:blipFill>
          <a:blip r:embed="rId2"/>
          <a:srcRect l="6668" r="40672" b="-2"/>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31DE3-E9F1-FB02-4ADE-A286A070EFA3}"/>
              </a:ext>
            </a:extLst>
          </p:cNvPr>
          <p:cNvSpPr>
            <a:spLocks noGrp="1"/>
          </p:cNvSpPr>
          <p:nvPr>
            <p:ph type="ctrTitle"/>
          </p:nvPr>
        </p:nvSpPr>
        <p:spPr>
          <a:xfrm>
            <a:off x="6115317" y="405685"/>
            <a:ext cx="5464968" cy="1559301"/>
          </a:xfrm>
        </p:spPr>
        <p:txBody>
          <a:bodyPr vert="horz" lIns="91440" tIns="45720" rIns="91440" bIns="45720" rtlCol="0" anchor="ctr">
            <a:normAutofit/>
          </a:bodyPr>
          <a:lstStyle/>
          <a:p>
            <a:pPr algn="l"/>
            <a:r>
              <a:rPr lang="en-US" sz="4000"/>
              <a:t>Phase 1, Module 8: Bulletproof Systems</a:t>
            </a:r>
          </a:p>
        </p:txBody>
      </p:sp>
      <p:sp>
        <p:nvSpPr>
          <p:cNvPr id="3" name="Subtitle 2">
            <a:extLst>
              <a:ext uri="{FF2B5EF4-FFF2-40B4-BE49-F238E27FC236}">
                <a16:creationId xmlns:a16="http://schemas.microsoft.com/office/drawing/2014/main" id="{A89818AD-DF85-EC1D-BC81-E876DDFEA524}"/>
              </a:ext>
            </a:extLst>
          </p:cNvPr>
          <p:cNvSpPr>
            <a:spLocks noGrp="1"/>
          </p:cNvSpPr>
          <p:nvPr>
            <p:ph type="subTitle" idx="1"/>
          </p:nvPr>
        </p:nvSpPr>
        <p:spPr>
          <a:xfrm>
            <a:off x="6115317" y="2743200"/>
            <a:ext cx="5247340" cy="3496878"/>
          </a:xfrm>
        </p:spPr>
        <p:txBody>
          <a:bodyPr vert="horz" lIns="91440" tIns="45720" rIns="91440" bIns="45720" rtlCol="0" anchor="ctr">
            <a:normAutofit/>
          </a:bodyPr>
          <a:lstStyle/>
          <a:p>
            <a:pPr indent="-228600" algn="l">
              <a:buFont typeface="Arial" panose="020B0604020202020204" pitchFamily="34" charset="0"/>
              <a:buChar char="•"/>
            </a:pPr>
            <a:r>
              <a:rPr lang="en-US" sz="2000" b="1"/>
              <a:t>Error Handling &amp; File I/O</a:t>
            </a:r>
          </a:p>
          <a:p>
            <a:pPr indent="-228600" algn="l">
              <a:buFont typeface="Arial" panose="020B0604020202020204" pitchFamily="34" charset="0"/>
              <a:buChar char="•"/>
            </a:pPr>
            <a:r>
              <a:rPr lang="en-US" sz="2000"/>
              <a:t>Welcome to Module 8. Today we learn how to keep a system alive when the world around it breaks. We will learn how to catch errors before they crash the server, and how to save our data permanently to the hard drive.</a:t>
            </a:r>
          </a:p>
          <a:p>
            <a:pPr indent="-228600" algn="l">
              <a:buFont typeface="Arial" panose="020B0604020202020204" pitchFamily="34" charset="0"/>
              <a:buChar char="•"/>
            </a:pPr>
            <a:r>
              <a:rPr lang="en-US" sz="2000"/>
              <a:t>Presented By: Zaryab Ahmad</a:t>
            </a:r>
          </a:p>
          <a:p>
            <a:pPr indent="-228600" algn="l">
              <a:buFont typeface="Arial" panose="020B0604020202020204" pitchFamily="34" charset="0"/>
              <a:buChar char="•"/>
            </a:pPr>
            <a:endParaRPr lang="en-US" sz="2000"/>
          </a:p>
        </p:txBody>
      </p:sp>
    </p:spTree>
    <p:extLst>
      <p:ext uri="{BB962C8B-B14F-4D97-AF65-F5344CB8AC3E}">
        <p14:creationId xmlns:p14="http://schemas.microsoft.com/office/powerpoint/2010/main" val="282088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8"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3" name="Picture 5" descr="Exception Handling in Python ...">
            <a:extLst>
              <a:ext uri="{FF2B5EF4-FFF2-40B4-BE49-F238E27FC236}">
                <a16:creationId xmlns:a16="http://schemas.microsoft.com/office/drawing/2014/main" id="{907C12FE-4996-B892-298B-406FD14547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851" r="959"/>
          <a:stretch>
            <a:fillRect/>
          </a:stretch>
        </p:blipFill>
        <p:spPr bwMode="auto">
          <a:xfrm>
            <a:off x="20" y="1666568"/>
            <a:ext cx="6106195" cy="5191432"/>
          </a:xfrm>
          <a:prstGeom prst="rect">
            <a:avLst/>
          </a:prstGeom>
          <a:noFill/>
          <a:extLst>
            <a:ext uri="{909E8E84-426E-40DD-AFC4-6F175D3DCCD1}">
              <a14:hiddenFill xmlns:a14="http://schemas.microsoft.com/office/drawing/2010/main">
                <a:solidFill>
                  <a:srgbClr val="FFFFFF"/>
                </a:solidFill>
              </a14:hiddenFill>
            </a:ext>
          </a:extLst>
        </p:spPr>
      </p:pic>
      <p:sp useBgFill="1">
        <p:nvSpPr>
          <p:cNvPr id="2060" name="Rectangle 2059">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5694FF-C5E9-FB69-FEA5-8A042B4C73E8}"/>
              </a:ext>
            </a:extLst>
          </p:cNvPr>
          <p:cNvSpPr>
            <a:spLocks noGrp="1"/>
          </p:cNvSpPr>
          <p:nvPr>
            <p:ph type="title"/>
          </p:nvPr>
        </p:nvSpPr>
        <p:spPr>
          <a:xfrm>
            <a:off x="761801" y="352766"/>
            <a:ext cx="10591999" cy="1023584"/>
          </a:xfrm>
        </p:spPr>
        <p:txBody>
          <a:bodyPr>
            <a:normAutofit/>
          </a:bodyPr>
          <a:lstStyle/>
          <a:p>
            <a:r>
              <a:rPr lang="en-US" sz="4000"/>
              <a:t>The Reality of Production (Exceptions)</a:t>
            </a:r>
          </a:p>
        </p:txBody>
      </p:sp>
      <p:sp>
        <p:nvSpPr>
          <p:cNvPr id="3" name="Content Placeholder 2">
            <a:extLst>
              <a:ext uri="{FF2B5EF4-FFF2-40B4-BE49-F238E27FC236}">
                <a16:creationId xmlns:a16="http://schemas.microsoft.com/office/drawing/2014/main" id="{DD31F963-56BE-5E71-06E2-5FAA501A4C58}"/>
              </a:ext>
            </a:extLst>
          </p:cNvPr>
          <p:cNvSpPr>
            <a:spLocks noGrp="1"/>
          </p:cNvSpPr>
          <p:nvPr>
            <p:ph idx="1"/>
          </p:nvPr>
        </p:nvSpPr>
        <p:spPr>
          <a:xfrm>
            <a:off x="6803408" y="2249766"/>
            <a:ext cx="4550391" cy="4070303"/>
          </a:xfrm>
        </p:spPr>
        <p:txBody>
          <a:bodyPr anchor="ctr">
            <a:normAutofit/>
          </a:bodyPr>
          <a:lstStyle/>
          <a:p>
            <a:pPr marL="0" indent="0">
              <a:buNone/>
            </a:pPr>
            <a:r>
              <a:rPr lang="en-US" sz="2000" b="1"/>
              <a:t>Code </a:t>
            </a:r>
            <a:r>
              <a:rPr lang="en-US" sz="2000" b="1" i="1"/>
              <a:t>Will</a:t>
            </a:r>
            <a:r>
              <a:rPr lang="en-US" sz="2000" b="1"/>
              <a:t> Fail. Servers </a:t>
            </a:r>
            <a:r>
              <a:rPr lang="en-US" sz="2000" b="1" i="1"/>
              <a:t>Must Not</a:t>
            </a:r>
            <a:r>
              <a:rPr lang="en-US" sz="2000" b="1"/>
              <a:t> Die.</a:t>
            </a:r>
          </a:p>
          <a:p>
            <a:endParaRPr lang="en-US" sz="2000"/>
          </a:p>
          <a:p>
            <a:r>
              <a:rPr lang="en-US" sz="2000" b="1"/>
              <a:t>Syntax Errors: </a:t>
            </a:r>
            <a:r>
              <a:rPr lang="en-US" sz="2000"/>
              <a:t>You wrote bad Python (e.g., missed a colon). The system won't even start.</a:t>
            </a:r>
          </a:p>
          <a:p>
            <a:r>
              <a:rPr lang="en-US" sz="2000" b="1"/>
              <a:t>Exceptions: </a:t>
            </a:r>
            <a:r>
              <a:rPr lang="en-US" sz="2000"/>
              <a:t>The Python is perfect, but the world broke (e.g., the internet dropped, a file was deleted, a sensor sent text instead of a number).</a:t>
            </a:r>
          </a:p>
        </p:txBody>
      </p:sp>
    </p:spTree>
    <p:extLst>
      <p:ext uri="{BB962C8B-B14F-4D97-AF65-F5344CB8AC3E}">
        <p14:creationId xmlns:p14="http://schemas.microsoft.com/office/powerpoint/2010/main" val="846208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081" name="Rectangle 3080">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037D7522-AAB6-5EE7-06A9-E005A10C6C77}"/>
                  </a:ext>
                </a:extLst>
              </p:cNvPr>
              <p:cNvSpPr>
                <a:spLocks noGrp="1"/>
              </p:cNvSpPr>
              <p:nvPr>
                <p:ph type="title"/>
              </p:nvPr>
            </p:nvSpPr>
            <p:spPr>
              <a:xfrm>
                <a:off x="761995" y="307447"/>
                <a:ext cx="10693884" cy="1109932"/>
              </a:xfrm>
            </p:spPr>
            <p:txBody>
              <a:bodyPr>
                <a:normAutofit/>
              </a:bodyPr>
              <a:lstStyle/>
              <a:p>
                <a:r>
                  <a:rPr lang="en-US" sz="4000"/>
                  <a:t>The Shield (</a:t>
                </a:r>
                <a14:m>
                  <m:oMath xmlns:m="http://schemas.openxmlformats.org/officeDocument/2006/math">
                    <m:r>
                      <a:rPr lang="en-US" sz="4000" i="1">
                        <a:latin typeface="Cambria Math" panose="02040503050406030204" pitchFamily="18" charset="0"/>
                      </a:rPr>
                      <m:t>𝑡𝑟𝑦</m:t>
                    </m:r>
                  </m:oMath>
                </a14:m>
                <a:r>
                  <a:rPr lang="en-US" sz="4000"/>
                  <a:t>, </a:t>
                </a:r>
                <a:r>
                  <a:rPr lang="en-US" sz="4000" i="1">
                    <a:latin typeface="Cambria Math" panose="02040503050406030204" pitchFamily="18" charset="0"/>
                  </a:rPr>
                  <a:t>except</a:t>
                </a:r>
                <a:r>
                  <a:rPr lang="en-US" sz="4000"/>
                  <a:t>, </a:t>
                </a:r>
                <a:r>
                  <a:rPr lang="en-US" sz="4000" i="1">
                    <a:latin typeface="Cambria Math" panose="02040503050406030204" pitchFamily="18" charset="0"/>
                  </a:rPr>
                  <a:t>finally</a:t>
                </a:r>
                <a:r>
                  <a:rPr lang="en-US" sz="4000"/>
                  <a:t>)</a:t>
                </a:r>
              </a:p>
            </p:txBody>
          </p:sp>
        </mc:Choice>
        <mc:Fallback>
          <p:sp>
            <p:nvSpPr>
              <p:cNvPr id="2" name="Title 1">
                <a:extLst>
                  <a:ext uri="{FF2B5EF4-FFF2-40B4-BE49-F238E27FC236}">
                    <a16:creationId xmlns:a16="http://schemas.microsoft.com/office/drawing/2014/main" id="{037D7522-AAB6-5EE7-06A9-E005A10C6C77}"/>
                  </a:ext>
                </a:extLst>
              </p:cNvPr>
              <p:cNvSpPr>
                <a:spLocks noGrp="1" noRot="1" noChangeAspect="1" noMove="1" noResize="1" noEditPoints="1" noAdjustHandles="1" noChangeArrowheads="1" noChangeShapeType="1" noTextEdit="1"/>
              </p:cNvSpPr>
              <p:nvPr>
                <p:ph type="title"/>
              </p:nvPr>
            </p:nvSpPr>
            <p:spPr>
              <a:xfrm>
                <a:off x="761995" y="307447"/>
                <a:ext cx="10693884" cy="1109932"/>
              </a:xfrm>
              <a:blipFill>
                <a:blip r:embed="rId2"/>
                <a:stretch>
                  <a:fillRect l="-1995" b="-2732"/>
                </a:stretch>
              </a:blipFill>
            </p:spPr>
            <p:txBody>
              <a:bodyPr/>
              <a:lstStyle/>
              <a:p>
                <a:r>
                  <a:rPr lang="en-US">
                    <a:noFill/>
                  </a:rPr>
                  <a:t> </a:t>
                </a:r>
              </a:p>
            </p:txBody>
          </p:sp>
        </mc:Fallback>
      </mc:AlternateContent>
      <p:pic>
        <p:nvPicPr>
          <p:cNvPr id="3074" name="Picture 2" descr="Navigating Through Python Exceptions: A ...">
            <a:extLst>
              <a:ext uri="{FF2B5EF4-FFF2-40B4-BE49-F238E27FC236}">
                <a16:creationId xmlns:a16="http://schemas.microsoft.com/office/drawing/2014/main" id="{1775AA97-2DF1-E68A-1A54-32668804D39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6122" y="2861376"/>
            <a:ext cx="5804955" cy="27685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3F77BAD-3340-8952-B82C-089530ACDFF4}"/>
                  </a:ext>
                </a:extLst>
              </p:cNvPr>
              <p:cNvSpPr>
                <a:spLocks noGrp="1"/>
              </p:cNvSpPr>
              <p:nvPr>
                <p:ph idx="1"/>
              </p:nvPr>
            </p:nvSpPr>
            <p:spPr>
              <a:xfrm>
                <a:off x="7190509" y="2357888"/>
                <a:ext cx="4265370" cy="3902635"/>
              </a:xfrm>
            </p:spPr>
            <p:txBody>
              <a:bodyPr anchor="ctr">
                <a:normAutofit/>
              </a:bodyPr>
              <a:lstStyle/>
              <a:p>
                <a:pPr marL="0" indent="0">
                  <a:buNone/>
                </a:pPr>
                <a:r>
                  <a:rPr lang="en-US" sz="2000" b="1"/>
                  <a:t>Graceful Degradation</a:t>
                </a:r>
              </a:p>
              <a:p>
                <a14:m>
                  <m:oMath xmlns:m="http://schemas.openxmlformats.org/officeDocument/2006/math">
                    <m:r>
                      <a:rPr lang="en-US" sz="2000" i="1">
                        <a:latin typeface="Cambria Math" panose="02040503050406030204" pitchFamily="18" charset="0"/>
                      </a:rPr>
                      <m:t>𝑡𝑟𝑦</m:t>
                    </m:r>
                    <m:r>
                      <a:rPr lang="en-US" sz="2000" i="1">
                        <a:latin typeface="Cambria Math" panose="02040503050406030204" pitchFamily="18" charset="0"/>
                      </a:rPr>
                      <m:t>: </m:t>
                    </m:r>
                  </m:oMath>
                </a14:m>
                <a:r>
                  <a:rPr lang="en-US" sz="2000"/>
                  <a:t>"Attempt to run this dangerous code.“</a:t>
                </a:r>
              </a:p>
              <a:p>
                <a:r>
                  <a:rPr lang="en-US" sz="2000" i="1">
                    <a:latin typeface="Cambria Math" panose="02040503050406030204" pitchFamily="18" charset="0"/>
                  </a:rPr>
                  <a:t>except: </a:t>
                </a:r>
                <a:r>
                  <a:rPr lang="en-US" sz="2000"/>
                  <a:t>"If it explodes, do this instead of crashing.“</a:t>
                </a:r>
              </a:p>
              <a:p>
                <a:r>
                  <a:rPr lang="en-US" sz="2000" i="1">
                    <a:latin typeface="Cambria Math" panose="02040503050406030204" pitchFamily="18" charset="0"/>
                  </a:rPr>
                  <a:t>finally: </a:t>
                </a:r>
                <a:r>
                  <a:rPr lang="en-US" sz="2000"/>
                  <a:t>"Run this no matter what happens (e.g., shut down the database connection safely)."</a:t>
                </a:r>
              </a:p>
            </p:txBody>
          </p:sp>
        </mc:Choice>
        <mc:Fallback>
          <p:sp>
            <p:nvSpPr>
              <p:cNvPr id="3" name="Content Placeholder 2">
                <a:extLst>
                  <a:ext uri="{FF2B5EF4-FFF2-40B4-BE49-F238E27FC236}">
                    <a16:creationId xmlns:a16="http://schemas.microsoft.com/office/drawing/2014/main" id="{43F77BAD-3340-8952-B82C-089530ACDFF4}"/>
                  </a:ext>
                </a:extLst>
              </p:cNvPr>
              <p:cNvSpPr>
                <a:spLocks noGrp="1" noRot="1" noChangeAspect="1" noMove="1" noResize="1" noEditPoints="1" noAdjustHandles="1" noChangeArrowheads="1" noChangeShapeType="1" noTextEdit="1"/>
              </p:cNvSpPr>
              <p:nvPr>
                <p:ph idx="1"/>
              </p:nvPr>
            </p:nvSpPr>
            <p:spPr>
              <a:xfrm>
                <a:off x="7190509" y="2357888"/>
                <a:ext cx="4265370" cy="3902635"/>
              </a:xfrm>
              <a:blipFill>
                <a:blip r:embed="rId4"/>
                <a:stretch>
                  <a:fillRect l="-1574" r="-2003"/>
                </a:stretch>
              </a:blipFill>
            </p:spPr>
            <p:txBody>
              <a:bodyPr/>
              <a:lstStyle/>
              <a:p>
                <a:r>
                  <a:rPr lang="en-US">
                    <a:noFill/>
                  </a:rPr>
                  <a:t> </a:t>
                </a:r>
              </a:p>
            </p:txBody>
          </p:sp>
        </mc:Fallback>
      </mc:AlternateContent>
    </p:spTree>
    <p:extLst>
      <p:ext uri="{BB962C8B-B14F-4D97-AF65-F5344CB8AC3E}">
        <p14:creationId xmlns:p14="http://schemas.microsoft.com/office/powerpoint/2010/main" val="1846059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105" name="Rectangle 4104">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36751-99C7-8880-30F0-B08AB185C0D9}"/>
              </a:ext>
            </a:extLst>
          </p:cNvPr>
          <p:cNvSpPr>
            <a:spLocks noGrp="1"/>
          </p:cNvSpPr>
          <p:nvPr>
            <p:ph type="title"/>
          </p:nvPr>
        </p:nvSpPr>
        <p:spPr>
          <a:xfrm>
            <a:off x="761995" y="307447"/>
            <a:ext cx="10693884" cy="1109932"/>
          </a:xfrm>
        </p:spPr>
        <p:txBody>
          <a:bodyPr>
            <a:normAutofit/>
          </a:bodyPr>
          <a:lstStyle/>
          <a:p>
            <a:r>
              <a:rPr lang="en-US" sz="4000"/>
              <a:t>File I/O (Input / Output)</a:t>
            </a:r>
          </a:p>
        </p:txBody>
      </p:sp>
      <p:pic>
        <p:nvPicPr>
          <p:cNvPr id="4098" name="Picture 2" descr="write files in Python ...">
            <a:extLst>
              <a:ext uri="{FF2B5EF4-FFF2-40B4-BE49-F238E27FC236}">
                <a16:creationId xmlns:a16="http://schemas.microsoft.com/office/drawing/2014/main" id="{02AC27DE-F98A-B569-C281-3042C543F34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6122" y="2733734"/>
            <a:ext cx="5804955" cy="302380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FDFA5AF-5CC6-C09E-C0EB-566EE6D88BCD}"/>
              </a:ext>
            </a:extLst>
          </p:cNvPr>
          <p:cNvSpPr>
            <a:spLocks noGrp="1"/>
          </p:cNvSpPr>
          <p:nvPr>
            <p:ph idx="1"/>
          </p:nvPr>
        </p:nvSpPr>
        <p:spPr>
          <a:xfrm>
            <a:off x="7190509" y="2357888"/>
            <a:ext cx="4265370" cy="3902635"/>
          </a:xfrm>
        </p:spPr>
        <p:txBody>
          <a:bodyPr anchor="ctr">
            <a:normAutofit/>
          </a:bodyPr>
          <a:lstStyle/>
          <a:p>
            <a:r>
              <a:rPr lang="en-US" sz="2000" b="1"/>
              <a:t>Giving the AI a Hard Drive</a:t>
            </a:r>
          </a:p>
          <a:p>
            <a:endParaRPr lang="en-US" sz="2000"/>
          </a:p>
          <a:p>
            <a:r>
              <a:rPr lang="en-US" sz="2000"/>
              <a:t>Variables live in RAM. When the script ends, the RAM is wiped.</a:t>
            </a:r>
          </a:p>
          <a:p>
            <a:r>
              <a:rPr lang="en-US" sz="2000"/>
              <a:t>To save data forever, we write to the hard disk (.txt, .csv, .json).</a:t>
            </a:r>
          </a:p>
          <a:p>
            <a:r>
              <a:rPr lang="en-US" sz="2000" b="1"/>
              <a:t>The Danger: </a:t>
            </a:r>
            <a:r>
              <a:rPr lang="en-US" sz="2000"/>
              <a:t>Opening a file locks it in the operating system. If you forget to close it, you create a memory leak.</a:t>
            </a:r>
          </a:p>
        </p:txBody>
      </p:sp>
    </p:spTree>
    <p:extLst>
      <p:ext uri="{BB962C8B-B14F-4D97-AF65-F5344CB8AC3E}">
        <p14:creationId xmlns:p14="http://schemas.microsoft.com/office/powerpoint/2010/main" val="404409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5129" name="Rectangle 5128">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DD5F1C0-3771-AF56-1A4C-68493D55A2A8}"/>
                  </a:ext>
                </a:extLst>
              </p:cNvPr>
              <p:cNvSpPr>
                <a:spLocks noGrp="1"/>
              </p:cNvSpPr>
              <p:nvPr>
                <p:ph type="title"/>
              </p:nvPr>
            </p:nvSpPr>
            <p:spPr>
              <a:xfrm>
                <a:off x="761995" y="307447"/>
                <a:ext cx="10693884" cy="1109932"/>
              </a:xfrm>
            </p:spPr>
            <p:txBody>
              <a:bodyPr>
                <a:normAutofit/>
              </a:bodyPr>
              <a:lstStyle/>
              <a:p>
                <a:r>
                  <a:rPr lang="en-US" sz="4000"/>
                  <a:t>The Context Manager (</a:t>
                </a:r>
                <a14:m>
                  <m:oMath xmlns:m="http://schemas.openxmlformats.org/officeDocument/2006/math">
                    <m:r>
                      <a:rPr lang="en-US" sz="4000" i="1">
                        <a:latin typeface="Cambria Math" panose="02040503050406030204" pitchFamily="18" charset="0"/>
                      </a:rPr>
                      <m:t>𝑤𝑖𝑡h</m:t>
                    </m:r>
                    <m:r>
                      <a:rPr lang="en-US" sz="4000" i="1">
                        <a:latin typeface="Cambria Math" panose="02040503050406030204" pitchFamily="18" charset="0"/>
                      </a:rPr>
                      <m:t> </m:t>
                    </m:r>
                    <m:r>
                      <a:rPr lang="en-US" sz="4000" i="1">
                        <a:latin typeface="Cambria Math" panose="02040503050406030204" pitchFamily="18" charset="0"/>
                      </a:rPr>
                      <m:t>𝑜𝑝𝑒𝑛</m:t>
                    </m:r>
                  </m:oMath>
                </a14:m>
                <a:r>
                  <a:rPr lang="en-US" sz="4000"/>
                  <a:t>)</a:t>
                </a:r>
              </a:p>
            </p:txBody>
          </p:sp>
        </mc:Choice>
        <mc:Fallback>
          <p:sp>
            <p:nvSpPr>
              <p:cNvPr id="2" name="Title 1">
                <a:extLst>
                  <a:ext uri="{FF2B5EF4-FFF2-40B4-BE49-F238E27FC236}">
                    <a16:creationId xmlns:a16="http://schemas.microsoft.com/office/drawing/2014/main" id="{DDD5F1C0-3771-AF56-1A4C-68493D55A2A8}"/>
                  </a:ext>
                </a:extLst>
              </p:cNvPr>
              <p:cNvSpPr>
                <a:spLocks noGrp="1" noRot="1" noChangeAspect="1" noMove="1" noResize="1" noEditPoints="1" noAdjustHandles="1" noChangeArrowheads="1" noChangeShapeType="1" noTextEdit="1"/>
              </p:cNvSpPr>
              <p:nvPr>
                <p:ph type="title"/>
              </p:nvPr>
            </p:nvSpPr>
            <p:spPr>
              <a:xfrm>
                <a:off x="761995" y="307447"/>
                <a:ext cx="10693884" cy="1109932"/>
              </a:xfrm>
              <a:blipFill>
                <a:blip r:embed="rId2"/>
                <a:stretch>
                  <a:fillRect l="-1995" b="-2732"/>
                </a:stretch>
              </a:blipFill>
            </p:spPr>
            <p:txBody>
              <a:bodyPr/>
              <a:lstStyle/>
              <a:p>
                <a:r>
                  <a:rPr lang="en-US">
                    <a:noFill/>
                  </a:rPr>
                  <a:t> </a:t>
                </a:r>
              </a:p>
            </p:txBody>
          </p:sp>
        </mc:Fallback>
      </mc:AlternateContent>
      <p:pic>
        <p:nvPicPr>
          <p:cNvPr id="5122" name="Picture 2" descr="Open Files In Python ...">
            <a:extLst>
              <a:ext uri="{FF2B5EF4-FFF2-40B4-BE49-F238E27FC236}">
                <a16:creationId xmlns:a16="http://schemas.microsoft.com/office/drawing/2014/main" id="{82A9A386-D4B7-56D7-12CE-8827E754215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6122" y="2614812"/>
            <a:ext cx="5804955" cy="326164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7123608-52B0-FD09-8519-429BFDEBC35C}"/>
              </a:ext>
            </a:extLst>
          </p:cNvPr>
          <p:cNvSpPr>
            <a:spLocks noGrp="1"/>
          </p:cNvSpPr>
          <p:nvPr>
            <p:ph idx="1"/>
          </p:nvPr>
        </p:nvSpPr>
        <p:spPr>
          <a:xfrm>
            <a:off x="7190509" y="2357888"/>
            <a:ext cx="4265370" cy="3902635"/>
          </a:xfrm>
        </p:spPr>
        <p:txBody>
          <a:bodyPr anchor="ctr">
            <a:normAutofit/>
          </a:bodyPr>
          <a:lstStyle/>
          <a:p>
            <a:pPr marL="0" indent="0">
              <a:buNone/>
            </a:pPr>
            <a:r>
              <a:rPr lang="en-US" sz="2000" b="1"/>
              <a:t>The Industrial Standard for Files</a:t>
            </a:r>
          </a:p>
          <a:p>
            <a:endParaRPr lang="en-US" sz="2000"/>
          </a:p>
          <a:p>
            <a:r>
              <a:rPr lang="en-US" sz="2000"/>
              <a:t>The with statement creates a "Safe Room.“</a:t>
            </a:r>
          </a:p>
          <a:p>
            <a:r>
              <a:rPr lang="en-US" sz="2000"/>
              <a:t>The file opens when you enter the room.</a:t>
            </a:r>
          </a:p>
          <a:p>
            <a:r>
              <a:rPr lang="en-US" sz="2000"/>
              <a:t>The file automatically closes the exact microsecond you leave the room, even if the code crashes inside!</a:t>
            </a:r>
          </a:p>
        </p:txBody>
      </p:sp>
    </p:spTree>
    <p:extLst>
      <p:ext uri="{BB962C8B-B14F-4D97-AF65-F5344CB8AC3E}">
        <p14:creationId xmlns:p14="http://schemas.microsoft.com/office/powerpoint/2010/main" val="373653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319</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Cambria Math</vt:lpstr>
      <vt:lpstr>Office Theme</vt:lpstr>
      <vt:lpstr>Phase 1, Module 8: Bulletproof Systems</vt:lpstr>
      <vt:lpstr>The Reality of Production (Exceptions)</vt:lpstr>
      <vt:lpstr>The Shield (try, except, finally)</vt:lpstr>
      <vt:lpstr>File I/O (Input / Output)</vt:lpstr>
      <vt:lpstr>The Context Manager (with open)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3</cp:revision>
  <dcterms:created xsi:type="dcterms:W3CDTF">2026-04-20T10:02:42Z</dcterms:created>
  <dcterms:modified xsi:type="dcterms:W3CDTF">2026-04-20T10:15:52Z</dcterms:modified>
</cp:coreProperties>
</file>