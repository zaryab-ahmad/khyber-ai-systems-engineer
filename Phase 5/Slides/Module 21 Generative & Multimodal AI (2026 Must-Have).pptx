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28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284A420-F50C-4C2C-B88E-E6F4EF504B6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93A6D2E-5228-4998-9E24-EFCCA024675E}"/>
              </a:ext>
            </a:extLst>
          </p:cNvPr>
          <p:cNvSpPr/>
          <p:nvPr/>
        </p:nvSpPr>
        <p:spPr>
          <a:xfrm>
            <a:off x="0" y="-2"/>
            <a:ext cx="12188952" cy="3567547"/>
          </a:xfrm>
          <a:prstGeom prst="rect">
            <a:avLst/>
          </a:prstGeom>
          <a:ln>
            <a:noFill/>
          </a:ln>
          <a:effectLst>
            <a:outerShdw blurRad="228600" dist="152400" dir="5460000" sx="95000" sy="95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9D878C-9930-44AF-AE18-FCA0DAE10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802" y="852055"/>
            <a:ext cx="10380572" cy="2581463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2D608-1F8D-47BB-B595-43B7BEACA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802" y="3754582"/>
            <a:ext cx="10380572" cy="2244436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3C1DA-DAC9-422B-9450-54A7E03B3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EE12-F28E-4B03-A404-A8FCAE0F6316}" type="datetime1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9A2B9-3E23-4C08-A5CE-698861210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2E61E-26F7-4369-8F2F-6D3CDF644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ADB48DB-8E25-4F2F-8C02-5B793937255F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2BA7E3-7313-49C8-A245-A85BDEB13EB3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573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2CCA-8D32-44C3-809A-54D0245B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89041-349C-49F8-B155-6F5862873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799" y="2750126"/>
            <a:ext cx="10381205" cy="32617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5E088-72B1-425B-B53B-81B134826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799E-EB8E-4038-8063-81BB57C732D4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80451-8BF9-48B2-8E6A-9E15C833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196E-3A76-4417-BFD8-4400D16E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06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CFB183B-99B9-4420-AB2D-0705685105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6DF62B9-1876-4EEB-929D-B46F98265E34}"/>
              </a:ext>
            </a:extLst>
          </p:cNvPr>
          <p:cNvSpPr/>
          <p:nvPr/>
        </p:nvSpPr>
        <p:spPr>
          <a:xfrm>
            <a:off x="0" y="-2"/>
            <a:ext cx="12192000" cy="3862064"/>
          </a:xfrm>
          <a:prstGeom prst="rect">
            <a:avLst/>
          </a:prstGeom>
          <a:ln>
            <a:noFill/>
          </a:ln>
          <a:effectLst>
            <a:outerShdw blurRad="203200" dist="127000" dir="5460000" sx="96000" sy="96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5F0E4DD-839A-4BD2-B5FA-FF319E87D037}"/>
              </a:ext>
            </a:extLst>
          </p:cNvPr>
          <p:cNvCxnSpPr>
            <a:cxnSpLocks/>
          </p:cNvCxnSpPr>
          <p:nvPr/>
        </p:nvCxnSpPr>
        <p:spPr>
          <a:xfrm>
            <a:off x="11668155" y="852056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692C2FB-E558-4132-AAF5-EFCED0144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2056"/>
            <a:ext cx="10380572" cy="257694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20424-DA4E-467F-AC0A-D44192A54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797" y="4202832"/>
            <a:ext cx="10395116" cy="178926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39F9C-ADA9-4225-9D74-193A8894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217A73C3-B243-44D3-809D-EF8FDFBD85D4}" type="datetime1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57DEC-B96B-4D69-8B62-5156FDA6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F4AC1-9934-43DC-B9AC-322612A74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BDA60A-39CD-41D4-8AE5-0FB7FD78559C}"/>
              </a:ext>
            </a:extLst>
          </p:cNvPr>
          <p:cNvCxnSpPr>
            <a:cxnSpLocks/>
          </p:cNvCxnSpPr>
          <p:nvPr/>
        </p:nvCxnSpPr>
        <p:spPr>
          <a:xfrm>
            <a:off x="11668155" y="852056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2538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CAF84-4A19-4D9A-9B82-46BCBED4F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373DD-26AC-4E69-A17C-538D9C7C6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1800" y="2833255"/>
            <a:ext cx="5045281" cy="3165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30C23-A75F-45DF-BCCF-760C533AC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7092" y="2833255"/>
            <a:ext cx="5045281" cy="3165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C3974-73EC-4F1B-9E92-0E279ABEE5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C9B6D3E3-28E2-4380-A113-67698215C5F8}" type="datetime1">
              <a:rPr lang="en-US" smtClean="0"/>
              <a:t>5/7/2026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0B3F2-3F28-42A3-9701-A6F01F1B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7A2FC-50E7-4972-9F28-E3AC4EF93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96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5F85-77E6-4F6D-9FFA-5D76201B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872836"/>
            <a:ext cx="10380572" cy="14270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C0DAE-58D1-45D9-9FC4-B0864E332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1" y="2713326"/>
            <a:ext cx="5023424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u="none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E63D7-9812-4EA1-A0A2-14D974311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1801" y="3706091"/>
            <a:ext cx="5023424" cy="2334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C5055B-04A0-47D3-90ED-135025F85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4211" y="2713326"/>
            <a:ext cx="5048163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u="none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36E6E-8F64-49E6-B57C-86CF92D168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4211" y="3706091"/>
            <a:ext cx="5048163" cy="2334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FFBEAD-2827-40DA-8338-2D691325F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A9EFCB61-04AD-47C9-BF79-2BD8B9CEC07A}" type="datetime1">
              <a:rPr lang="en-US" smtClean="0"/>
              <a:t>5/7/2026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34B88D-9C6E-4A88-985C-3ED5057A1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0B6A32-2D15-425F-B6A9-146AFB5C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43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81B7C-9BD5-4CF8-BAEB-A6CB78DA2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5F1D3-3353-4FC6-8854-51B0BFFD6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35E0C-D585-492F-8146-7493F4086301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26CE6-6BEB-46DB-BD4B-9B8AE89A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81BCCC-8B3F-40B3-91D5-52E53B2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42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C0FBB6-4CCA-4358-9DD5-CDF2173E63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02559A-671A-4FDE-82C3-1CF8CFCF1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48390-48B5-49AB-B019-A7C8FB8C31F6}" type="datetime1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14275-250D-437E-BAF1-5BB3CDE64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93BDE-2A52-4AA7-B222-0F25570EB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6B771E-DDF7-430C-9462-BA1D3742C84E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612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F9A0B00-F6ED-4C3A-97DC-C2AF9D62EE8B}"/>
              </a:ext>
            </a:extLst>
          </p:cNvPr>
          <p:cNvSpPr/>
          <p:nvPr/>
        </p:nvSpPr>
        <p:spPr>
          <a:xfrm>
            <a:off x="79067" y="0"/>
            <a:ext cx="4998624" cy="6858000"/>
          </a:xfrm>
          <a:prstGeom prst="rect">
            <a:avLst/>
          </a:prstGeom>
          <a:ln>
            <a:noFill/>
          </a:ln>
          <a:effectLst>
            <a:outerShdw blurRad="228600" dist="1143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3" name="Rectangle 122">
            <a:extLst>
              <a:ext uri="{FF2B5EF4-FFF2-40B4-BE49-F238E27FC236}">
                <a16:creationId xmlns:a16="http://schemas.microsoft.com/office/drawing/2014/main" id="{3B025FD9-B9EF-4F5C-B67D-3485253B7A6A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F545CD-A200-4C66-BF9A-9B839D0CE648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  <a:effectLst>
            <a:outerShdw blurRad="228600" dist="1524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10916-EEE9-418C-B24A-EC09A6D22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537" y="872836"/>
            <a:ext cx="4560525" cy="228105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3A0F4-FD98-409E-B41A-5F4352C6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1781" y="872837"/>
            <a:ext cx="4520593" cy="5140036"/>
          </a:xfrm>
        </p:spPr>
        <p:txBody>
          <a:bodyPr>
            <a:normAutofit/>
          </a:bodyPr>
          <a:lstStyle>
            <a:lvl1pPr algn="l">
              <a:defRPr sz="2800"/>
            </a:lvl1pPr>
            <a:lvl2pPr algn="l">
              <a:defRPr sz="2400"/>
            </a:lvl2pPr>
            <a:lvl3pPr algn="l">
              <a:defRPr sz="2000"/>
            </a:lvl3pPr>
            <a:lvl4pPr algn="l">
              <a:defRPr sz="1800"/>
            </a:lvl4pPr>
            <a:lvl5pPr algn="l"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ABF6F-6E7C-4B3F-B205-09361DA58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0537" y="3442854"/>
            <a:ext cx="4560525" cy="257694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198D-8500-4277-AA5D-3C3D8FDDC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962E767E-8A14-4E70-91B9-2101CBC4D7BD}" type="datetime1">
              <a:rPr lang="en-US" smtClean="0"/>
              <a:t>5/7/2026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D219F-027A-4632-9FB0-BD098D56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3792532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0C82B-C7DC-434D-8768-DE9D1176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8CCC603-9605-46C8-9034-8DAE6AC40DD9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BBF1D9-8F8F-45A3-BDB4-952D0FB20A4D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462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CBEB8797-B080-41A6-B14E-8DC7F0F27E4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C6C7272-A552-46B3-992F-F5ADD5AA2443}"/>
              </a:ext>
            </a:extLst>
          </p:cNvPr>
          <p:cNvSpPr/>
          <p:nvPr/>
        </p:nvSpPr>
        <p:spPr>
          <a:xfrm>
            <a:off x="-1" y="0"/>
            <a:ext cx="6087677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dist="1524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F6AD1-1E6C-46AF-8431-6627180F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733" y="858981"/>
            <a:ext cx="4556749" cy="2281052"/>
          </a:xfrm>
        </p:spPr>
        <p:txBody>
          <a:bodyPr anchor="b"/>
          <a:lstStyle>
            <a:lvl1pPr>
              <a:def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8A91F9-760E-4CF4-8A03-FA1482C35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59826" y="865909"/>
            <a:ext cx="4582548" cy="512618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9A9D5-BA6E-4C4A-88A0-5BB86958B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733" y="3429000"/>
            <a:ext cx="4556749" cy="2590800"/>
          </a:xfrm>
        </p:spPr>
        <p:txBody>
          <a:bodyPr/>
          <a:lstStyle>
            <a:lvl1pPr marL="0" indent="0">
              <a:buNone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6899E-70A1-4EFB-87EC-6C4F3BC0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01AF0C4B-5A4A-45CA-ABEC-10F107160D33}" type="datetime1">
              <a:rPr lang="en-US" smtClean="0"/>
              <a:t>5/7/2026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34B05-4931-4BC8-BD43-9E6B944B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ABE5D-7EA4-4D33-B23E-52E640CB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F0DB5EA-94EC-4DB5-B8E5-B454005C1552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99FF82-B951-46E6-AEA7-0993C867FB6D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469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F69F7-12D5-40F0-88F0-33D60AEB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BB511-E79D-41D8-AF91-14A5C803F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05DFA-4DAF-4B30-8032-503081AEA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B8189-0D9C-48A6-9FA3-862227B094CE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4FBF5-16C0-46A0-916A-4910C1B61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EA6-7E48-454C-887A-0EF3356F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49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312BAB-A07B-4FEA-8EB5-A7BD8B24C6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245A432-7E52-48B5-A8BB-13EED592E35A}"/>
              </a:ext>
            </a:extLst>
          </p:cNvPr>
          <p:cNvSpPr/>
          <p:nvPr/>
        </p:nvSpPr>
        <p:spPr>
          <a:xfrm>
            <a:off x="7813964" y="0"/>
            <a:ext cx="4378036" cy="6858000"/>
          </a:xfrm>
          <a:prstGeom prst="rect">
            <a:avLst/>
          </a:prstGeom>
          <a:ln>
            <a:noFill/>
          </a:ln>
          <a:effectLst>
            <a:outerShdw blurRad="254000" dist="152400" dir="10680000" sx="95000" sy="95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6288B6-16BD-4DEE-9187-C78963ED1D8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61537" y="120772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259F7B-ED77-4251-A424-93712C6F57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139544" y="872836"/>
            <a:ext cx="2521527" cy="5119256"/>
          </a:xfrm>
        </p:spPr>
        <p:txBody>
          <a:bodyPr vert="eaVert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95692-9BD0-4EB9-B344-9A6945DB0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6746" y="872836"/>
            <a:ext cx="6634169" cy="51192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28527-7CED-4CF3-A260-649685D2E6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26ADDCAE-6443-42C3-9C19-F95985500186}" type="datetime1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17F65-E517-4B50-B559-FD7D59F3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3581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D40B7-46EE-49D9-BE89-7E101F80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5031BF-2EA5-4128-B6AF-2D0F5A10109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61537" y="120772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986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38E7D36-B1C9-463C-983F-AEA5810A60D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B9A221-B33F-47C2-85FF-2C8F363D797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0E0EF1-7626-4514-9337-271DD661B1E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5F0B1492-9A00-4F80-8771-0BB2C2C4353C}"/>
              </a:ext>
            </a:extLst>
          </p:cNvPr>
          <p:cNvSpPr/>
          <p:nvPr/>
        </p:nvSpPr>
        <p:spPr>
          <a:xfrm>
            <a:off x="0" y="-2"/>
            <a:ext cx="12188952" cy="2544415"/>
          </a:xfrm>
          <a:prstGeom prst="rect">
            <a:avLst/>
          </a:prstGeom>
          <a:ln>
            <a:noFill/>
          </a:ln>
          <a:effectLst>
            <a:outerShdw blurRad="190500" dist="1270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462805-4F8E-44FE-905C-2C3F1A2B3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5021C-0380-49AA-ADA1-A8B473FBF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799" y="2750126"/>
            <a:ext cx="10381205" cy="32617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A2409-F298-40BF-BFAC-65A3E71D29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2481" y="624007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989806E-8E94-473C-AEE7-BE6F15F85533}" type="datetime1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799D8-4DBF-4BB2-8D2B-65592ADC90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2481" y="23619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99666-11C3-48A1-966C-439EBF9D9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9782" y="235881"/>
            <a:ext cx="75674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smtClean="0">
                <a:solidFill>
                  <a:schemeClr val="tx1"/>
                </a:solidFill>
                <a:latin typeface="Bierstadt" panose="020B0504020202020204" pitchFamily="34" charset="0"/>
                <a:ea typeface="+mn-ea"/>
                <a:cs typeface="+mn-cs"/>
              </a:defRPr>
            </a:lvl1pPr>
          </a:lstStyle>
          <a:p>
            <a:fld id="{B4A918BC-4D43-4B42-B3C0-E7EBE25E6AF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FAC7B62-8ACC-41ED-80AB-8D1CDF38B9E4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5FF525-9A83-4625-99D9-B267BDE077E7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7124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5E39F2DB-7862-4382-86B8-7D309E4B3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30B727F-99CD-48A5-9962-6F0C0EA62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570074"/>
          </a:xfrm>
          <a:prstGeom prst="rect">
            <a:avLst/>
          </a:prstGeom>
          <a:ln>
            <a:noFill/>
          </a:ln>
          <a:effectLst>
            <a:outerShdw blurRad="254000" dist="152400" dir="546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732B1E-C84E-76B8-132A-5495C48CE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801" y="947056"/>
            <a:ext cx="10593993" cy="1095095"/>
          </a:xfrm>
        </p:spPr>
        <p:txBody>
          <a:bodyPr>
            <a:normAutofit/>
          </a:bodyPr>
          <a:lstStyle/>
          <a:p>
            <a:r>
              <a:rPr lang="en-US" dirty="0"/>
              <a:t>Diffusion Models: Generating Reality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D54DE4-64C2-44DA-3C0B-263D66E1D78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61801" y="2841171"/>
            <a:ext cx="4570610" cy="345077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Diffusion Process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These models work by adding Gaussian noise to an image (forward) and learning to reverse the process to generate a clear image from scratch.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Stable Diffusion (SD 3.5 / SDXL 2026)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In 2026, these are used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Medical Report Augmentation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(visualizing text descriptions)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Synthetic Agriculture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(creating training images for rare crop diseases in KPK).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Visualization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Essential for "What If" scenarios—visualizing how a crop will look if a specific pest spreads or how a tumor might respond to treatment.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C4AD1A6-4D2B-4BD2-A7D5-B3F27077C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1443083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C29515B-6804-951B-3C37-82B599E53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211" y="3331844"/>
            <a:ext cx="5573943" cy="278697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47883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Slide Background">
            <a:extLst>
              <a:ext uri="{FF2B5EF4-FFF2-40B4-BE49-F238E27FC236}">
                <a16:creationId xmlns:a16="http://schemas.microsoft.com/office/drawing/2014/main" id="{10C92917-A828-4B36-95DE-11CA4F9C2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058" name="Rectangle 2057">
            <a:extLst>
              <a:ext uri="{FF2B5EF4-FFF2-40B4-BE49-F238E27FC236}">
                <a16:creationId xmlns:a16="http://schemas.microsoft.com/office/drawing/2014/main" id="{E335820B-3A29-42C5-AA8D-10ECA43CD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84809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4981A-5138-1835-B1E6-51AFE9757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3"/>
            <a:ext cx="9906799" cy="11615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Multimodal Giants: </a:t>
            </a:r>
            <a:r>
              <a:rPr lang="en-US" sz="3700" dirty="0" err="1"/>
              <a:t>LLaVA</a:t>
            </a:r>
            <a:r>
              <a:rPr lang="en-US" sz="3700" dirty="0"/>
              <a:t>, Florence-2, and Beyond</a:t>
            </a:r>
          </a:p>
        </p:txBody>
      </p:sp>
      <p:pic>
        <p:nvPicPr>
          <p:cNvPr id="2051" name="Picture 3" descr="Florence-VL: Enhancing Vision-Language Models with Generative Vision  Encoder and Depth-Breadth Fusion">
            <a:extLst>
              <a:ext uri="{FF2B5EF4-FFF2-40B4-BE49-F238E27FC236}">
                <a16:creationId xmlns:a16="http://schemas.microsoft.com/office/drawing/2014/main" id="{9C14DEF5-6D63-51E5-1D0E-A50A53E29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9062" y="2571501"/>
            <a:ext cx="4539757" cy="3427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132AA02-570C-66F2-7514-44325C67FC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49081" y="2571502"/>
            <a:ext cx="4119258" cy="366857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LLaVA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(Large Language-and-Vision Assistant)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Connects a vision encoder (like CLIP successors) with a powerful LLM to enable "conversational sight."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Florence-2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Microsoft’s sequence-to-sequence foundation model that excels at high-precision tasks like segmentation and OCR in one unified framework.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Visual Agents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Models like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Qwen2-VL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can now act as agents, "seeing" a computer screen and clicking buttons to complete tasks autonomously. </a:t>
            </a:r>
          </a:p>
        </p:txBody>
      </p:sp>
      <p:cxnSp>
        <p:nvCxnSpPr>
          <p:cNvPr id="2060" name="Straight Connector 2059">
            <a:extLst>
              <a:ext uri="{FF2B5EF4-FFF2-40B4-BE49-F238E27FC236}">
                <a16:creationId xmlns:a16="http://schemas.microsoft.com/office/drawing/2014/main" id="{E58B1629-F209-47B0-BA59-6BD937DBB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139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4A5A50-9727-3D60-5D27-6C31B6F7B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281366"/>
            <a:ext cx="4230482" cy="2010284"/>
          </a:xfrm>
        </p:spPr>
        <p:txBody>
          <a:bodyPr anchor="b">
            <a:normAutofit/>
          </a:bodyPr>
          <a:lstStyle/>
          <a:p>
            <a:r>
              <a:rPr lang="en-US" sz="4100" dirty="0"/>
              <a:t>Beyond Accuracy: RAGAS &amp; LLM-as-Judge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B6AA14DD-E536-81B9-5343-278A763582D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761803" y="2291650"/>
                <a:ext cx="4230482" cy="3825687"/>
              </a:xfrm>
              <a:prstGeom prst="rect">
                <a:avLst/>
              </a:prstGeom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lIns="91440" tIns="45720" rIns="91440" bIns="45720" numCol="1" anchor="ctr" anchorCtr="0" compatLnSpc="1">
                <a:prstTxWarp prst="textNoShape">
                  <a:avLst/>
                </a:prstTxWarp>
                <a:normAutofit/>
              </a:bodyPr>
              <a:lstStyle/>
              <a:p>
                <a:pPr marL="285750" marR="0" lvl="0" indent="-28575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RAGAS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: The 2026 gold standard for RAG evaluation. It measures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Faithfulness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 (is the answer grounded in context?),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Answer Relevancy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, and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Context Precision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. </a:t>
                </a:r>
              </a:p>
              <a:p>
                <a:pPr marL="285750" marR="0" lvl="0" indent="-28575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LLM-as-Judge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: Using a larger "Reasoning Model" (like GPT-5 or DeepSeek-V3) to grade the performance of smaller models. </a:t>
                </a:r>
              </a:p>
              <a:p>
                <a:pPr marL="285750" marR="0" lvl="0" indent="-28575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Faithfulness Metric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: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cap="none" normalizeH="0" baseline="0" smtClean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𝐹𝑎𝑖𝑡h𝑓𝑢𝑙𝑛𝑒𝑠𝑠</m:t>
                    </m:r>
                    <m:r>
                      <a:rPr kumimoji="0" lang="en-US" sz="1800" b="0" i="1" u="none" strike="noStrike" cap="none" normalizeH="0" baseline="0" smtClean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cap="none" normalizeH="0" baseline="0" smtClean="0">
                            <a:ln>
                              <a:noFill/>
                            </a:ln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effectLst/>
                                <a:latin typeface="Cambria Math" panose="02040503050406030204" pitchFamily="18" charset="0"/>
                              </a:rPr>
                              <m:t>𝐶𝑙𝑎𝑖𝑚𝑠</m:t>
                            </m:r>
                            <m: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effectLst/>
                                <a:latin typeface="Cambria Math" panose="02040503050406030204" pitchFamily="18" charset="0"/>
                              </a:rPr>
                              <m:t> </m:t>
                            </m:r>
                            <m: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effectLst/>
                                <a:latin typeface="Cambria Math" panose="02040503050406030204" pitchFamily="18" charset="0"/>
                              </a:rPr>
                              <m:t>𝑖𝑛</m:t>
                            </m:r>
                            <m: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effectLst/>
                                <a:latin typeface="Cambria Math" panose="02040503050406030204" pitchFamily="18" charset="0"/>
                              </a:rPr>
                              <m:t> </m:t>
                            </m:r>
                            <m: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effectLst/>
                                <a:latin typeface="Cambria Math" panose="02040503050406030204" pitchFamily="18" charset="0"/>
                              </a:rPr>
                              <m:t>𝐴𝑛𝑠𝑤𝑒𝑟</m:t>
                            </m:r>
                            <m: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effectLst/>
                                <a:latin typeface="Cambria Math" panose="02040503050406030204" pitchFamily="18" charset="0"/>
                              </a:rPr>
                              <m:t> </m:t>
                            </m:r>
                            <m: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effectLst/>
                                <a:latin typeface="Cambria Math" panose="02040503050406030204" pitchFamily="18" charset="0"/>
                              </a:rPr>
                              <m:t>𝑠𝑢𝑝𝑝𝑜𝑟𝑡𝑒𝑑</m:t>
                            </m:r>
                            <m: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effectLst/>
                                <a:latin typeface="Cambria Math" panose="02040503050406030204" pitchFamily="18" charset="0"/>
                              </a:rPr>
                              <m:t> </m:t>
                            </m:r>
                            <m: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effectLst/>
                                <a:latin typeface="Cambria Math" panose="02040503050406030204" pitchFamily="18" charset="0"/>
                              </a:rPr>
                              <m:t>𝑏𝑦</m:t>
                            </m:r>
                            <m: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effectLst/>
                                <a:latin typeface="Cambria Math" panose="02040503050406030204" pitchFamily="18" charset="0"/>
                              </a:rPr>
                              <m:t> </m:t>
                            </m:r>
                            <m: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effectLst/>
                                <a:latin typeface="Cambria Math" panose="02040503050406030204" pitchFamily="18" charset="0"/>
                              </a:rPr>
                              <m:t>𝐶𝑜𝑛𝑡𝑒𝑥𝑡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effectLst/>
                                <a:latin typeface="Cambria Math" panose="02040503050406030204" pitchFamily="18" charset="0"/>
                              </a:rPr>
                              <m:t>𝑇𝑜𝑡𝑎𝑙</m:t>
                            </m:r>
                            <m: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effectLst/>
                                <a:latin typeface="Cambria Math" panose="02040503050406030204" pitchFamily="18" charset="0"/>
                              </a:rPr>
                              <m:t> </m:t>
                            </m:r>
                            <m: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effectLst/>
                                <a:latin typeface="Cambria Math" panose="02040503050406030204" pitchFamily="18" charset="0"/>
                              </a:rPr>
                              <m:t>𝐶𝑙𝑎𝑖𝑚𝑠</m:t>
                            </m:r>
                            <m: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effectLst/>
                                <a:latin typeface="Cambria Math" panose="02040503050406030204" pitchFamily="18" charset="0"/>
                              </a:rPr>
                              <m:t> </m:t>
                            </m:r>
                            <m: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effectLst/>
                                <a:latin typeface="Cambria Math" panose="02040503050406030204" pitchFamily="18" charset="0"/>
                              </a:rPr>
                              <m:t>𝑖𝑛</m:t>
                            </m:r>
                            <m: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effectLst/>
                                <a:latin typeface="Cambria Math" panose="02040503050406030204" pitchFamily="18" charset="0"/>
                              </a:rPr>
                              <m:t> </m:t>
                            </m:r>
                            <m:r>
                              <a:rPr kumimoji="0" lang="en-US" sz="1800" b="0" i="1" u="none" strike="noStrike" cap="none" normalizeH="0" baseline="0" smtClean="0">
                                <a:ln>
                                  <a:noFill/>
                                </a:ln>
                                <a:effectLst/>
                                <a:latin typeface="Cambria Math" panose="02040503050406030204" pitchFamily="18" charset="0"/>
                              </a:rPr>
                              <m:t>𝐴𝑛𝑠𝑤𝑒𝑟</m:t>
                            </m:r>
                          </m:e>
                        </m:d>
                      </m:den>
                    </m:f>
                  </m:oMath>
                </a14:m>
                <a:endParaRPr kumimoji="0" lang="en-US" altLang="en-US" sz="1800" b="0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B6AA14DD-E536-81B9-5343-278A763582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761803" y="2291650"/>
                <a:ext cx="4230482" cy="3825687"/>
              </a:xfrm>
              <a:prstGeom prst="rect">
                <a:avLst/>
              </a:prstGeom>
              <a:blipFill>
                <a:blip r:embed="rId2"/>
                <a:stretch>
                  <a:fillRect l="-1009" r="-1441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32004" y="0"/>
            <a:ext cx="6559995" cy="6858000"/>
          </a:xfrm>
          <a:prstGeom prst="rect">
            <a:avLst/>
          </a:prstGeom>
          <a:ln>
            <a:noFill/>
          </a:ln>
          <a:effectLst>
            <a:outerShdw blurRad="381000" dist="317500" dir="8520000" sx="95000" sy="95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A6CBF0B-3C2A-B895-306F-789C05E732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72745" y="1662426"/>
            <a:ext cx="7238998" cy="3533148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58B1629-F209-47B0-BA59-6BD937DBB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882685"/>
      </p:ext>
    </p:extLst>
  </p:cSld>
  <p:clrMapOvr>
    <a:masterClrMapping/>
  </p:clrMapOvr>
</p:sld>
</file>

<file path=ppt/theme/theme1.xml><?xml version="1.0" encoding="utf-8"?>
<a:theme xmlns:a="http://schemas.openxmlformats.org/drawingml/2006/main" name="BevelVTI">
  <a:themeElements>
    <a:clrScheme name="Custom 148">
      <a:dk1>
        <a:srgbClr val="262626"/>
      </a:dk1>
      <a:lt1>
        <a:sysClr val="window" lastClr="FFFFFF"/>
      </a:lt1>
      <a:dk2>
        <a:srgbClr val="2F333D"/>
      </a:dk2>
      <a:lt2>
        <a:srgbClr val="ECF0F0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404040"/>
      </a:accent6>
      <a:hlink>
        <a:srgbClr val="3E8FF1"/>
      </a:hlink>
      <a:folHlink>
        <a:srgbClr val="939393"/>
      </a:folHlink>
    </a:clrScheme>
    <a:fontScheme name="Custom 53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velVTI" id="{C9E5F598-602B-46C1-AA16-073CEB959654}" vid="{2AE1FD39-65AD-4D34-93E9-C7019D0ECB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249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Bierstadt</vt:lpstr>
      <vt:lpstr>Cambria Math</vt:lpstr>
      <vt:lpstr>BevelVTI</vt:lpstr>
      <vt:lpstr>Diffusion Models: Generating Reality</vt:lpstr>
      <vt:lpstr>Multimodal Giants: LLaVA, Florence-2, and Beyond</vt:lpstr>
      <vt:lpstr>Beyond Accuracy: RAGAS &amp; LLM-as-Judge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4</cp:revision>
  <dcterms:created xsi:type="dcterms:W3CDTF">2026-05-07T11:32:55Z</dcterms:created>
  <dcterms:modified xsi:type="dcterms:W3CDTF">2026-05-07T11:45:53Z</dcterms:modified>
</cp:coreProperties>
</file>