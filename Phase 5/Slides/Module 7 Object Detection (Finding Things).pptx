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9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158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990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31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99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37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503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56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1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25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9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7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Freeform: Shape 103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34" name="Rectangle 1033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D5C63-CF5B-6BFA-696C-8A95BEE9A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53912" y="978408"/>
            <a:ext cx="5513832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Localization: Predicting Where the Objects Are</a:t>
            </a:r>
          </a:p>
        </p:txBody>
      </p:sp>
      <p:pic>
        <p:nvPicPr>
          <p:cNvPr id="1027" name="Picture 3" descr="Object Localization. Object localization is the process of… | by Srikanth  Soma | Medium">
            <a:extLst>
              <a:ext uri="{FF2B5EF4-FFF2-40B4-BE49-F238E27FC236}">
                <a16:creationId xmlns:a16="http://schemas.microsoft.com/office/drawing/2014/main" id="{C4BE7324-A567-A9FE-0F75-63C7C28FD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2379287"/>
            <a:ext cx="4959823" cy="2095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6" name="Freeform: Shape 1035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63F7C2-4531-73E1-F576-61066ECFB76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53912" y="2578608"/>
            <a:ext cx="551383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Unlike classification (which says "what" is in the image), localization identifies "where" the object is. </a:t>
            </a: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We represent the location of an object using a </a:t>
            </a: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Bounding Box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. </a:t>
            </a: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Coordinates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: Standard bounding boxes use a 4-value vector: [x, y, w, h]. </a:t>
            </a: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x, y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: The center (or top-left) coordinates of the box. </a:t>
            </a:r>
          </a:p>
          <a:p>
            <a:pPr marL="285750" marR="0" lvl="0" indent="-228600" fontAlgn="base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</a:rPr>
              <a:t>w, 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</a:rPr>
              <a:t>: The width and height of the box relative to the image size. </a:t>
            </a:r>
          </a:p>
        </p:txBody>
      </p:sp>
    </p:spTree>
    <p:extLst>
      <p:ext uri="{BB962C8B-B14F-4D97-AF65-F5344CB8AC3E}">
        <p14:creationId xmlns:p14="http://schemas.microsoft.com/office/powerpoint/2010/main" val="4187181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7CB7E6-117D-EDE8-067D-EEF9725AE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>
            <a:normAutofit/>
          </a:bodyPr>
          <a:lstStyle/>
          <a:p>
            <a:r>
              <a:rPr lang="en-US" dirty="0"/>
              <a:t>YOLO: Real-Time Detection Logic</a:t>
            </a:r>
          </a:p>
        </p:txBody>
      </p:sp>
      <p:pic>
        <p:nvPicPr>
          <p:cNvPr id="2051" name="Picture 3" descr="Real-Time Object Detection Using YOLO - iMerit">
            <a:extLst>
              <a:ext uri="{FF2B5EF4-FFF2-40B4-BE49-F238E27FC236}">
                <a16:creationId xmlns:a16="http://schemas.microsoft.com/office/drawing/2014/main" id="{CE4836D3-5D4D-9800-B27D-AEF3735D8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67" y="1331525"/>
            <a:ext cx="4959823" cy="4191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8" name="Freeform: Shape 2057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9B2ECA-47EE-3D23-A94A-91A1405CD9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53912" y="2578608"/>
            <a:ext cx="5513832" cy="37673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YOLO is a single-stage detector that views the entire image once to predict both boxes and classes.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It is designed for high-speed, real-time performance on video streams.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Evolution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The architecture has evolved from YOLOv8 to the latest YOLOv11 for improved accuracy and efficiency.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model divides the image into a grid and predicts probabilities for each grid cell. </a:t>
            </a:r>
          </a:p>
        </p:txBody>
      </p:sp>
    </p:spTree>
    <p:extLst>
      <p:ext uri="{BB962C8B-B14F-4D97-AF65-F5344CB8AC3E}">
        <p14:creationId xmlns:p14="http://schemas.microsoft.com/office/powerpoint/2010/main" val="1048563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BF447FC5-81F5-498F-B253-3D2BBDD2E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E3227-0A20-A307-48D2-612B81206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368296"/>
          </a:xfrm>
        </p:spPr>
        <p:txBody>
          <a:bodyPr>
            <a:normAutofit/>
          </a:bodyPr>
          <a:lstStyle/>
          <a:p>
            <a:r>
              <a:rPr lang="en-US" dirty="0"/>
              <a:t>Evaluating Performance: </a:t>
            </a:r>
            <a:r>
              <a:rPr lang="en-US" dirty="0" err="1"/>
              <a:t>IoU</a:t>
            </a:r>
            <a:r>
              <a:rPr lang="en-US" dirty="0"/>
              <a:t> and </a:t>
            </a:r>
            <a:r>
              <a:rPr lang="en-US" dirty="0" err="1"/>
              <a:t>mAP</a:t>
            </a:r>
            <a:endParaRPr lang="en-US" dirty="0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A183D605-F0BC-4923-9BAD-8F2204285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Performance evaluation. (a) Calculation of IoU and (b) poor IoU (0.40),...  | Download Scientific Diagram">
            <a:extLst>
              <a:ext uri="{FF2B5EF4-FFF2-40B4-BE49-F238E27FC236}">
                <a16:creationId xmlns:a16="http://schemas.microsoft.com/office/drawing/2014/main" id="{9F5E3D92-FD1B-D214-CD5C-95A3F2D2DA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35325" y="508091"/>
            <a:ext cx="2265639" cy="2797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Mean Average Precision (mAP) in Object Detection">
            <a:extLst>
              <a:ext uri="{FF2B5EF4-FFF2-40B4-BE49-F238E27FC236}">
                <a16:creationId xmlns:a16="http://schemas.microsoft.com/office/drawing/2014/main" id="{200D6A23-E845-9776-BA1D-354DD9033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7870" y="3621951"/>
            <a:ext cx="5011957" cy="2718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7" name="Rectangle 3086">
            <a:extLst>
              <a:ext uri="{FF2B5EF4-FFF2-40B4-BE49-F238E27FC236}">
                <a16:creationId xmlns:a16="http://schemas.microsoft.com/office/drawing/2014/main" id="{C1A59FC6-29E7-4618-829A-36CC011E5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3616882"/>
            <a:ext cx="502118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53D2AE20-4619-96E8-8EC1-3A653E120B0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665976" y="3776472"/>
                <a:ext cx="4983480" cy="2569464"/>
              </a:xfrm>
              <a:prstGeom prst="rect">
                <a:avLst/>
              </a:prstGeom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lIns="91440" tIns="0" rIns="91440" bIns="45720" numCol="1" anchorCtr="0" compatLnSpc="1">
                <a:prstTxWarp prst="textNoShape">
                  <a:avLst/>
                </a:prstTxWarp>
                <a:normAutofit/>
              </a:bodyPr>
              <a:lstStyle/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Intersection over Union (</a:t>
                </a:r>
                <a:r>
                  <a:rPr kumimoji="0" lang="en-US" altLang="en-US" b="1" i="0" u="none" strike="noStrike" cap="none" normalizeH="0" baseline="0" dirty="0" err="1">
                    <a:ln>
                      <a:noFill/>
                    </a:ln>
                    <a:effectLst/>
                    <a:latin typeface="Google Sans Text"/>
                  </a:rPr>
                  <a:t>IoU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)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: Measures the overlap between the predicted box and the actual "ground truth" box. 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Formula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:</a:t>
                </a:r>
                <a14:m>
                  <m:oMath xmlns:m="http://schemas.openxmlformats.org/officeDocument/2006/math">
                    <m:r>
                      <a:rPr kumimoji="0" lang="en-US" b="0" i="1" u="none" strike="noStrike" cap="none" normalizeH="0" baseline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𝐼𝑜𝑈</m:t>
                    </m:r>
                    <m:r>
                      <a:rPr kumimoji="0" lang="en-US" b="0" i="1" u="none" strike="noStrike" cap="none" normalizeH="0" baseline="0" smtClean="0">
                        <a:ln>
                          <a:noFill/>
                        </a:ln>
                        <a:effectLst/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0" lang="en-US" b="0" i="1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0" lang="en-US" b="0" i="0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Area</m:t>
                        </m:r>
                        <m:r>
                          <m:rPr>
                            <m:nor/>
                          </m:rPr>
                          <a:rPr kumimoji="0" lang="en-US" b="0" i="0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b="0" i="0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kumimoji="0" lang="en-US" b="0" i="0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b="0" i="0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Overlap</m:t>
                        </m:r>
                      </m:num>
                      <m:den>
                        <m:r>
                          <m:rPr>
                            <m:nor/>
                          </m:rPr>
                          <a:rPr kumimoji="0" lang="en-US" b="0" i="0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Area</m:t>
                        </m:r>
                        <m:r>
                          <m:rPr>
                            <m:nor/>
                          </m:rPr>
                          <a:rPr kumimoji="0" lang="en-US" b="0" i="0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b="0" i="0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m:rPr>
                            <m:nor/>
                          </m:rPr>
                          <a:rPr kumimoji="0" lang="en-US" b="0" i="0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kumimoji="0" lang="en-US" b="0" i="0" u="none" strike="noStrike" cap="none" normalizeH="0" baseline="0" smtClean="0">
                            <a:ln>
                              <a:noFill/>
                            </a:ln>
                            <a:effectLst/>
                            <a:latin typeface="Cambria Math" panose="02040503050406030204" pitchFamily="18" charset="0"/>
                          </a:rPr>
                          <m:t>Union</m:t>
                        </m:r>
                      </m:den>
                    </m:f>
                  </m:oMath>
                </a14:m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. A score of 1.0 is a perfect match. </a:t>
                </a:r>
              </a:p>
              <a:p>
                <a:pPr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</a:pP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Mean Average Precision (</a:t>
                </a:r>
                <a:r>
                  <a:rPr kumimoji="0" lang="en-US" altLang="en-US" b="1" i="0" u="none" strike="noStrike" cap="none" normalizeH="0" baseline="0" dirty="0" err="1">
                    <a:ln>
                      <a:noFill/>
                    </a:ln>
                    <a:effectLst/>
                    <a:latin typeface="Google Sans Text"/>
                  </a:rPr>
                  <a:t>mAP</a:t>
                </a:r>
                <a:r>
                  <a:rPr kumimoji="0" lang="en-US" altLang="en-US" b="1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)</a:t>
                </a:r>
                <a:r>
                  <a:rPr kumimoji="0" lang="en-US" altLang="en-US" b="0" i="0" u="none" strike="noStrike" cap="none" normalizeH="0" baseline="0" dirty="0">
                    <a:ln>
                      <a:noFill/>
                    </a:ln>
                    <a:effectLst/>
                    <a:latin typeface="Google Sans Text"/>
                  </a:rPr>
                  <a:t>: The primary metric for object detection that summarizes precision and recall across all categories. 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4" name="Rectangle 1">
                <a:extLst>
                  <a:ext uri="{FF2B5EF4-FFF2-40B4-BE49-F238E27FC236}">
                    <a16:creationId xmlns:a16="http://schemas.microsoft.com/office/drawing/2014/main" id="{53D2AE20-4619-96E8-8EC1-3A653E120B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665976" y="3776472"/>
                <a:ext cx="4983480" cy="2569464"/>
              </a:xfrm>
              <a:prstGeom prst="rect">
                <a:avLst/>
              </a:prstGeom>
              <a:blipFill>
                <a:blip r:embed="rId4"/>
                <a:stretch>
                  <a:fillRect l="-857" t="-3088" b="-3800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7344230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225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Bierstadt</vt:lpstr>
      <vt:lpstr>Cambria Math</vt:lpstr>
      <vt:lpstr>Google Sans Text</vt:lpstr>
      <vt:lpstr>GestaltVTI</vt:lpstr>
      <vt:lpstr>Localization: Predicting Where the Objects Are</vt:lpstr>
      <vt:lpstr>YOLO: Real-Time Detection Logic</vt:lpstr>
      <vt:lpstr>Evaluating Performance: IoU and 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2026-05-06T09:36:42Z</dcterms:created>
  <dcterms:modified xsi:type="dcterms:W3CDTF">2026-05-06T09:45:51Z</dcterms:modified>
</cp:coreProperties>
</file>