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98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86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2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81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1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639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77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39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17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131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41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59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7613DE-70F2-CAB2-C464-0B18246F0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1000768"/>
            <a:ext cx="3566452" cy="2985582"/>
          </a:xfrm>
        </p:spPr>
        <p:txBody>
          <a:bodyPr anchor="b">
            <a:normAutofit/>
          </a:bodyPr>
          <a:lstStyle/>
          <a:p>
            <a:r>
              <a:rPr lang="en-US" sz="4400"/>
              <a:t>Module 1: The Artificial Neuron (Perceptron)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BB86CD-ECBB-1C0B-F836-C96FF2654E7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7868" y="4214945"/>
            <a:ext cx="3566453" cy="174187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Welcome to Phase 5: Deep Learning, Computer Vision &amp; LLMs!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Part 1 focuses on The Foundations of Artificial Neural Networks (ANN). </a:t>
            </a:r>
          </a:p>
        </p:txBody>
      </p:sp>
      <p:sp>
        <p:nvSpPr>
          <p:cNvPr id="1034" name="Freeform: Shape 1033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7" name="Picture 3" descr="Deep Learning (DL) - Questions and Answers ​in MRI">
            <a:extLst>
              <a:ext uri="{FF2B5EF4-FFF2-40B4-BE49-F238E27FC236}">
                <a16:creationId xmlns:a16="http://schemas.microsoft.com/office/drawing/2014/main" id="{ACEE1E21-0522-16A6-B2FB-6A805B09E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13046" y="1000768"/>
            <a:ext cx="4782585" cy="4956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6" name="Freeform: Shape 1035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56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D9E29-4A1E-0481-7869-E366D1A87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The Perceptron: The Core Building Block</a:t>
            </a:r>
          </a:p>
        </p:txBody>
      </p:sp>
      <p:sp>
        <p:nvSpPr>
          <p:cNvPr id="2058" name="Freeform: Shape 2057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1" name="Picture 3" descr="Perceptron: The Essential Building Block of Neural Networks Explained | by  Prayush Shrestha | Medium">
            <a:extLst>
              <a:ext uri="{FF2B5EF4-FFF2-40B4-BE49-F238E27FC236}">
                <a16:creationId xmlns:a16="http://schemas.microsoft.com/office/drawing/2014/main" id="{B38DF55E-B5EF-8BE1-548B-5D15A2BB2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8" y="2489010"/>
            <a:ext cx="5639091" cy="3693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0D10DA6-2886-78F1-E613-1A70C25F22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47104" y="2304288"/>
            <a:ext cx="5129784" cy="40507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Perceptron is the foundational unit of deep learning.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It requires understanding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Weights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which represent the "importance" of incoming data.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It utilizes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Biases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which act as "thresholds" for the neuron to activate.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neuron processes these inputs using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summation math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68511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4" name="Rectangle 3083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29031CF-93AE-F70B-FFCE-01D35CFC96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21208" y="978407"/>
            <a:ext cx="6300216" cy="22546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Activation Functions: Introducing Non-Linearity</a:t>
            </a:r>
          </a:p>
        </p:txBody>
      </p:sp>
      <p:sp>
        <p:nvSpPr>
          <p:cNvPr id="3086" name="Rectangle 3085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8" name="Rectangle 3087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3079" name="Picture 7" descr="From Linear to Non-Linear: The Role of Activation Functions | by Mao Jia |  GoPenAI">
            <a:extLst>
              <a:ext uri="{FF2B5EF4-FFF2-40B4-BE49-F238E27FC236}">
                <a16:creationId xmlns:a16="http://schemas.microsoft.com/office/drawing/2014/main" id="{B023690D-4E5F-9FC2-C158-B8BB3FC59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6" y="4091354"/>
            <a:ext cx="6710247" cy="2408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5">
                <a:extLst>
                  <a:ext uri="{FF2B5EF4-FFF2-40B4-BE49-F238E27FC236}">
                    <a16:creationId xmlns:a16="http://schemas.microsoft.com/office/drawing/2014/main" id="{EA16B8F8-B72D-65C3-868C-B76DCBD2666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7507224" y="1088136"/>
                <a:ext cx="4160520" cy="5257800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0" rIns="91440" bIns="45720" numCol="1" anchorCtr="0" compatLnSpc="1">
                <a:prstTxWarp prst="textNoShape">
                  <a:avLst/>
                </a:prstTxWarp>
                <a:norm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ts val="600"/>
                  </a:spcAft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Activation functions are critical for introducing non-linearity into the network, allowing it to learn complex patterns. 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ts val="600"/>
                  </a:spcAft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Traditional networks often use the </a:t>
                </a:r>
                <a14:m>
                  <m:oMath xmlns:m="http://schemas.openxmlformats.org/officeDocument/2006/math"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𝑆𝑖𝑔𝑚𝑜𝑖𝑑</m:t>
                    </m:r>
                    <m:r>
                      <a:rPr kumimoji="0" lang="en-US" altLang="en-US" sz="2400" b="0" i="1" u="none" strike="noStrike" cap="none" normalizeH="0" baseline="0" dirty="0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and </a:t>
                </a:r>
                <a:r>
                  <a:rPr lang="en-US" altLang="en-US" sz="2400" i="1" dirty="0">
                    <a:latin typeface="Cambria Math" panose="02040503050406030204" pitchFamily="18" charset="0"/>
                  </a:rPr>
                  <a:t>Tanh 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functions. 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ts val="600"/>
                  </a:spcAft>
                </a:pP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Modern deep learning primarily relies on </a:t>
                </a:r>
                <a:r>
                  <a:rPr lang="en-US" altLang="en-US" sz="2400" i="1" dirty="0" err="1">
                    <a:latin typeface="Cambria Math" panose="02040503050406030204" pitchFamily="18" charset="0"/>
                  </a:rPr>
                  <a:t>ReLU</a:t>
                </a:r>
                <a:r>
                  <a:rPr lang="en-US" alt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and </a:t>
                </a:r>
                <a:r>
                  <a:rPr lang="en-US" altLang="en-US" sz="2400" i="1" dirty="0">
                    <a:latin typeface="Cambria Math" panose="02040503050406030204" pitchFamily="18" charset="0"/>
                  </a:rPr>
                  <a:t>Leaky </a:t>
                </a:r>
                <a:r>
                  <a:rPr lang="en-US" altLang="en-US" sz="2400" i="1" dirty="0" err="1">
                    <a:latin typeface="Cambria Math" panose="02040503050406030204" pitchFamily="18" charset="0"/>
                  </a:rPr>
                  <a:t>ReLU</a:t>
                </a:r>
                <a:r>
                  <a:rPr lang="en-US" alt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kumimoji="0" lang="en-US" altLang="en-US" sz="24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functions.</a:t>
                </a:r>
                <a:endParaRPr kumimoji="0" lang="en-US" altLang="en-US" sz="24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Rectangle 5">
                <a:extLst>
                  <a:ext uri="{FF2B5EF4-FFF2-40B4-BE49-F238E27FC236}">
                    <a16:creationId xmlns:a16="http://schemas.microsoft.com/office/drawing/2014/main" id="{EA16B8F8-B72D-65C3-868C-B76DCBD266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7507224" y="1088136"/>
                <a:ext cx="4160520" cy="5257800"/>
              </a:xfrm>
              <a:prstGeom prst="rect">
                <a:avLst/>
              </a:prstGeom>
              <a:blipFill>
                <a:blip r:embed="rId3"/>
                <a:stretch>
                  <a:fillRect l="-2053" t="-1508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4126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4103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C8D33A-E17E-A00D-BE5F-111DBF909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sz="4100"/>
              <a:t>The </a:t>
            </a:r>
            <a:r>
              <a:rPr lang="en-US" sz="4100" err="1"/>
              <a:t>Softmax</a:t>
            </a:r>
            <a:r>
              <a:rPr lang="en-US" sz="4100"/>
              <a:t> Function: Multi-Class Decisions</a:t>
            </a:r>
          </a:p>
        </p:txBody>
      </p:sp>
      <p:sp>
        <p:nvSpPr>
          <p:cNvPr id="4106" name="Freeform: Shape 4105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099" name="Picture 3" descr="Neural networks: Multi-class classification | Machine Learning | Google for  Developers">
            <a:extLst>
              <a:ext uri="{FF2B5EF4-FFF2-40B4-BE49-F238E27FC236}">
                <a16:creationId xmlns:a16="http://schemas.microsoft.com/office/drawing/2014/main" id="{70101372-8B51-EC90-D6F3-3D1D0BFB7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8" y="3067016"/>
            <a:ext cx="5639091" cy="253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653DA7D-5EE0-5866-B84E-625AA508C7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47104" y="2304288"/>
            <a:ext cx="5129784" cy="40507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Softmax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function is typically applied at the very end of a neural network.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Its primary job is converting raw scores (logits) into probabilities.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makes it essential for multi-class decisions (e.g., deciding if an image is a cat, dog, or bird).</a:t>
            </a:r>
          </a:p>
        </p:txBody>
      </p:sp>
    </p:spTree>
    <p:extLst>
      <p:ext uri="{BB962C8B-B14F-4D97-AF65-F5344CB8AC3E}">
        <p14:creationId xmlns:p14="http://schemas.microsoft.com/office/powerpoint/2010/main" val="354261819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196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Bierstadt</vt:lpstr>
      <vt:lpstr>Cambria Math</vt:lpstr>
      <vt:lpstr>Google Sans Text</vt:lpstr>
      <vt:lpstr>GestaltVTI</vt:lpstr>
      <vt:lpstr>Module 1: The Artificial Neuron (Perceptron)</vt:lpstr>
      <vt:lpstr>The Perceptron: The Core Building Block</vt:lpstr>
      <vt:lpstr>Activation Functions: Introducing Non-Linearity</vt:lpstr>
      <vt:lpstr>The Softmax Function: Multi-Class Decisions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2026-05-06T05:30:24Z</dcterms:created>
  <dcterms:modified xsi:type="dcterms:W3CDTF">2026-05-06T05:42:35Z</dcterms:modified>
</cp:coreProperties>
</file>