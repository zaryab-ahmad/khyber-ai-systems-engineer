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7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0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3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6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5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2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0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0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5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2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4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B3032-1AD4-6410-D7DC-78A2995C1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3465681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chemeClr val="tx2"/>
                </a:solidFill>
              </a:rPr>
              <a:t>Evolution of CNNs: From VGG to Inception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994167-F390-D991-59DF-4683DA9B46B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70" y="3527904"/>
            <a:ext cx="3465681" cy="25888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As networks grew deeper, researchers developed "backbones" to act as efficient feature extractors.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VGG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Popularized the use of small 3 x 3 filters stacked deeply to increase the receptive field.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Inception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Introduced multi-scale processing by using parallel filters of different sizes within the same layer.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An Extensive Study of Convolutional Neural Networks: Applications in  Computer Vision for Improved Robotics Perceptions">
            <a:extLst>
              <a:ext uri="{FF2B5EF4-FFF2-40B4-BE49-F238E27FC236}">
                <a16:creationId xmlns:a16="http://schemas.microsoft.com/office/drawing/2014/main" id="{D920C006-0CED-32CE-8DB7-BB6565F55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2366" y="2000065"/>
            <a:ext cx="7438426" cy="295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60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CE6BC-BDF8-9C55-615D-8BC89186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err="1"/>
              <a:t>ResNet</a:t>
            </a:r>
            <a:r>
              <a:rPr lang="en-US" sz="3100"/>
              <a:t>: Solving the Vanishing Gradient Problem</a:t>
            </a:r>
          </a:p>
        </p:txBody>
      </p:sp>
      <p:pic>
        <p:nvPicPr>
          <p:cNvPr id="2051" name="Picture 3" descr="ResNet: Solving Vanishing Gradient in Deep Networks | Springer Nature Link">
            <a:extLst>
              <a:ext uri="{FF2B5EF4-FFF2-40B4-BE49-F238E27FC236}">
                <a16:creationId xmlns:a16="http://schemas.microsoft.com/office/drawing/2014/main" id="{2202DDFC-C40D-C921-C70C-B6129DEF6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436920"/>
            <a:ext cx="4959823" cy="398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09A89D-7651-001A-09FE-038171190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Extremely deep networks often suffer from signal loss, where gradients become too small to update weights.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Skip Connections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passes the input of a layer directly to the output of a later layer (Identity Mapping).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allows the model to learn "residuals" and makes it possible to train networks with hundreds or thousands of layers. </a:t>
            </a:r>
          </a:p>
        </p:txBody>
      </p:sp>
    </p:spTree>
    <p:extLst>
      <p:ext uri="{BB962C8B-B14F-4D97-AF65-F5344CB8AC3E}">
        <p14:creationId xmlns:p14="http://schemas.microsoft.com/office/powerpoint/2010/main" val="357872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557C5-2E4A-E846-5564-BB82E129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Batch Normalization &amp; Dropout</a:t>
            </a:r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077" name="Picture 5" descr="Batch Normalization and Dropout in Neural Networks with Pytorch | by  Niranjan Kumar | TDS Archive | Medium">
            <a:extLst>
              <a:ext uri="{FF2B5EF4-FFF2-40B4-BE49-F238E27FC236}">
                <a16:creationId xmlns:a16="http://schemas.microsoft.com/office/drawing/2014/main" id="{50E52B7E-1AC6-EE10-7F95-BA2EE8F59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3723299"/>
            <a:ext cx="6281928" cy="262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D8F71AA-D873-80E2-FC9C-9C4A0EADA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Batch Normalization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Re-scales the outputs of a layer to have a mean of 0 and a variance of 1. This stabilizes training and allows for higher learning rates.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Randomly "turns off" a percentage of neurons during training (e.g., 50%). This prevents the model from relying too heavily on specific neurons, reducing overfitting.</a:t>
            </a:r>
          </a:p>
        </p:txBody>
      </p:sp>
    </p:spTree>
    <p:extLst>
      <p:ext uri="{BB962C8B-B14F-4D97-AF65-F5344CB8AC3E}">
        <p14:creationId xmlns:p14="http://schemas.microsoft.com/office/powerpoint/2010/main" val="60211211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201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Bierstadt</vt:lpstr>
      <vt:lpstr>Google Sans Text</vt:lpstr>
      <vt:lpstr>GestaltVTI</vt:lpstr>
      <vt:lpstr>Evolution of CNNs: From VGG to Inception</vt:lpstr>
      <vt:lpstr>ResNet: Solving the Vanishing Gradient Problem</vt:lpstr>
      <vt:lpstr>Batch Normalization &amp; Dropout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2026-05-06T06:51:34Z</dcterms:created>
  <dcterms:modified xsi:type="dcterms:W3CDTF">2026-05-06T09:21:03Z</dcterms:modified>
</cp:coreProperties>
</file>