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8" d="100"/>
          <a:sy n="48" d="100"/>
        </p:scale>
        <p:origin x="46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2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6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74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7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1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3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3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0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6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05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02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A62D-3739-DFFA-5DA4-57CD389FE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021842"/>
            <a:ext cx="3156857" cy="264261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Designing the Network: Input, Hidden, and Output Layers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C4ED0C3-E858-FFC7-FA7D-F50B342CDEE8}"/>
                  </a:ext>
                </a:extLst>
              </p:cNvPr>
              <p:cNvSpPr>
                <a:spLocks noGrp="1" noChangeArrowheads="1"/>
              </p:cNvSpPr>
              <p:nvPr>
                <p:ph type="subTitle" idx="1"/>
              </p:nvPr>
            </p:nvSpPr>
            <p:spPr bwMode="auto">
              <a:xfrm>
                <a:off x="640079" y="4304538"/>
                <a:ext cx="10911842" cy="1867662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285750" marR="0" lvl="0" indent="-285750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Input Layer: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Receives the raw data (e.g., 784 pixels for a 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cap="none" normalizeH="0" baseline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28  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en-US" b="0" i="1" u="none" strike="noStrike" cap="none" normalizeH="0" baseline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𝑡𝑖𝑚𝑒𝑠</m:t>
                    </m:r>
                    <m:r>
                      <a:rPr kumimoji="0" lang="en-US" altLang="en-US" b="0" i="1" u="none" strike="noStrike" cap="none" normalizeH="0" baseline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28 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image). </a:t>
                </a:r>
              </a:p>
              <a:p>
                <a:pPr marL="285750" marR="0" lvl="0" indent="-285750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Hidden Layers: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Intermediate layers where the "learning" happens. They extract increasingly complex features from the data. </a:t>
                </a:r>
              </a:p>
              <a:p>
                <a:pPr marL="285750" marR="0" lvl="0" indent="-285750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Output Layer: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Produces the final prediction, such as a category or a probability. 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C4ED0C3-E858-FFC7-FA7D-F50B342C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 bwMode="auto">
              <a:xfrm>
                <a:off x="640079" y="4304538"/>
                <a:ext cx="10911842" cy="1867662"/>
              </a:xfrm>
              <a:prstGeom prst="rect">
                <a:avLst/>
              </a:prstGeom>
              <a:blipFill>
                <a:blip r:embed="rId2"/>
                <a:stretch>
                  <a:fillRect l="-335" t="-2280" r="-1229" b="-2932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Hidden Layer Definition | DeepAI">
            <a:extLst>
              <a:ext uri="{FF2B5EF4-FFF2-40B4-BE49-F238E27FC236}">
                <a16:creationId xmlns:a16="http://schemas.microsoft.com/office/drawing/2014/main" id="{3765271B-2C47-2F07-44AA-54932B968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3229" y="905524"/>
            <a:ext cx="6718692" cy="310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28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9C317-8842-A956-5865-824B3B79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The Forward Pass: From Data to Decision</a:t>
            </a:r>
          </a:p>
        </p:txBody>
      </p:sp>
      <p:pic>
        <p:nvPicPr>
          <p:cNvPr id="2053" name="Picture 5" descr="Learning and Inference in a Forward Pass, The New Framework | Towards Data  Science">
            <a:extLst>
              <a:ext uri="{FF2B5EF4-FFF2-40B4-BE49-F238E27FC236}">
                <a16:creationId xmlns:a16="http://schemas.microsoft.com/office/drawing/2014/main" id="{9DB078E2-DA73-27AA-D879-1B4822CF7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413998"/>
            <a:ext cx="5886351" cy="331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AFD2F3B-5AD1-30F9-0159-D3FE2E4E5D6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915150" y="2256287"/>
                <a:ext cx="4563618" cy="376045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Data flows in one direction: from input to output.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Each layer calculates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0" lang="en-US" altLang="en-US" sz="2400" b="0" i="1" u="none" strike="noStrike" cap="none" normalizeH="0" baseline="0" dirty="0" err="1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0" lang="en-US" altLang="en-US" sz="2400" b="0" i="1" u="none" strike="noStrike" cap="none" normalizeH="0" baseline="0" dirty="0" err="1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kumimoji="0" lang="en-US" altLang="en-US" sz="2400" b="0" i="1" u="none" strike="noStrike" cap="none" normalizeH="0" baseline="0" dirty="0" err="1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𝑐𝑑𝑜𝑡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+ 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, then applies an activation function.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The final output is the network’s "guess" or raw score (logit).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AFD2F3B-5AD1-30F9-0159-D3FE2E4E5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915150" y="2256287"/>
                <a:ext cx="4563618" cy="3760459"/>
              </a:xfrm>
              <a:prstGeom prst="rect">
                <a:avLst/>
              </a:prstGeom>
              <a:blipFill>
                <a:blip r:embed="rId3"/>
                <a:stretch>
                  <a:fillRect l="-1736" t="-1297" r="-1602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97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EC2D9-0AF0-EB1C-DCB3-ED16B96A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sz="3700"/>
              <a:t>Weight Initialization: Setting the Stage for Success</a:t>
            </a:r>
          </a:p>
        </p:txBody>
      </p:sp>
      <p:pic>
        <p:nvPicPr>
          <p:cNvPr id="3076" name="Picture 4" descr="How to Initialize Weights in Neural Networks?">
            <a:extLst>
              <a:ext uri="{FF2B5EF4-FFF2-40B4-BE49-F238E27FC236}">
                <a16:creationId xmlns:a16="http://schemas.microsoft.com/office/drawing/2014/main" id="{CA64B988-60C6-7F88-BB8D-4B60C915C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350275"/>
            <a:ext cx="5648193" cy="357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A7A2EB9A-EA3E-E2C4-62B9-7EE1ABC6D3C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915150" y="2256287"/>
                <a:ext cx="4563618" cy="376045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Initializing weights to zero prevents learning because neurons remain symmetric. </a:t>
                </a:r>
              </a:p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Xavier (</a:t>
                </a:r>
                <a:r>
                  <a:rPr kumimoji="0" lang="en-US" altLang="en-US" sz="1900" b="1" i="0" u="none" strike="noStrike" cap="none" normalizeH="0" baseline="0" dirty="0" err="1">
                    <a:ln>
                      <a:noFill/>
                    </a:ln>
                    <a:effectLst/>
                    <a:latin typeface="Google Sans Text"/>
                  </a:rPr>
                  <a:t>Glorot</a:t>
                </a: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) Initialization: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Best for </a:t>
                </a:r>
                <a:r>
                  <a:rPr lang="en-US" altLang="en-US" sz="19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Sigmoid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or </a:t>
                </a:r>
                <a:r>
                  <a:rPr lang="en-US" altLang="en-US" sz="19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Tanh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activations; it keeps the variance of the signals constant across layers. </a:t>
                </a:r>
              </a:p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  <a:buSzTx/>
                </a:pPr>
                <a:r>
                  <a:rPr kumimoji="0" lang="en-US" altLang="en-US" sz="19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He Initialization: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</a:t>
                </a:r>
                <a:r>
                  <a:rPr lang="en-US" altLang="en-US" sz="19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Optimized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for </a:t>
                </a:r>
                <a:r>
                  <a:rPr lang="en-US" altLang="en-US" sz="19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ReLU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activations; it uses a larger variance</a:t>
                </a:r>
                <a:r>
                  <a:rPr lang="en-US" altLang="en-US" sz="1900" dirty="0">
                    <a:latin typeface="Google Sans Text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900" dirty="0">
                    <a:latin typeface="Google Sans Text"/>
                  </a:rPr>
                  <a:t>)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to prevent the signal from dying out in deep networks. </a:t>
                </a:r>
                <a:endParaRPr kumimoji="0" lang="en-US" altLang="en-US" sz="19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A7A2EB9A-EA3E-E2C4-62B9-7EE1ABC6D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915150" y="2256287"/>
                <a:ext cx="4563618" cy="3760459"/>
              </a:xfrm>
              <a:prstGeom prst="rect">
                <a:avLst/>
              </a:prstGeom>
              <a:blipFill>
                <a:blip r:embed="rId3"/>
                <a:stretch>
                  <a:fillRect l="-935" t="-1621" b="-178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47663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Google Sans Text</vt:lpstr>
      <vt:lpstr>Grandview Display</vt:lpstr>
      <vt:lpstr>DashVTI</vt:lpstr>
      <vt:lpstr>Designing the Network: Input, Hidden, and Output Layers</vt:lpstr>
      <vt:lpstr>The Forward Pass: From Data to Decision</vt:lpstr>
      <vt:lpstr>Weight Initialization: Setting the Stage for Success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2026-05-06T05:47:11Z</dcterms:created>
  <dcterms:modified xsi:type="dcterms:W3CDTF">2026-05-06T06:01:32Z</dcterms:modified>
</cp:coreProperties>
</file>