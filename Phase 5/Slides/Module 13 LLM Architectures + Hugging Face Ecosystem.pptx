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47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68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63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22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8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05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90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91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0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56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586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036" name="Freeform: Shape 1035">
            <a:extLst>
              <a:ext uri="{FF2B5EF4-FFF2-40B4-BE49-F238E27FC236}">
                <a16:creationId xmlns:a16="http://schemas.microsoft.com/office/drawing/2014/main" id="{BFC5A2D8-56E8-47FB-975D-D777AFEA4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4728" y="3"/>
            <a:ext cx="6927272" cy="5330949"/>
          </a:xfrm>
          <a:custGeom>
            <a:avLst/>
            <a:gdLst>
              <a:gd name="connsiteX0" fmla="*/ 0 w 6927272"/>
              <a:gd name="connsiteY0" fmla="*/ 0 h 5330949"/>
              <a:gd name="connsiteX1" fmla="*/ 6927272 w 6927272"/>
              <a:gd name="connsiteY1" fmla="*/ 0 h 5330949"/>
              <a:gd name="connsiteX2" fmla="*/ 6927272 w 6927272"/>
              <a:gd name="connsiteY2" fmla="*/ 3912793 h 5330949"/>
              <a:gd name="connsiteX3" fmla="*/ 6884989 w 6927272"/>
              <a:gd name="connsiteY3" fmla="*/ 4002742 h 5330949"/>
              <a:gd name="connsiteX4" fmla="*/ 6592028 w 6927272"/>
              <a:gd name="connsiteY4" fmla="*/ 4494163 h 5330949"/>
              <a:gd name="connsiteX5" fmla="*/ 3742808 w 6927272"/>
              <a:gd name="connsiteY5" fmla="*/ 5122218 h 5330949"/>
              <a:gd name="connsiteX6" fmla="*/ 326623 w 6927272"/>
              <a:gd name="connsiteY6" fmla="*/ 2148182 h 5330949"/>
              <a:gd name="connsiteX7" fmla="*/ 13721 w 6927272"/>
              <a:gd name="connsiteY7" fmla="*/ 201231 h 5330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7272" h="5330949">
                <a:moveTo>
                  <a:pt x="0" y="0"/>
                </a:moveTo>
                <a:lnTo>
                  <a:pt x="6927272" y="0"/>
                </a:lnTo>
                <a:lnTo>
                  <a:pt x="6927272" y="3912793"/>
                </a:lnTo>
                <a:lnTo>
                  <a:pt x="6884989" y="4002742"/>
                </a:lnTo>
                <a:cubicBezTo>
                  <a:pt x="6799406" y="4174873"/>
                  <a:pt x="6702812" y="4339578"/>
                  <a:pt x="6592028" y="4494163"/>
                </a:cubicBezTo>
                <a:cubicBezTo>
                  <a:pt x="5802121" y="5596640"/>
                  <a:pt x="4821632" y="5380883"/>
                  <a:pt x="3742808" y="5122218"/>
                </a:cubicBezTo>
                <a:cubicBezTo>
                  <a:pt x="2131653" y="4735722"/>
                  <a:pt x="759367" y="4191689"/>
                  <a:pt x="326623" y="2148182"/>
                </a:cubicBezTo>
                <a:cubicBezTo>
                  <a:pt x="186907" y="1488770"/>
                  <a:pt x="67840" y="834043"/>
                  <a:pt x="13721" y="20123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Freeform: Shape 1037">
            <a:extLst>
              <a:ext uri="{FF2B5EF4-FFF2-40B4-BE49-F238E27FC236}">
                <a16:creationId xmlns:a16="http://schemas.microsoft.com/office/drawing/2014/main" id="{A9896C11-F8DF-437A-B349-8AFD602D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791199" y="-1219198"/>
            <a:ext cx="5181601" cy="7620000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CF514-1C75-4B16-AD44-D1EC832BE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364" y="1133236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en-US" sz="3700" dirty="0"/>
              <a:t>Decoder-Only Architectures: The Backbone of Modern AI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FE3C285-3F0E-84AD-89AD-6EB2E1C8B4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62000" y="3419236"/>
            <a:ext cx="4572000" cy="28182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Unlike the original Transformer (Encoder-Decoder), most modern Large Language Models (LLMs) like GPT, Llama, DeepSeek, and Mistral utilize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Decoder-Only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architecture.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These models are optimized for "Autoregressive" tasks, meaning they focus on generating the next word based on previous context.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By stripping the encoder, the architecture becomes highly streamlined for long-form text generation and reasoning. </a:t>
            </a:r>
          </a:p>
        </p:txBody>
      </p:sp>
      <p:pic>
        <p:nvPicPr>
          <p:cNvPr id="1029" name="Picture 5" descr="Evolution of Decoder-only models. How encoder-only became champion modern…  | by Mayukh Sarkar | Artificial Intelligence in Plain English">
            <a:extLst>
              <a:ext uri="{FF2B5EF4-FFF2-40B4-BE49-F238E27FC236}">
                <a16:creationId xmlns:a16="http://schemas.microsoft.com/office/drawing/2014/main" id="{00EB41D6-489B-DD58-4AB7-3FDBA045B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592342"/>
            <a:ext cx="5334000" cy="365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76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FD5287-2BD4-4212-9329-7516B64077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2286000"/>
            <a:ext cx="5334000" cy="3810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Models are trained on massive datasets to absorb the "knowledge of the internet" during the pre-training phase. </a:t>
            </a:r>
          </a:p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primary learning mechanism is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Next Token Prediction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where the model guesses the next character or word in a sequence. </a:t>
            </a:r>
          </a:p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allows the AI to learn grammar, facts, and logic implicitly without needing human labels for every sentence.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625E8-8C8E-77BF-4CFE-B04D7C27D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/>
              <a:t>Pre-training: Learning the Knowledge of the Internet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CB1EF7-B3DC-0368-DE7B-63DA8403F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35629"/>
            <a:ext cx="5917074" cy="257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60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2" name="Freeform: Shape 3081">
            <a:extLst>
              <a:ext uri="{FF2B5EF4-FFF2-40B4-BE49-F238E27FC236}">
                <a16:creationId xmlns:a16="http://schemas.microsoft.com/office/drawing/2014/main" id="{C75CD783-E708-4711-B23C-5B7B72A3D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5578824" cy="6028256"/>
          </a:xfrm>
          <a:custGeom>
            <a:avLst/>
            <a:gdLst>
              <a:gd name="connsiteX0" fmla="*/ 0 w 5578824"/>
              <a:gd name="connsiteY0" fmla="*/ 0 h 6028256"/>
              <a:gd name="connsiteX1" fmla="*/ 3897606 w 5578824"/>
              <a:gd name="connsiteY1" fmla="*/ 0 h 6028256"/>
              <a:gd name="connsiteX2" fmla="*/ 4274232 w 5578824"/>
              <a:gd name="connsiteY2" fmla="*/ 360545 h 6028256"/>
              <a:gd name="connsiteX3" fmla="*/ 4673934 w 5578824"/>
              <a:gd name="connsiteY3" fmla="*/ 738354 h 6028256"/>
              <a:gd name="connsiteX4" fmla="*/ 5421862 w 5578824"/>
              <a:gd name="connsiteY4" fmla="*/ 1773839 h 6028256"/>
              <a:gd name="connsiteX5" fmla="*/ 5469199 w 5578824"/>
              <a:gd name="connsiteY5" fmla="*/ 3329255 h 6028256"/>
              <a:gd name="connsiteX6" fmla="*/ 4741546 w 5578824"/>
              <a:gd name="connsiteY6" fmla="*/ 4877588 h 6028256"/>
              <a:gd name="connsiteX7" fmla="*/ 1325600 w 5578824"/>
              <a:gd name="connsiteY7" fmla="*/ 5980388 h 6028256"/>
              <a:gd name="connsiteX8" fmla="*/ 137593 w 5578824"/>
              <a:gd name="connsiteY8" fmla="*/ 5804042 h 6028256"/>
              <a:gd name="connsiteX9" fmla="*/ 0 w 5578824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9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84" name="Freeform: Shape 3083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3075" name="Picture 3" descr="🧠Understanding LLM Context Windows: Tokens, Attention, and Challenges | by  Tahir | Medium">
            <a:extLst>
              <a:ext uri="{FF2B5EF4-FFF2-40B4-BE49-F238E27FC236}">
                <a16:creationId xmlns:a16="http://schemas.microsoft.com/office/drawing/2014/main" id="{861CF294-963E-2CFB-778B-D8E07423E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1460" y="1524000"/>
            <a:ext cx="4523907" cy="458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440D5AB-18EA-D255-7303-27E83F142E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286000"/>
            <a:ext cx="5334000" cy="3810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Context Window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is the hard limit on how much text a model can "read" or hold in its memory at one time. </a:t>
            </a:r>
          </a:p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Information outside this window is truncated, meaning the model "forgets" the beginning of a long conversation. </a:t>
            </a:r>
          </a:p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Advanced engineering now pushes context windows from a few thousand tokens to millions, enabling the processing of entire books.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A6884-219C-DC86-E4FB-10CD84C1F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/>
              <a:t>Context Windows: Understanding Memory Limits </a:t>
            </a:r>
          </a:p>
        </p:txBody>
      </p:sp>
    </p:spTree>
    <p:extLst>
      <p:ext uri="{BB962C8B-B14F-4D97-AF65-F5344CB8AC3E}">
        <p14:creationId xmlns:p14="http://schemas.microsoft.com/office/powerpoint/2010/main" val="3153746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6" name="Freeform: Shape 4105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108" name="Freeform: Shape 4107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8E3FB2-83BA-9685-37AA-846355B92B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2286000"/>
            <a:ext cx="5334000" cy="3810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Hugging Face Transformers is the industry-standard library for loading and using open-source models. </a:t>
            </a:r>
          </a:p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Pipelines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High-level tools to perform tasks like generation or summarization in very few lines of code. </a:t>
            </a:r>
          </a:p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AutoModel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&amp; Tokenizers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Standardized interfaces that allow users to swap different models (e.g., Mistral for Llama) without changing core code. </a:t>
            </a:r>
          </a:p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Efficient Model Loading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such as using quantization to run large models on cheaper hardware.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82A0B-964A-2AC9-1744-EC9FD0104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US" sz="3200"/>
              <a:t>Hugging Face: The Universal AI Standard </a:t>
            </a:r>
          </a:p>
        </p:txBody>
      </p:sp>
      <p:pic>
        <p:nvPicPr>
          <p:cNvPr id="4099" name="Picture 3" descr="7 Hugging Face AI Projects You Can't Ignore">
            <a:extLst>
              <a:ext uri="{FF2B5EF4-FFF2-40B4-BE49-F238E27FC236}">
                <a16:creationId xmlns:a16="http://schemas.microsoft.com/office/drawing/2014/main" id="{3F4204E1-58F3-4791-F6BB-23306DBA6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8000" y="1945005"/>
            <a:ext cx="5334000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253328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Blush 3">
      <a:dk1>
        <a:sysClr val="windowText" lastClr="000000"/>
      </a:dk1>
      <a:lt1>
        <a:sysClr val="window" lastClr="FFFFFF"/>
      </a:lt1>
      <a:dk2>
        <a:srgbClr val="B15E4E"/>
      </a:dk2>
      <a:lt2>
        <a:srgbClr val="FFFFFF"/>
      </a:lt2>
      <a:accent1>
        <a:srgbClr val="C5B096"/>
      </a:accent1>
      <a:accent2>
        <a:srgbClr val="ECA855"/>
      </a:accent2>
      <a:accent3>
        <a:srgbClr val="9BBFB0"/>
      </a:accent3>
      <a:accent4>
        <a:srgbClr val="A9AEA7"/>
      </a:accent4>
      <a:accent5>
        <a:srgbClr val="6A787C"/>
      </a:accent5>
      <a:accent6>
        <a:srgbClr val="3B4345"/>
      </a:accent6>
      <a:hlink>
        <a:srgbClr val="ECA855"/>
      </a:hlink>
      <a:folHlink>
        <a:srgbClr val="6A392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305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Avenir Next LT Pro</vt:lpstr>
      <vt:lpstr>Avenir Next LT Pro Light</vt:lpstr>
      <vt:lpstr>Sitka Subheading</vt:lpstr>
      <vt:lpstr>PebbleVTI</vt:lpstr>
      <vt:lpstr>Decoder-Only Architectures: The Backbone of Modern AI</vt:lpstr>
      <vt:lpstr>Pre-training: Learning the Knowledge of the Internet </vt:lpstr>
      <vt:lpstr>Context Windows: Understanding Memory Limits </vt:lpstr>
      <vt:lpstr>Hugging Face: The Universal AI Standard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2026-05-06T11:34:09Z</dcterms:created>
  <dcterms:modified xsi:type="dcterms:W3CDTF">2026-05-06T11:43:29Z</dcterms:modified>
</cp:coreProperties>
</file>