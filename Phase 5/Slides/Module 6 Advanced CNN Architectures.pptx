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7" d="100"/>
          <a:sy n="57" d="100"/>
        </p:scale>
        <p:origin x="1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5/6/2026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854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34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465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733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896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171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250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5/6/2026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194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5/6/2026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3861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327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518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012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67" r:id="rId5"/>
    <p:sldLayoutId id="2147483773" r:id="rId6"/>
    <p:sldLayoutId id="2147483768" r:id="rId7"/>
    <p:sldLayoutId id="2147483769" r:id="rId8"/>
    <p:sldLayoutId id="2147483770" r:id="rId9"/>
    <p:sldLayoutId id="2147483771" r:id="rId10"/>
    <p:sldLayoutId id="214748377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038">
            <a:extLst>
              <a:ext uri="{FF2B5EF4-FFF2-40B4-BE49-F238E27FC236}">
                <a16:creationId xmlns:a16="http://schemas.microsoft.com/office/drawing/2014/main" id="{1C3E817E-E139-426E-89E5-9DD346EC75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E2ADD2F6-F7FC-464F-8F18-5BDBD27A73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5A3A31F1-FA83-497F-98FF-9A5621DC55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7" y="0"/>
            <a:ext cx="8168743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 descr="An Extensive Study of Convolutional Neural Networks: Applications in  Computer Vision for Improved Robotics Perceptions">
            <a:extLst>
              <a:ext uri="{FF2B5EF4-FFF2-40B4-BE49-F238E27FC236}">
                <a16:creationId xmlns:a16="http://schemas.microsoft.com/office/drawing/2014/main" id="{D0F3938B-37E0-99A4-E714-894429CC87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192" y="2051813"/>
            <a:ext cx="6909386" cy="2746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5" name="Rectangle 1044">
            <a:extLst>
              <a:ext uri="{FF2B5EF4-FFF2-40B4-BE49-F238E27FC236}">
                <a16:creationId xmlns:a16="http://schemas.microsoft.com/office/drawing/2014/main" id="{343FF9E2-8F7E-4BCC-9A50-C41AD8A56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31468" y="164592"/>
            <a:ext cx="3708894" cy="6540176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57E36F-A89F-FC8C-8520-EB16C0A15E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66500" y="731521"/>
            <a:ext cx="3238829" cy="1848394"/>
          </a:xfrm>
        </p:spPr>
        <p:txBody>
          <a:bodyPr>
            <a:normAutofit/>
          </a:bodyPr>
          <a:lstStyle/>
          <a:p>
            <a:r>
              <a:rPr lang="en-US" sz="3200" dirty="0"/>
              <a:t>Evolution of CNNs: From VGG to Inception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71D50DA-EDAD-B356-DC39-FC00D58F77B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560024" y="2579915"/>
            <a:ext cx="3238829" cy="36250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0" rIns="91440" bIns="45720" numCol="1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Google Sans Text"/>
              </a:rPr>
              <a:t>As networks grew deeper, researchers developed "backbones" to act as efficient feature extractors.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Google Sans Text"/>
              </a:rPr>
              <a:t>VGG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Google Sans Text"/>
              </a:rPr>
              <a:t>: Popularized the use of small 3 x 3 filters stacked deeply to increase the receptive field. </a:t>
            </a:r>
          </a:p>
          <a:p>
            <a:pPr marL="285750" marR="0" lvl="0" indent="-28575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Google Sans Text"/>
              </a:rPr>
              <a:t>Inception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Google Sans Text"/>
              </a:rPr>
              <a:t>: Introduced multi-scale processing by using parallel filters of different sizes within the same layer.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47751BC8-250F-493B-BDF9-D45BA5991D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19318" y="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049" name="Straight Connector 1048">
            <a:extLst>
              <a:ext uri="{FF2B5EF4-FFF2-40B4-BE49-F238E27FC236}">
                <a16:creationId xmlns:a16="http://schemas.microsoft.com/office/drawing/2014/main" id="{BF0F044C-8394-47CB-8E3D-FA56B06939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33618" y="-1172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1" name="Straight Connector 1050">
            <a:extLst>
              <a:ext uri="{FF2B5EF4-FFF2-40B4-BE49-F238E27FC236}">
                <a16:creationId xmlns:a16="http://schemas.microsoft.com/office/drawing/2014/main" id="{6B2DCD75-B707-4C51-8ADC-813834C09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025258" y="-1172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3" name="Straight Connector 1052">
            <a:extLst>
              <a:ext uri="{FF2B5EF4-FFF2-40B4-BE49-F238E27FC236}">
                <a16:creationId xmlns:a16="http://schemas.microsoft.com/office/drawing/2014/main" id="{F4851414-8BB1-42EF-912B-608FCE07B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33618" y="644123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0493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A7A72-5F9D-7DCA-2F31-A3221025B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9450" y="727627"/>
            <a:ext cx="4957553" cy="1645920"/>
          </a:xfrm>
        </p:spPr>
        <p:txBody>
          <a:bodyPr>
            <a:normAutofit/>
          </a:bodyPr>
          <a:lstStyle/>
          <a:p>
            <a:r>
              <a:rPr lang="en-US" sz="3700" err="1"/>
              <a:t>ResNet</a:t>
            </a:r>
            <a:r>
              <a:rPr lang="en-US" sz="3700"/>
              <a:t>: Solving the Vanishing Gradient Problem</a:t>
            </a:r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0BBB6B01-5B73-410C-B70E-8CF2FA470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8836" y="721224"/>
            <a:ext cx="5367164" cy="5415552"/>
          </a:xfrm>
          <a:prstGeom prst="rect">
            <a:avLst/>
          </a:prstGeom>
          <a:solidFill>
            <a:srgbClr val="FFFFFF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8712F587-12D0-435C-8E3F-F44C36EE7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5217" y="892220"/>
            <a:ext cx="5054517" cy="5097085"/>
          </a:xfrm>
          <a:prstGeom prst="rect">
            <a:avLst/>
          </a:prstGeom>
          <a:noFill/>
          <a:ln w="6350" cap="sq" cmpd="sng" algn="ctr">
            <a:solidFill>
              <a:srgbClr val="404040"/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pic>
        <p:nvPicPr>
          <p:cNvPr id="2052" name="Picture 4" descr="ResNet: Solving Vanishing Gradient in Deep Networks | Springer Nature Link">
            <a:extLst>
              <a:ext uri="{FF2B5EF4-FFF2-40B4-BE49-F238E27FC236}">
                <a16:creationId xmlns:a16="http://schemas.microsoft.com/office/drawing/2014/main" id="{A7C50803-FB2B-6B50-C29F-15A74CFE5C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05256" y="2599339"/>
            <a:ext cx="4414438" cy="1677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6728EC07-E352-2DBA-10CC-4E92F8F990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79450" y="2538919"/>
            <a:ext cx="4957554" cy="34961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  <a:buClrTx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Extremely deep networks often suffer from signal loss, where gradients become too small to update weights.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ClrTx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Skip Connections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ResNet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passes the input of a layer directly to the output of a later layer (Identity Mapping).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ClrTx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This allows the model to learn "residuals" and makes it possible to train networks with hundreds or thousands of layers. </a:t>
            </a:r>
          </a:p>
        </p:txBody>
      </p:sp>
    </p:spTree>
    <p:extLst>
      <p:ext uri="{BB962C8B-B14F-4D97-AF65-F5344CB8AC3E}">
        <p14:creationId xmlns:p14="http://schemas.microsoft.com/office/powerpoint/2010/main" val="244400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45112-4771-7185-7CF0-97043F8A2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9450" y="727627"/>
            <a:ext cx="4957553" cy="1645920"/>
          </a:xfrm>
        </p:spPr>
        <p:txBody>
          <a:bodyPr>
            <a:normAutofit/>
          </a:bodyPr>
          <a:lstStyle/>
          <a:p>
            <a:r>
              <a:rPr lang="en-US" sz="4400"/>
              <a:t>Batch Normalization &amp; Dropout</a:t>
            </a:r>
          </a:p>
        </p:txBody>
      </p:sp>
      <p:sp>
        <p:nvSpPr>
          <p:cNvPr id="3080" name="Rectangle 3079">
            <a:extLst>
              <a:ext uri="{FF2B5EF4-FFF2-40B4-BE49-F238E27FC236}">
                <a16:creationId xmlns:a16="http://schemas.microsoft.com/office/drawing/2014/main" id="{0BBB6B01-5B73-410C-B70E-8CF2FA470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8836" y="721224"/>
            <a:ext cx="5367164" cy="5415552"/>
          </a:xfrm>
          <a:prstGeom prst="rect">
            <a:avLst/>
          </a:prstGeom>
          <a:solidFill>
            <a:srgbClr val="FFFFFF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3082" name="Rectangle 3081">
            <a:extLst>
              <a:ext uri="{FF2B5EF4-FFF2-40B4-BE49-F238E27FC236}">
                <a16:creationId xmlns:a16="http://schemas.microsoft.com/office/drawing/2014/main" id="{8712F587-12D0-435C-8E3F-F44C36EE7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5217" y="892220"/>
            <a:ext cx="5054517" cy="5097085"/>
          </a:xfrm>
          <a:prstGeom prst="rect">
            <a:avLst/>
          </a:prstGeom>
          <a:noFill/>
          <a:ln w="6350" cap="sq" cmpd="sng" algn="ctr">
            <a:solidFill>
              <a:srgbClr val="404040"/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pic>
        <p:nvPicPr>
          <p:cNvPr id="3075" name="Picture 3" descr="Batch Normalization and Dropout in Neural Networks with Pytorch | by  Niranjan Kumar | TDS Archive | Medium">
            <a:extLst>
              <a:ext uri="{FF2B5EF4-FFF2-40B4-BE49-F238E27FC236}">
                <a16:creationId xmlns:a16="http://schemas.microsoft.com/office/drawing/2014/main" id="{68CA5ECA-87EE-FA3B-526C-93079F179A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05256" y="2516569"/>
            <a:ext cx="4414438" cy="1843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D00D527E-64A5-11B6-A87B-555B6445A5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79450" y="2538919"/>
            <a:ext cx="4957554" cy="34961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  <a:buClrTx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Batch Normalization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Re-scales the outputs of a layer to have a mean of 0 and a variance of 1. This stabilizes training and allows for higher learning rates.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ClrTx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Dropout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Randomly "turns off" a percentage of neurons during training (e.g., 50%). This prevents the model from relying too heavily on specific neurons, reducing overfitting. </a:t>
            </a:r>
          </a:p>
        </p:txBody>
      </p:sp>
    </p:spTree>
    <p:extLst>
      <p:ext uri="{BB962C8B-B14F-4D97-AF65-F5344CB8AC3E}">
        <p14:creationId xmlns:p14="http://schemas.microsoft.com/office/powerpoint/2010/main" val="32048642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Custom 8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96A9A9"/>
      </a:accent1>
      <a:accent2>
        <a:srgbClr val="CB58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D0690C"/>
      </a:hlink>
      <a:folHlink>
        <a:srgbClr val="9696A0"/>
      </a:folHlink>
    </a:clrScheme>
    <a:fontScheme name="Savon">
      <a:maj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201</Words>
  <Application>Microsoft Office PowerPoint</Application>
  <PresentationFormat>Widescreen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Garamond</vt:lpstr>
      <vt:lpstr>Google Sans Text</vt:lpstr>
      <vt:lpstr>SavonVTI</vt:lpstr>
      <vt:lpstr>Evolution of CNNs: From VGG to Inception</vt:lpstr>
      <vt:lpstr>ResNet: Solving the Vanishing Gradient Problem</vt:lpstr>
      <vt:lpstr>Batch Normalization &amp; Dropout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2</cp:revision>
  <dcterms:created xsi:type="dcterms:W3CDTF">2026-05-06T09:27:36Z</dcterms:created>
  <dcterms:modified xsi:type="dcterms:W3CDTF">2026-05-06T09:34:08Z</dcterms:modified>
</cp:coreProperties>
</file>