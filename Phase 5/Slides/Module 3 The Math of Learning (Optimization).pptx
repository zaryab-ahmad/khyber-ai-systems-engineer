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BA42F-8E54-5857-A78A-0F867C4DE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203AEF-7F4D-C20C-D454-4A777686D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48730-40FB-043E-52ED-AC5BD325A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0DA4-B04A-447A-BA92-A30F59C57B7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B9EA3-5934-2D98-6D92-9933ABB4A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FEF0F-502C-E689-8B36-26998E031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D31F4-EA98-46BC-A976-A2AA5A4A5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0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48114-8F92-BF3B-FED4-E6EC18315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50F95-65CE-77E8-096E-390B50B3C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D4C1B-64AE-7760-F7D0-D6C7F2F0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0DA4-B04A-447A-BA92-A30F59C57B7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83A5E-506F-E32E-7C7B-302A8F4DF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0D5A1-6D6A-1E13-41B5-7F51663C3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D31F4-EA98-46BC-A976-A2AA5A4A5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88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D25A2-457D-D558-F534-F7BA99F73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7E6E1-55D5-6276-639E-58ABB832C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BC92F-5151-ECD6-16BA-E4BBD6287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0DA4-B04A-447A-BA92-A30F59C57B7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51A06-0C1E-6EF5-CD78-75D83BF9E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648DF-1B50-CA61-6AA5-1EEC8731E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D31F4-EA98-46BC-A976-A2AA5A4A5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624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C5C78-8F51-FC3D-3C9B-342321657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A1E41-7E59-69E7-2E0A-6B4BD7855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66EA2-93D2-AE9D-BCE5-369E81F93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275AC-F4D4-E9B3-6E31-F0620CD59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0DA4-B04A-447A-BA92-A30F59C57B7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6C713-2067-3BC5-54C1-05D2C12DE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566B79-52DE-2C87-FA65-61B732F18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D31F4-EA98-46BC-A976-A2AA5A4A5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683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C6D7D-A12F-C6A9-2DF0-28FB3F7FC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24363-F6DB-FD87-DAB3-83D4E6EAD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7C4AC7-1FE1-52A5-93F4-240F63B34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5CAC17-B588-48B5-B601-AB542E074A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9647DB-3B3F-9F06-AF90-B81150138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E369E8-47FF-5C36-7A94-985FFF276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0DA4-B04A-447A-BA92-A30F59C57B7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AD8342-ECB4-9385-9C57-7EE3664A8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4EAED3-BF92-7633-8AC1-9A13B7B0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D31F4-EA98-46BC-A976-A2AA5A4A5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345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174B2-5540-C35E-40AE-5696019EB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26C182-AE9B-1709-1359-B986C3CF5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0DA4-B04A-447A-BA92-A30F59C57B7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3BC14B-FD6E-592D-586E-B233C8976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36E39A-0B8D-E650-D294-AF08576A1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D31F4-EA98-46BC-A976-A2AA5A4A5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299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4E1CAA-1681-DF19-A1EF-49A0C271F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0DA4-B04A-447A-BA92-A30F59C57B7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3BF5E4-4C65-3FC0-6C96-223B48D2D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A9D85-2062-7B4F-4B84-6C44851A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D31F4-EA98-46BC-A976-A2AA5A4A5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930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7E518-41C7-E785-A123-C905DDA95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5D318-1D2B-7EA5-5DC1-060C3E52B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944FC-C996-F642-22CD-3C10E1C5B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449246-7AE9-3863-99A8-FE9571E96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0DA4-B04A-447A-BA92-A30F59C57B7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F45DFE-17AD-3DFA-1FD4-181E314A2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6F6D6-D16D-1B40-299F-92A41EE9C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D31F4-EA98-46BC-A976-A2AA5A4A5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220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68DF2-D197-6C55-EDAE-A267B9024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7E6619-C37C-FBA4-02C2-D60972F56C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85CAF8-A650-54FB-DE97-FE686E0B8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D9729-519A-DD66-C526-62BEA2200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0DA4-B04A-447A-BA92-A30F59C57B7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7B87D-F1EE-D8AC-1DAF-3044C9A2C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F5FD8-E6DF-AAC0-54D6-6D713AED6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D31F4-EA98-46BC-A976-A2AA5A4A5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461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EBBA-7EE2-A6B0-78B6-79C629535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7414DA-5644-99F9-4B57-7500EF1E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30C74-94F2-3EFB-0DC9-AC82FA722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0DA4-B04A-447A-BA92-A30F59C57B7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3F49B-8B96-848B-2F0C-31C69554B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97BCE-FDC4-BE32-8B1B-DAA70D419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D31F4-EA98-46BC-A976-A2AA5A4A5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937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1F98D4-4A19-51B8-3C10-69949E8252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4BC0AC-00E8-7552-7E33-AAE6825F0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48A1F-57DE-FB6A-3D99-9B4A9BA3D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0DA4-B04A-447A-BA92-A30F59C57B7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2BE69-1AC9-F83D-3A73-D825867F2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02276-49CE-8184-FF87-0E5E46BEE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D31F4-EA98-46BC-A976-A2AA5A4A5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69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3C1E5-9F9E-C729-DD56-1E306D39D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8C241-2A36-940A-E62F-6D8D85323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1CB10-2537-FD43-4870-145426522B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A70DA4-B04A-447A-BA92-A30F59C57B78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005CD-6B5B-3CCE-5731-7B11868900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D7BE6-C05A-2E30-DF8D-95F98D64B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0D31F4-EA98-46BC-A976-A2AA5A4A5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62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Rectangle 1033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381801-674A-FF1D-F499-86531CE8E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0838" y="707132"/>
            <a:ext cx="3062287" cy="2387600"/>
          </a:xfrm>
        </p:spPr>
        <p:txBody>
          <a:bodyPr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Loss Functions: Measuring the Error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4FF37D-C517-9C07-C90A-9A4D280F93A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705602" y="3494783"/>
            <a:ext cx="4506684" cy="29250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 loss function quantifies how "wrong" the model's prediction is compared to the actual target. 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Mean Squared Error (MSE):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The standard for regression tasks (e.g., predicting house prices). 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Categorical Cross-Entropy: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The standard for classification tasks (e.g., identifying digits); it measures the distance between probability distributions.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9" name="Picture 5" descr="⚙️ Loss Function: Easy read for beginners 👀 (Est. 10 mins) | Kaggle">
            <a:extLst>
              <a:ext uri="{FF2B5EF4-FFF2-40B4-BE49-F238E27FC236}">
                <a16:creationId xmlns:a16="http://schemas.microsoft.com/office/drawing/2014/main" id="{B902717A-4B71-7E71-7936-B8F577289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6206" y="115193"/>
            <a:ext cx="6167018" cy="1865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07A9243D-8FC3-4B36-874B-55906B03F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3209925"/>
            <a:ext cx="976312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7E75552-1780-C9B4-4B76-03D95779F5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06" y="3494783"/>
            <a:ext cx="5528552" cy="3248024"/>
          </a:xfrm>
          <a:prstGeom prst="rect">
            <a:avLst/>
          </a:prstGeom>
        </p:spPr>
      </p:pic>
      <p:sp>
        <p:nvSpPr>
          <p:cNvPr id="1038" name="Rectangle 1037">
            <a:extLst>
              <a:ext uri="{FF2B5EF4-FFF2-40B4-BE49-F238E27FC236}">
                <a16:creationId xmlns:a16="http://schemas.microsoft.com/office/drawing/2014/main" id="{81BD432D-FAB3-4B5D-BF27-4DA7C75B3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457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627F98-7F25-49D5-3091-84D9D1D1A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400"/>
              <a:t>Backpropagation: Distributing the Blame</a:t>
            </a:r>
          </a:p>
        </p:txBody>
      </p:sp>
      <p:sp>
        <p:nvSpPr>
          <p:cNvPr id="2058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B08DD8-9C8F-4174-713C-59AAE3C08D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807208"/>
            <a:ext cx="3429000" cy="34107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Once we have a loss value, we need to know how to change the weights to reduce it.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Chain Rule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from calculus is used to calculate the gradient of the loss with respect to every weight in the network.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It effectively allows the error to flow backward from the output layer to the input layer. </a:t>
            </a:r>
          </a:p>
        </p:txBody>
      </p:sp>
      <p:pic>
        <p:nvPicPr>
          <p:cNvPr id="2051" name="Picture 3" descr="NN#5 — Neural Networks Decoded: Concepts Over Code | by Rakib.ai | Towards  AI">
            <a:extLst>
              <a:ext uri="{FF2B5EF4-FFF2-40B4-BE49-F238E27FC236}">
                <a16:creationId xmlns:a16="http://schemas.microsoft.com/office/drawing/2014/main" id="{B334F4F5-ACAC-32CC-8051-CB3680A7A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519910"/>
            <a:ext cx="6903720" cy="3818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6136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FE9442-4666-800D-C3BF-9CCD43B10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Gradient Descent: The Downhill Walk </a:t>
            </a:r>
          </a:p>
        </p:txBody>
      </p:sp>
      <p:sp>
        <p:nvSpPr>
          <p:cNvPr id="3085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5914DCDD-074B-4D98-535A-916DDE7C877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630936" y="2807208"/>
                <a:ext cx="3429000" cy="3586190"/>
              </a:xfrm>
              <a:prstGeom prst="rect">
                <a:avLst/>
              </a:prstGeom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lIns="91440" tIns="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ts val="600"/>
                  </a:spcAft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We update weights by taking a small step in the opposite direction of the gradient. 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ts val="600"/>
                  </a:spcAft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Stochastic Gradient Descent (SGD):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 Updates weights using one sample (or a small batch) at a time. 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ts val="600"/>
                  </a:spcAft>
                </a:pP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Learning Rate (</a:t>
                </a:r>
                <a14:m>
                  <m:oMath xmlns:m="http://schemas.openxmlformats.org/officeDocument/2006/math">
                    <m:r>
                      <a:rPr kumimoji="0" lang="en-US" altLang="en-US" sz="1800" b="1" i="1" u="none" strike="noStrike" cap="none" normalizeH="0" baseline="0">
                        <a:ln>
                          <a:noFill/>
                        </a:ln>
                        <a:effectLst/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):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 A crucial hyperparameter that determines the size of the step; too big and you overshoot, too small and training takes forever.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5914DCDD-074B-4D98-535A-916DDE7C87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630936" y="2807208"/>
                <a:ext cx="3429000" cy="3586190"/>
              </a:xfrm>
              <a:prstGeom prst="rect">
                <a:avLst/>
              </a:prstGeom>
              <a:blipFill>
                <a:blip r:embed="rId2"/>
                <a:stretch>
                  <a:fillRect l="-1246" t="-2891" r="-1957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8" name="Picture 6" descr="Day 15: Gradients and Gradient Descent - by sdr">
            <a:extLst>
              <a:ext uri="{FF2B5EF4-FFF2-40B4-BE49-F238E27FC236}">
                <a16:creationId xmlns:a16="http://schemas.microsoft.com/office/drawing/2014/main" id="{5C87C74D-A4FD-CAE0-DE4E-4FF057D57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693401"/>
            <a:ext cx="6903720" cy="5471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181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4" name="Rectangle 4113">
            <a:extLst>
              <a:ext uri="{FF2B5EF4-FFF2-40B4-BE49-F238E27FC236}">
                <a16:creationId xmlns:a16="http://schemas.microsoft.com/office/drawing/2014/main" id="{A51A0227-072A-4F5F-928C-E2C3E5CCD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67D20C-E29F-13BE-C49A-B3192C69D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440365"/>
            <a:ext cx="4245864" cy="1722691"/>
          </a:xfrm>
        </p:spPr>
        <p:txBody>
          <a:bodyPr anchor="ctr">
            <a:normAutofit/>
          </a:bodyPr>
          <a:lstStyle/>
          <a:p>
            <a:r>
              <a:rPr lang="en-US" sz="3400"/>
              <a:t>Advanced Optimizers: Speeding Up Convergence</a:t>
            </a:r>
          </a:p>
        </p:txBody>
      </p:sp>
      <p:pic>
        <p:nvPicPr>
          <p:cNvPr id="4101" name="Picture 5" descr="Accelerated optimization in deep learning with a  proportional-integral-derivative controller | Nature Communications">
            <a:extLst>
              <a:ext uri="{FF2B5EF4-FFF2-40B4-BE49-F238E27FC236}">
                <a16:creationId xmlns:a16="http://schemas.microsoft.com/office/drawing/2014/main" id="{0E1F2EF4-2D1A-58E0-0085-7068893EE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2189" y="320040"/>
            <a:ext cx="5133373" cy="3927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Want Better AI? Get Top Optimizers in Deep Learning Now!">
            <a:extLst>
              <a:ext uri="{FF2B5EF4-FFF2-40B4-BE49-F238E27FC236}">
                <a16:creationId xmlns:a16="http://schemas.microsoft.com/office/drawing/2014/main" id="{04BB00CA-53D9-C1B5-075D-DD6CA37FC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4496" y="491751"/>
            <a:ext cx="5471160" cy="3583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5" name="sketchy line">
            <a:extLst>
              <a:ext uri="{FF2B5EF4-FFF2-40B4-BE49-F238E27FC236}">
                <a16:creationId xmlns:a16="http://schemas.microsoft.com/office/drawing/2014/main" id="{35D99776-4B38-47DF-A302-11AD9AF87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7304" y="529256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D13041-B88F-B55C-92FC-0B4CCABD0E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33999" y="4440365"/>
            <a:ext cx="6214871" cy="192588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Basic SGD can be slow or get stuck in local minima.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RMSProp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Adjusts the learning rate for each weight based on recent gradients.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Adam/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AdamW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The "gold standard"; it combines the benefits of momentum and adaptive learning rates for faster, more stable training.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871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263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Google Sans Text</vt:lpstr>
      <vt:lpstr>Office Theme</vt:lpstr>
      <vt:lpstr>Loss Functions: Measuring the Error </vt:lpstr>
      <vt:lpstr>Backpropagation: Distributing the Blame</vt:lpstr>
      <vt:lpstr>Gradient Descent: The Downhill Walk </vt:lpstr>
      <vt:lpstr>Advanced Optimizers: Speeding Up Convergence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5</cp:revision>
  <dcterms:created xsi:type="dcterms:W3CDTF">2026-05-06T06:06:00Z</dcterms:created>
  <dcterms:modified xsi:type="dcterms:W3CDTF">2026-05-06T06:23:55Z</dcterms:modified>
</cp:coreProperties>
</file>